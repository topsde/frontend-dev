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3" r:id="rId1"/>
  </p:sldMasterIdLst>
  <p:sldIdLst>
    <p:sldId id="294" r:id="rId2"/>
    <p:sldId id="309" r:id="rId3"/>
    <p:sldId id="258" r:id="rId4"/>
    <p:sldId id="295" r:id="rId5"/>
    <p:sldId id="296" r:id="rId6"/>
    <p:sldId id="261" r:id="rId7"/>
    <p:sldId id="262" r:id="rId8"/>
    <p:sldId id="263" r:id="rId9"/>
    <p:sldId id="267" r:id="rId10"/>
    <p:sldId id="264" r:id="rId11"/>
    <p:sldId id="297" r:id="rId12"/>
    <p:sldId id="298" r:id="rId13"/>
    <p:sldId id="299" r:id="rId14"/>
    <p:sldId id="300" r:id="rId15"/>
    <p:sldId id="266" r:id="rId16"/>
    <p:sldId id="301" r:id="rId17"/>
    <p:sldId id="303" r:id="rId18"/>
    <p:sldId id="304" r:id="rId19"/>
    <p:sldId id="305" r:id="rId20"/>
    <p:sldId id="272" r:id="rId21"/>
    <p:sldId id="270" r:id="rId22"/>
    <p:sldId id="310" r:id="rId23"/>
    <p:sldId id="271" r:id="rId24"/>
    <p:sldId id="273" r:id="rId25"/>
    <p:sldId id="311" r:id="rId26"/>
    <p:sldId id="308" r:id="rId27"/>
    <p:sldId id="307" r:id="rId28"/>
    <p:sldId id="274" r:id="rId29"/>
    <p:sldId id="275" r:id="rId30"/>
    <p:sldId id="278" r:id="rId31"/>
    <p:sldId id="283" r:id="rId32"/>
    <p:sldId id="284" r:id="rId33"/>
    <p:sldId id="279" r:id="rId34"/>
    <p:sldId id="313" r:id="rId35"/>
    <p:sldId id="280" r:id="rId36"/>
    <p:sldId id="281" r:id="rId37"/>
    <p:sldId id="282" r:id="rId38"/>
    <p:sldId id="316" r:id="rId39"/>
    <p:sldId id="292" r:id="rId40"/>
    <p:sldId id="291" r:id="rId41"/>
    <p:sldId id="289" r:id="rId42"/>
    <p:sldId id="290" r:id="rId43"/>
    <p:sldId id="318" r:id="rId44"/>
    <p:sldId id="285" r:id="rId45"/>
    <p:sldId id="317" r:id="rId46"/>
    <p:sldId id="286" r:id="rId47"/>
    <p:sldId id="287" r:id="rId48"/>
    <p:sldId id="288" r:id="rId49"/>
    <p:sldId id="314" r:id="rId50"/>
    <p:sldId id="315" r:id="rId51"/>
    <p:sldId id="319" r:id="rId52"/>
    <p:sldId id="320" r:id="rId53"/>
    <p:sldId id="321" r:id="rId54"/>
    <p:sldId id="322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8" autoAdjust="0"/>
    <p:restoredTop sz="94660"/>
  </p:normalViewPr>
  <p:slideViewPr>
    <p:cSldViewPr>
      <p:cViewPr varScale="1">
        <p:scale>
          <a:sx n="66" d="100"/>
          <a:sy n="66" d="100"/>
        </p:scale>
        <p:origin x="564" y="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-5132" y="3887812"/>
            <a:ext cx="9146751" cy="607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2166365"/>
            <a:ext cx="8603674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844269"/>
            <a:ext cx="8534400" cy="6675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85CA-3E48-4BB8-BF02-5BC6308E3B3E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522-CF82-42C9-8985-2893497024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5817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85CA-3E48-4BB8-BF02-5BC6308E3B3E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522-CF82-42C9-8985-2893497024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69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-5132" y="3887812"/>
            <a:ext cx="9146751" cy="607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2208879"/>
            <a:ext cx="78867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851528"/>
            <a:ext cx="7886700" cy="6696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F485CA-3E48-4BB8-BF02-5BC6308E3B3E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33FA522-CF82-42C9-8985-2893497024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9469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7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85CA-3E48-4BB8-BF02-5BC6308E3B3E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522-CF82-42C9-8985-2893497024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585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656566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428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428" y="2656564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85CA-3E48-4BB8-BF02-5BC6308E3B3E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522-CF82-42C9-8985-2893497024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680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85CA-3E48-4BB8-BF02-5BC6308E3B3E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522-CF82-42C9-8985-2893497024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770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85CA-3E48-4BB8-BF02-5BC6308E3B3E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522-CF82-42C9-8985-2893497024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52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8840"/>
            <a:ext cx="4572000" cy="38404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568" y="2147487"/>
            <a:ext cx="256032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85CA-3E48-4BB8-BF02-5BC6308E3B3E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522-CF82-42C9-8985-2893497024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535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" y="2211494"/>
            <a:ext cx="4754880" cy="384048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85351" y="2150621"/>
            <a:ext cx="256032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85CA-3E48-4BB8-BF02-5BC6308E3B3E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522-CF82-42C9-8985-2893497024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5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85CA-3E48-4BB8-BF02-5BC6308E3B3E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522-CF82-42C9-8985-2893497024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515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609600"/>
            <a:ext cx="1801785" cy="5638800"/>
          </a:xfrm>
        </p:spPr>
        <p:txBody>
          <a:bodyPr vert="eaVert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09600"/>
            <a:ext cx="5979968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22855"/>
            <a:ext cx="2057397" cy="365125"/>
          </a:xfrm>
        </p:spPr>
        <p:txBody>
          <a:bodyPr/>
          <a:lstStyle/>
          <a:p>
            <a:fld id="{43F485CA-3E48-4BB8-BF02-5BC6308E3B3E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6422855"/>
            <a:ext cx="320975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6422855"/>
            <a:ext cx="659819" cy="365125"/>
          </a:xfrm>
        </p:spPr>
        <p:txBody>
          <a:bodyPr/>
          <a:lstStyle/>
          <a:p>
            <a:fld id="{933FA522-CF82-42C9-8985-2893497024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051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76109"/>
            <a:ext cx="9141714" cy="16459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019" y="2011680"/>
            <a:ext cx="7772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43F485CA-3E48-4BB8-BF02-5BC6308E3B3E}" type="datetimeFigureOut">
              <a:rPr lang="en-IN" smtClean="0"/>
              <a:pPr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933FA522-CF82-42C9-8985-2893497024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5857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34" r:id="rId1"/>
    <p:sldLayoutId id="2147484135" r:id="rId2"/>
    <p:sldLayoutId id="2147484136" r:id="rId3"/>
    <p:sldLayoutId id="2147484137" r:id="rId4"/>
    <p:sldLayoutId id="2147484138" r:id="rId5"/>
    <p:sldLayoutId id="2147484139" r:id="rId6"/>
    <p:sldLayoutId id="2147484140" r:id="rId7"/>
    <p:sldLayoutId id="2147484141" r:id="rId8"/>
    <p:sldLayoutId id="2147484142" r:id="rId9"/>
    <p:sldLayoutId id="2147484143" r:id="rId10"/>
    <p:sldLayoutId id="214748414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sel_before.asp" TargetMode="External"/><Relationship Id="rId7" Type="http://schemas.openxmlformats.org/officeDocument/2006/relationships/hyperlink" Target="https://www.w3schools.com/cssref/sel_selection.asp" TargetMode="External"/><Relationship Id="rId2" Type="http://schemas.openxmlformats.org/officeDocument/2006/relationships/hyperlink" Target="https://www.w3schools.com/cssref/sel_after.asp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w3schools.com/cssref/sel_marker.asp" TargetMode="External"/><Relationship Id="rId5" Type="http://schemas.openxmlformats.org/officeDocument/2006/relationships/hyperlink" Target="https://www.w3schools.com/cssref/sel_firstline.asp" TargetMode="External"/><Relationship Id="rId4" Type="http://schemas.openxmlformats.org/officeDocument/2006/relationships/hyperlink" Target="https://www.w3schools.com/cssref/sel_firstletter.asp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66918-E471-4E04-8BEB-B829B10188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BF01C-7025-4506-B1EF-D0E42F0FD8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Cascading  style sheet</a:t>
            </a:r>
          </a:p>
        </p:txBody>
      </p:sp>
    </p:spTree>
    <p:extLst>
      <p:ext uri="{BB962C8B-B14F-4D97-AF65-F5344CB8AC3E}">
        <p14:creationId xmlns:p14="http://schemas.microsoft.com/office/powerpoint/2010/main" val="2965506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01867-9153-6E2A-C9C0-01B188DA6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596" y="643553"/>
            <a:ext cx="7772400" cy="912576"/>
          </a:xfrm>
        </p:spPr>
        <p:txBody>
          <a:bodyPr/>
          <a:lstStyle/>
          <a:p>
            <a:r>
              <a:rPr lang="en-US" dirty="0"/>
              <a:t>CSS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C677A-A5FC-F514-8A12-2BF3BB866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019" y="2420888"/>
            <a:ext cx="7772400" cy="379703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CSS is the language we use to style and align our  HTML elements.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DDDDDD"/>
                </a:solidFill>
                <a:latin typeface="Verdana" panose="020B0604030504040204" pitchFamily="34" charset="0"/>
              </a:rPr>
              <a:t>CSS was introduced in 1994 by Haykon wium lie.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First version of CSS </a:t>
            </a:r>
            <a:r>
              <a:rPr lang="en-US" dirty="0">
                <a:solidFill>
                  <a:srgbClr val="DDDDDD"/>
                </a:solidFill>
                <a:latin typeface="Verdana" panose="020B0604030504040204" pitchFamily="34" charset="0"/>
              </a:rPr>
              <a:t>was introduced in 1996(CSS1)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DDDDDD"/>
                </a:solidFill>
                <a:latin typeface="Verdana" panose="020B0604030504040204" pitchFamily="34" charset="0"/>
              </a:rPr>
              <a:t>CSS2-1998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DDDDDD"/>
                </a:solidFill>
                <a:latin typeface="Verdana" panose="020B0604030504040204" pitchFamily="34" charset="0"/>
              </a:rPr>
              <a:t>Current version of CSS is CSS3-1999</a:t>
            </a:r>
          </a:p>
          <a:p>
            <a:pPr>
              <a:buFont typeface="Wingdings" panose="05000000000000000000" pitchFamily="2" charset="2"/>
              <a:buChar char="v"/>
            </a:pPr>
            <a:endParaRPr lang="en-US" b="0" i="0" dirty="0"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2137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CSS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11960" y="2348880"/>
            <a:ext cx="4762500" cy="408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BECBEF-2BE3-47CC-86B1-4A24E0990F21}"/>
              </a:ext>
            </a:extLst>
          </p:cNvPr>
          <p:cNvSpPr txBox="1"/>
          <p:nvPr/>
        </p:nvSpPr>
        <p:spPr>
          <a:xfrm>
            <a:off x="304234" y="2492896"/>
            <a:ext cx="4572000" cy="323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 style sheet language which is used to describe the look and formatting of documents written in markup language.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generally used with html to change the style of web pages and UI.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Commenting in </a:t>
            </a: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css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:-- /*-----*/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312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32D7E-C68E-40AE-A509-50CDDC3EE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Syntax of </a:t>
            </a:r>
            <a:r>
              <a:rPr lang="en-IN" dirty="0" err="1"/>
              <a:t>css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60829-52B7-450B-96EC-5806E20DC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 err="1"/>
              <a:t>Css</a:t>
            </a:r>
            <a:r>
              <a:rPr lang="en-US" sz="4000" dirty="0"/>
              <a:t> syntax:- </a:t>
            </a:r>
            <a:r>
              <a:rPr lang="en-US" sz="4000" dirty="0" err="1"/>
              <a:t>selector,property,value</a:t>
            </a:r>
            <a:r>
              <a:rPr lang="en-US" sz="4000" dirty="0"/>
              <a:t> </a:t>
            </a:r>
          </a:p>
          <a:p>
            <a:pPr marL="0" indent="0">
              <a:buNone/>
            </a:pPr>
            <a:r>
              <a:rPr lang="en-US" sz="4000" dirty="0"/>
              <a:t>          |              |           |                          </a:t>
            </a:r>
          </a:p>
          <a:p>
            <a:pPr marL="0" indent="0">
              <a:buNone/>
            </a:pPr>
            <a:r>
              <a:rPr lang="en-US" sz="4000" dirty="0"/>
              <a:t>         P{        color: blue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7348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6CB7A-C659-45E4-96FC-EC920BB65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Three ways to add </a:t>
            </a:r>
            <a:r>
              <a:rPr lang="en-IN" dirty="0" err="1"/>
              <a:t>css</a:t>
            </a:r>
            <a:r>
              <a:rPr lang="en-IN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1EBE5-C55D-4EA6-B208-2E07640A6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57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1.Inline style sheet : </a:t>
            </a:r>
            <a:r>
              <a:rPr lang="en-IN" sz="5700" dirty="0"/>
              <a:t>Style attribute</a:t>
            </a:r>
          </a:p>
          <a:p>
            <a:pPr marL="0" indent="0">
              <a:buNone/>
            </a:pPr>
            <a:r>
              <a:rPr lang="en-US" sz="5700" dirty="0"/>
              <a:t>&lt;p style : ” color: red”&gt;Hello CSS&lt;/p&gt;</a:t>
            </a:r>
            <a:endParaRPr lang="en-IN" sz="5700" dirty="0"/>
          </a:p>
          <a:p>
            <a:endParaRPr lang="en-IN" dirty="0"/>
          </a:p>
          <a:p>
            <a:pPr marL="0" indent="0">
              <a:buNone/>
            </a:pPr>
            <a:r>
              <a:rPr lang="en-IN" sz="41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2.</a:t>
            </a:r>
            <a:r>
              <a:rPr lang="en-IN" sz="6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Internal style sheet : </a:t>
            </a:r>
            <a:r>
              <a:rPr lang="en-IN" sz="6400" dirty="0"/>
              <a:t>&lt;style &gt;tag</a:t>
            </a:r>
          </a:p>
          <a:p>
            <a:pPr marL="0" indent="0">
              <a:buNone/>
            </a:pPr>
            <a:r>
              <a:rPr lang="en-US" sz="6400" dirty="0"/>
              <a:t>Example:</a:t>
            </a:r>
          </a:p>
          <a:p>
            <a:pPr marL="0" indent="0">
              <a:buNone/>
            </a:pPr>
            <a:r>
              <a:rPr lang="en-US" sz="6400" dirty="0"/>
              <a:t>&lt;style&gt;</a:t>
            </a:r>
          </a:p>
          <a:p>
            <a:pPr marL="0" indent="0">
              <a:buNone/>
            </a:pPr>
            <a:r>
              <a:rPr lang="en-US" sz="6400" dirty="0"/>
              <a:t>	p{color : value}</a:t>
            </a:r>
          </a:p>
          <a:p>
            <a:pPr marL="0" indent="0">
              <a:buNone/>
            </a:pPr>
            <a:r>
              <a:rPr lang="en-US" sz="6400" dirty="0"/>
              <a:t>&lt;/style&gt;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9201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CSS Style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External style sheet==&lt;link&gt;tag</a:t>
            </a:r>
            <a:endParaRPr lang="en-US" sz="2400" dirty="0"/>
          </a:p>
          <a:p>
            <a:r>
              <a:rPr lang="en-US" sz="2400" dirty="0"/>
              <a:t>External </a:t>
            </a:r>
            <a:r>
              <a:rPr lang="en-US" sz="2400" dirty="0" err="1"/>
              <a:t>css</a:t>
            </a:r>
            <a:r>
              <a:rPr lang="en-US" sz="2400" dirty="0"/>
              <a:t> is used to apply </a:t>
            </a:r>
            <a:r>
              <a:rPr lang="en-US" sz="2400" dirty="0" err="1"/>
              <a:t>css</a:t>
            </a:r>
            <a:r>
              <a:rPr lang="en-US" sz="2400" dirty="0"/>
              <a:t> on multiple pages .</a:t>
            </a:r>
          </a:p>
          <a:p>
            <a:r>
              <a:rPr lang="en-US" sz="2400" dirty="0"/>
              <a:t>Extension must be .</a:t>
            </a:r>
            <a:r>
              <a:rPr lang="en-US" sz="2400" dirty="0" err="1"/>
              <a:t>css</a:t>
            </a:r>
            <a:r>
              <a:rPr lang="en-US" sz="2400" dirty="0"/>
              <a:t> for </a:t>
            </a:r>
            <a:r>
              <a:rPr lang="en-US" sz="2400" dirty="0" err="1"/>
              <a:t>css</a:t>
            </a:r>
            <a:r>
              <a:rPr lang="en-US" sz="2400" dirty="0"/>
              <a:t> files.</a:t>
            </a:r>
          </a:p>
          <a:p>
            <a:pPr marL="393192" lvl="1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139952" y="3999916"/>
            <a:ext cx="1656184" cy="2016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4572000" y="5808735"/>
            <a:ext cx="72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.CSS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4588626" y="4436917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code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0700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Selectors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916832"/>
            <a:ext cx="6696744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2861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CSS Selectors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Simple Selector</a:t>
            </a:r>
          </a:p>
          <a:p>
            <a:r>
              <a:rPr lang="en-US" sz="4000" dirty="0"/>
              <a:t>Combinator Selector</a:t>
            </a:r>
          </a:p>
          <a:p>
            <a:r>
              <a:rPr lang="en-US" sz="4000" dirty="0"/>
              <a:t>Pseudo class Selector</a:t>
            </a:r>
          </a:p>
          <a:p>
            <a:r>
              <a:rPr lang="en-US" sz="4000" dirty="0"/>
              <a:t>Pseudo Element Selector</a:t>
            </a:r>
          </a:p>
          <a:p>
            <a:pPr marL="109728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5995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Selector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/>
              <a:t>A CSS selector selects the HTML element(s) you want to style.</a:t>
            </a:r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r>
              <a:rPr lang="en-US" dirty="0"/>
              <a:t>Selector{</a:t>
            </a:r>
          </a:p>
          <a:p>
            <a:pPr marL="109728" indent="0">
              <a:buNone/>
            </a:pPr>
            <a:r>
              <a:rPr lang="en-US" dirty="0"/>
              <a:t>	property: value;</a:t>
            </a:r>
          </a:p>
          <a:p>
            <a:pPr marL="109728" indent="0">
              <a:buNone/>
            </a:pPr>
            <a:r>
              <a:rPr lang="en-US" dirty="0"/>
              <a:t>	property: value;</a:t>
            </a:r>
          </a:p>
          <a:p>
            <a:pPr marL="109728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1320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Selector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6419" y="2492896"/>
            <a:ext cx="8229600" cy="3027792"/>
          </a:xfrm>
        </p:spPr>
        <p:txBody>
          <a:bodyPr>
            <a:normAutofit fontScale="85000" lnSpcReduction="20000"/>
          </a:bodyPr>
          <a:lstStyle/>
          <a:p>
            <a:r>
              <a:rPr lang="en-US" sz="4800" dirty="0"/>
              <a:t>Id selector  (#)</a:t>
            </a:r>
          </a:p>
          <a:p>
            <a:r>
              <a:rPr lang="en-US" sz="4800" dirty="0"/>
              <a:t>Class selector  (.)</a:t>
            </a:r>
          </a:p>
          <a:p>
            <a:r>
              <a:rPr lang="en-US" sz="4800" dirty="0"/>
              <a:t>Universal Selector  (*)</a:t>
            </a:r>
          </a:p>
          <a:p>
            <a:r>
              <a:rPr lang="en-US" sz="4800" dirty="0"/>
              <a:t>Element Selector  (tag)</a:t>
            </a:r>
          </a:p>
          <a:p>
            <a:r>
              <a:rPr lang="en-US" sz="4800" dirty="0"/>
              <a:t>Grouping Selector(,)</a:t>
            </a:r>
          </a:p>
          <a:p>
            <a:endParaRPr lang="en-US" sz="4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4335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509A-E529-452B-8380-34CF857C3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SELECTOR(*)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EA581-5357-4DDB-B32A-F49B59DAE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 any and all types of elements in html page.</a:t>
            </a:r>
          </a:p>
          <a:p>
            <a:r>
              <a:rPr lang="en-US" dirty="0"/>
              <a:t>All the elements  within a body tag.</a:t>
            </a:r>
          </a:p>
          <a:p>
            <a:r>
              <a:rPr lang="en-US" dirty="0"/>
              <a:t>Symbol of selector:  “ * “</a:t>
            </a:r>
          </a:p>
          <a:p>
            <a:pPr marL="0" indent="0">
              <a:buNone/>
            </a:pPr>
            <a:r>
              <a:rPr lang="en-US" dirty="0"/>
              <a:t>                                 SYNTAX:</a:t>
            </a:r>
          </a:p>
          <a:p>
            <a:pPr marL="0" indent="0">
              <a:buNone/>
            </a:pPr>
            <a:r>
              <a:rPr lang="en-US" dirty="0"/>
              <a:t>                                         *{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properties  } </a:t>
            </a:r>
          </a:p>
          <a:p>
            <a:pPr marL="0" indent="0">
              <a:buNone/>
            </a:pPr>
            <a:r>
              <a:rPr lang="en-US" dirty="0"/>
              <a:t>     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2991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509A-E529-452B-8380-34CF857C3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TYPE/ ELEMENT SELECTOR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EA581-5357-4DDB-B32A-F49B59DAE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Selects particular element.</a:t>
            </a:r>
          </a:p>
          <a:p>
            <a:r>
              <a:rPr lang="en-US" dirty="0"/>
              <a:t>Call by type of tag.</a:t>
            </a:r>
          </a:p>
          <a:p>
            <a:pPr marL="0" indent="0">
              <a:buNone/>
            </a:pPr>
            <a:r>
              <a:rPr lang="en-US" dirty="0"/>
              <a:t>                  SYNTAX:</a:t>
            </a:r>
          </a:p>
          <a:p>
            <a:pPr marL="0" indent="0">
              <a:buNone/>
            </a:pPr>
            <a:r>
              <a:rPr lang="en-US" dirty="0"/>
              <a:t>                            element name{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properties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}   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9077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509A-E529-452B-8380-34CF857C3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 SELECTOR(#)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EA581-5357-4DDB-B32A-F49B59DAE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Unique id attribute within the page is selected</a:t>
            </a:r>
          </a:p>
          <a:p>
            <a:r>
              <a:rPr lang="en-US" dirty="0"/>
              <a:t>Core attribute selector</a:t>
            </a:r>
          </a:p>
          <a:p>
            <a:r>
              <a:rPr lang="en-US" dirty="0"/>
              <a:t>Selected by symbol “#” followed by id name</a:t>
            </a:r>
          </a:p>
          <a:p>
            <a:r>
              <a:rPr lang="en-US" sz="2000" dirty="0"/>
              <a:t>SYNTAX:   #id_name{</a:t>
            </a:r>
          </a:p>
          <a:p>
            <a:pPr marL="0" indent="0">
              <a:buNone/>
            </a:pPr>
            <a:r>
              <a:rPr lang="en-US" sz="2000" dirty="0"/>
              <a:t>                                                </a:t>
            </a:r>
            <a:r>
              <a:rPr lang="en-US" sz="2000" dirty="0" err="1"/>
              <a:t>css</a:t>
            </a:r>
            <a:r>
              <a:rPr lang="en-US" sz="2000" dirty="0"/>
              <a:t>  properties</a:t>
            </a:r>
          </a:p>
          <a:p>
            <a:pPr marL="0" indent="0">
              <a:buNone/>
            </a:pPr>
            <a:r>
              <a:rPr lang="en-US" sz="2000" dirty="0"/>
              <a:t>                              </a:t>
            </a:r>
          </a:p>
          <a:p>
            <a:pPr marL="0" indent="0">
              <a:buNone/>
            </a:pPr>
            <a:r>
              <a:rPr lang="en-US" sz="2000" dirty="0"/>
              <a:t>                                                        }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55355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509A-E529-452B-8380-34CF857C3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SELECTOR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EA581-5357-4DDB-B32A-F49B59DAE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Core attribute selector ,with specific class.</a:t>
            </a:r>
          </a:p>
          <a:p>
            <a:r>
              <a:rPr lang="en-US" dirty="0"/>
              <a:t>The character to access in </a:t>
            </a:r>
            <a:r>
              <a:rPr lang="en-US" dirty="0" err="1"/>
              <a:t>css</a:t>
            </a:r>
            <a:r>
              <a:rPr lang="en-US" dirty="0"/>
              <a:t> file “  .  “</a:t>
            </a:r>
          </a:p>
          <a:p>
            <a:r>
              <a:rPr lang="en-US" dirty="0"/>
              <a:t>Multiple class name can be called using  comma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sz="2400" dirty="0"/>
              <a:t>SYNTAX:   .   class _ name{</a:t>
            </a:r>
          </a:p>
          <a:p>
            <a:pPr marL="0" indent="0">
              <a:buNone/>
            </a:pPr>
            <a:r>
              <a:rPr lang="en-US" sz="2400" dirty="0"/>
              <a:t>                                               /* </a:t>
            </a:r>
            <a:r>
              <a:rPr lang="en-US" sz="2400" dirty="0" err="1"/>
              <a:t>css</a:t>
            </a:r>
            <a:r>
              <a:rPr lang="en-US" sz="2400" dirty="0"/>
              <a:t>  properties*/</a:t>
            </a:r>
          </a:p>
          <a:p>
            <a:pPr marL="0" indent="0">
              <a:buNone/>
            </a:pPr>
            <a:r>
              <a:rPr lang="en-US" sz="2400" dirty="0"/>
              <a:t>                                                                                     }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NOTE:      PRIORITY ORDER =====</a:t>
            </a:r>
          </a:p>
          <a:p>
            <a:pPr marL="0" indent="0">
              <a:buNone/>
            </a:pPr>
            <a:r>
              <a:rPr lang="en-US" sz="2400" dirty="0"/>
              <a:t> { “   ID &gt; CLASS &gt; TYPE/ELEMENT &gt;UNIVERSAL  “}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5012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8640" y="73161"/>
            <a:ext cx="7772400" cy="1508760"/>
          </a:xfrm>
        </p:spPr>
        <p:txBody>
          <a:bodyPr/>
          <a:lstStyle/>
          <a:p>
            <a:r>
              <a:rPr lang="en-US" dirty="0"/>
              <a:t>Combinator Selector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2667752"/>
          </a:xfrm>
        </p:spPr>
        <p:txBody>
          <a:bodyPr/>
          <a:lstStyle/>
          <a:p>
            <a:r>
              <a:rPr lang="en-US" sz="2800" dirty="0"/>
              <a:t>Descendent selector(space)</a:t>
            </a:r>
          </a:p>
          <a:p>
            <a:r>
              <a:rPr lang="en-US" sz="2800" dirty="0"/>
              <a:t>Child selector(&gt;)</a:t>
            </a:r>
          </a:p>
          <a:p>
            <a:r>
              <a:rPr lang="en-US" sz="2800" dirty="0"/>
              <a:t>Adjacent sibling selector(+)</a:t>
            </a:r>
          </a:p>
          <a:p>
            <a:r>
              <a:rPr lang="en-US" sz="2800" dirty="0"/>
              <a:t>General sibling selector(~)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009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31EC0-7259-4777-8806-44D874BE4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DESCENDENT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A10E9-24CF-4541-AF4D-1FF239AB6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 CSS selector can contain more than one simple selector. Between the simple selector we can use combinator</a:t>
            </a:r>
          </a:p>
          <a:p>
            <a:r>
              <a:rPr lang="en-IN" dirty="0"/>
              <a:t>Combines two selector  are such that elements are matched by second selector are selected if they have ancestor.</a:t>
            </a:r>
          </a:p>
          <a:p>
            <a:r>
              <a:rPr lang="en-IN" dirty="0"/>
              <a:t>(</a:t>
            </a:r>
            <a:r>
              <a:rPr lang="en-IN" dirty="0" err="1"/>
              <a:t>parent,parents’s</a:t>
            </a:r>
            <a:r>
              <a:rPr lang="en-IN" dirty="0"/>
              <a:t> parent, parent’s </a:t>
            </a:r>
            <a:r>
              <a:rPr lang="en-IN" dirty="0" err="1"/>
              <a:t>parents’s</a:t>
            </a:r>
            <a:r>
              <a:rPr lang="en-IN" dirty="0"/>
              <a:t> parent)</a:t>
            </a:r>
          </a:p>
          <a:p>
            <a:r>
              <a:rPr lang="en-IN" dirty="0"/>
              <a:t>Selector utilities a </a:t>
            </a:r>
            <a:r>
              <a:rPr lang="en-IN" dirty="0" err="1"/>
              <a:t>descendents</a:t>
            </a:r>
            <a:r>
              <a:rPr lang="en-IN" dirty="0"/>
              <a:t> combinator are called descendent selectors.</a:t>
            </a:r>
          </a:p>
          <a:p>
            <a:r>
              <a:rPr lang="en-IN" dirty="0"/>
              <a:t>Syntax: Selector1_Selector2{property declaration}</a:t>
            </a:r>
          </a:p>
          <a:p>
            <a:r>
              <a:rPr lang="en-IN" dirty="0"/>
              <a:t>Div p{ </a:t>
            </a:r>
            <a:r>
              <a:rPr lang="en-IN" dirty="0" err="1"/>
              <a:t>prop:val</a:t>
            </a:r>
            <a:r>
              <a:rPr lang="en-IN" dirty="0"/>
              <a:t>;}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7305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7634C-3CCB-4DEF-8C7A-3C91223E1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Child selector</a:t>
            </a:r>
            <a:r>
              <a:rPr lang="en-IN" dirty="0">
                <a:sym typeface="Wingdings" panose="05000000000000000000" pitchFamily="2" charset="2"/>
              </a:rPr>
              <a:t>(&gt;)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5237F-B7E9-4FDE-AC45-DBE367DE2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child selector selects all the elements that are the children of a specified element</a:t>
            </a:r>
          </a:p>
          <a:p>
            <a:r>
              <a:rPr lang="en-IN" dirty="0"/>
              <a:t>It is placed between 2 CSS selectors,matches only those elements matched by second selector and direct child.</a:t>
            </a:r>
          </a:p>
          <a:p>
            <a:r>
              <a:rPr lang="en-IN" dirty="0"/>
              <a:t>Syntax:</a:t>
            </a:r>
          </a:p>
          <a:p>
            <a:pPr marL="0" indent="0">
              <a:buNone/>
            </a:pPr>
            <a:r>
              <a:rPr lang="en-IN" dirty="0"/>
              <a:t>                    selector 1 &gt; selector 2 { properties }</a:t>
            </a:r>
          </a:p>
          <a:p>
            <a:pPr marL="0" indent="0">
              <a:buNone/>
            </a:pPr>
            <a:r>
              <a:rPr lang="en-IN" dirty="0"/>
              <a:t>Ex:</a:t>
            </a:r>
          </a:p>
          <a:p>
            <a:pPr marL="0" indent="0">
              <a:buNone/>
            </a:pPr>
            <a:r>
              <a:rPr lang="en-IN" dirty="0"/>
              <a:t>Div&gt;p{prop : </a:t>
            </a:r>
            <a:r>
              <a:rPr lang="en-IN" dirty="0" err="1"/>
              <a:t>val</a:t>
            </a: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02090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60EF-84FC-44C8-9DC2-38AB2D951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Adjacent sibling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6071A-E34D-434A-8489-0E943AC90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The adjacent sibling selector is used to select an element that is directly after another specific element.</a:t>
            </a:r>
          </a:p>
          <a:p>
            <a:pPr algn="l"/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Sibling elements must have the same parent element, and "adjacent" means "immediately following".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Syntax 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former_element</a:t>
            </a:r>
            <a:r>
              <a:rPr lang="en-US" dirty="0"/>
              <a:t> + </a:t>
            </a:r>
            <a:r>
              <a:rPr lang="en-US" dirty="0" err="1"/>
              <a:t>target_element</a:t>
            </a:r>
            <a:r>
              <a:rPr lang="en-US" dirty="0"/>
              <a:t> {style properties 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3269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358A-7646-444B-9074-028516048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general sibling selector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E8330-4686-4B36-AE16-7B894BE41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4000" dirty="0"/>
              <a:t>The general sibling selector  selects all elements that are next sibling of a specified element.</a:t>
            </a:r>
          </a:p>
          <a:p>
            <a:r>
              <a:rPr lang="en-US" sz="4000" dirty="0"/>
              <a:t>The general sibling combinator (~) separates two selectors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sz="2900" b="1" dirty="0"/>
              <a:t>Syntax :</a:t>
            </a:r>
          </a:p>
          <a:p>
            <a:pPr marL="0" indent="0">
              <a:buNone/>
            </a:pPr>
            <a:r>
              <a:rPr lang="en-US" sz="2900" b="1" dirty="0"/>
              <a:t>                              </a:t>
            </a:r>
            <a:r>
              <a:rPr lang="en-US" sz="2900" b="1" dirty="0" err="1"/>
              <a:t>former_element</a:t>
            </a:r>
            <a:r>
              <a:rPr lang="en-US" sz="2900" b="1" dirty="0"/>
              <a:t> ~ </a:t>
            </a:r>
            <a:r>
              <a:rPr lang="en-US" sz="2900" b="1" dirty="0" err="1"/>
              <a:t>target_element</a:t>
            </a:r>
            <a:r>
              <a:rPr lang="en-US" sz="2900" b="1" dirty="0"/>
              <a:t> { style properties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9362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classes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000" dirty="0"/>
              <a:t>A CSS pseudo-class is a keyword added to a selector that specify a special state of the selected element.</a:t>
            </a:r>
          </a:p>
          <a:p>
            <a:pPr marL="0" indent="0">
              <a:buNone/>
            </a:pPr>
            <a:r>
              <a:rPr lang="en-US" sz="3000" dirty="0"/>
              <a:t>For Example: It can be used to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Style an element when a user mouses over it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Style visited and unvisited links differently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Style an element when it gets focus</a:t>
            </a:r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r>
              <a:rPr lang="en-US" dirty="0" err="1"/>
              <a:t>Selector:pseudo-class</a:t>
            </a:r>
            <a:r>
              <a:rPr lang="en-US" dirty="0"/>
              <a:t>{</a:t>
            </a:r>
          </a:p>
          <a:p>
            <a:pPr marL="109728" indent="0">
              <a:buNone/>
            </a:pPr>
            <a:r>
              <a:rPr lang="en-US" dirty="0"/>
              <a:t>	</a:t>
            </a:r>
            <a:r>
              <a:rPr lang="en-US" dirty="0" err="1"/>
              <a:t>property:value</a:t>
            </a:r>
            <a:r>
              <a:rPr lang="en-US" dirty="0"/>
              <a:t>;</a:t>
            </a:r>
          </a:p>
          <a:p>
            <a:pPr marL="109728" indent="0">
              <a:buNone/>
            </a:pPr>
            <a:r>
              <a:rPr lang="en-US" dirty="0"/>
              <a:t>                                                     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4481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Classes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3464" y="1999442"/>
            <a:ext cx="4448576" cy="484632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/>
              <a:t>Dynamic pseudo classes</a:t>
            </a:r>
          </a:p>
          <a:p>
            <a:pPr>
              <a:buFont typeface="Wingdings" pitchFamily="2" charset="2"/>
              <a:buChar char="Ø"/>
            </a:pPr>
            <a:r>
              <a:rPr lang="en-IN" sz="2800" b="1" i="0" dirty="0">
                <a:solidFill>
                  <a:srgbClr val="DDDDDD"/>
                </a:solidFill>
                <a:effectLst/>
                <a:latin typeface="Segoe UI" panose="020B0502040204020203" pitchFamily="34" charset="0"/>
              </a:rPr>
              <a:t>Anchor Pseudo-classes</a:t>
            </a:r>
            <a:endParaRPr lang="en-US" sz="2800" b="1" dirty="0"/>
          </a:p>
          <a:p>
            <a:pPr lvl="2">
              <a:buFont typeface="Wingdings" pitchFamily="2" charset="2"/>
              <a:buChar char="Ø"/>
            </a:pPr>
            <a:r>
              <a:rPr lang="en-US" sz="2600" dirty="0"/>
              <a:t>Link</a:t>
            </a:r>
          </a:p>
          <a:p>
            <a:pPr lvl="2">
              <a:buFont typeface="Wingdings" pitchFamily="2" charset="2"/>
              <a:buChar char="Ø"/>
            </a:pPr>
            <a:r>
              <a:rPr lang="en-US" sz="2600" dirty="0"/>
              <a:t>Visited</a:t>
            </a:r>
          </a:p>
          <a:p>
            <a:pPr lvl="2">
              <a:buFont typeface="Wingdings" pitchFamily="2" charset="2"/>
              <a:buChar char="Ø"/>
            </a:pPr>
            <a:r>
              <a:rPr lang="en-US" sz="2600" dirty="0"/>
              <a:t>Active</a:t>
            </a:r>
          </a:p>
          <a:p>
            <a:pPr lvl="2">
              <a:buFont typeface="Wingdings" pitchFamily="2" charset="2"/>
              <a:buChar char="Ø"/>
            </a:pPr>
            <a:r>
              <a:rPr lang="en-US" sz="2600" dirty="0"/>
              <a:t>Focus</a:t>
            </a:r>
          </a:p>
          <a:p>
            <a:pPr lvl="2">
              <a:buFont typeface="Wingdings" pitchFamily="2" charset="2"/>
              <a:buChar char="Ø"/>
            </a:pPr>
            <a:r>
              <a:rPr lang="en-US" sz="2600" dirty="0"/>
              <a:t>Hover</a:t>
            </a:r>
          </a:p>
          <a:p>
            <a:pPr lvl="1">
              <a:buFont typeface="Wingdings" pitchFamily="2" charset="2"/>
              <a:buChar char="Ø"/>
            </a:pPr>
            <a:endParaRPr lang="en-US" sz="2800" dirty="0"/>
          </a:p>
          <a:p>
            <a:pPr marL="228600" lvl="1" indent="0">
              <a:buNone/>
            </a:pP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AD851-C9E2-48E2-BFAE-C7F67C8BE3D4}"/>
              </a:ext>
            </a:extLst>
          </p:cNvPr>
          <p:cNvSpPr txBox="1"/>
          <p:nvPr/>
        </p:nvSpPr>
        <p:spPr>
          <a:xfrm>
            <a:off x="5073217" y="1999171"/>
            <a:ext cx="3885419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Font typeface="Wingdings" pitchFamily="2" charset="2"/>
              <a:buChar char="Ø"/>
            </a:pPr>
            <a:r>
              <a:rPr lang="en-US" sz="2800" dirty="0"/>
              <a:t>Structural pseudo classes</a:t>
            </a:r>
          </a:p>
          <a:p>
            <a:pPr lvl="2">
              <a:buFont typeface="Wingdings" pitchFamily="2" charset="2"/>
              <a:buChar char="Ø"/>
            </a:pPr>
            <a:r>
              <a:rPr lang="en-US" sz="2800" dirty="0"/>
              <a:t>First-child</a:t>
            </a:r>
          </a:p>
          <a:p>
            <a:pPr lvl="2">
              <a:buFont typeface="Wingdings" pitchFamily="2" charset="2"/>
              <a:buChar char="Ø"/>
            </a:pPr>
            <a:r>
              <a:rPr lang="en-US" sz="2800" dirty="0"/>
              <a:t>Last-child</a:t>
            </a:r>
          </a:p>
          <a:p>
            <a:pPr lvl="2">
              <a:buFont typeface="Wingdings" pitchFamily="2" charset="2"/>
              <a:buChar char="Ø"/>
            </a:pPr>
            <a:r>
              <a:rPr lang="en-US" sz="2800" dirty="0"/>
              <a:t>Nth-child()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0971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BDB63-F4CD-BFD5-AACC-54BD8807E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404664"/>
            <a:ext cx="7772400" cy="792082"/>
          </a:xfrm>
        </p:spPr>
        <p:txBody>
          <a:bodyPr/>
          <a:lstStyle/>
          <a:p>
            <a:r>
              <a:rPr lang="en-US" dirty="0" err="1"/>
              <a:t>Psuedo</a:t>
            </a:r>
            <a:r>
              <a:rPr lang="en-US" dirty="0"/>
              <a:t> </a:t>
            </a:r>
            <a:r>
              <a:rPr lang="en-US" dirty="0" err="1"/>
              <a:t>ClASS</a:t>
            </a:r>
            <a:r>
              <a:rPr lang="en-US" dirty="0"/>
              <a:t> SELECTOR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CCB7B-4F18-4025-8900-E2CDF064D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effectLst/>
                <a:latin typeface="Times New Roman" panose="02020603050405020304" pitchFamily="18" charset="0"/>
              </a:rPr>
              <a:t>a:hover MUST come after we mouse hover on it</a:t>
            </a:r>
          </a:p>
          <a:p>
            <a:pPr algn="l"/>
            <a:r>
              <a:rPr lang="en-US" b="0" i="0" dirty="0">
                <a:effectLst/>
                <a:latin typeface="Times New Roman" panose="02020603050405020304" pitchFamily="18" charset="0"/>
              </a:rPr>
              <a:t>a:link and a:visited in the CSS definition in order to be effective.</a:t>
            </a:r>
          </a:p>
          <a:p>
            <a:pPr algn="l"/>
            <a:r>
              <a:rPr lang="en-US" b="0" i="0" dirty="0">
                <a:effectLst/>
                <a:latin typeface="Times New Roman" panose="02020603050405020304" pitchFamily="18" charset="0"/>
              </a:rPr>
              <a:t>a:active MUST come after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6E2614E-47A4-8102-58F1-65889D036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767" y="3438872"/>
            <a:ext cx="8136904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:first-child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 pseudo-class matches a specified element that is the first child of another element.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defTabSz="914400"/>
            <a:endParaRPr lang="en-US" altLang="en-US" sz="2000" dirty="0">
              <a:latin typeface="Arial" panose="020B0604020202020204" pitchFamily="34" charset="0"/>
            </a:endParaRPr>
          </a:p>
          <a:p>
            <a:pPr defTabSz="914400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:last-child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 pseudo-class matches a specified element that is the last child of another element.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defTabSz="914400"/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:nth-child(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 selector matches every element that is the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th child of its parent.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 can be a number, a keyword (odd or even), or a formula (like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 +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defTabSz="914400"/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defTabSz="914400"/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A8A0CBD-E06B-692F-3939-989477AB3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1D2A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641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Elements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8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A CSS pseudo-element is used to style specified parts of an element.</a:t>
            </a:r>
            <a:r>
              <a:rPr lang="en-US" dirty="0"/>
              <a:t>	</a:t>
            </a:r>
          </a:p>
          <a:p>
            <a:endParaRPr lang="en-US" sz="3200" dirty="0"/>
          </a:p>
          <a:p>
            <a:pPr algn="l">
              <a:buFont typeface="Wingdings" panose="05000000000000000000" pitchFamily="2" charset="2"/>
              <a:buChar char="q"/>
            </a:pPr>
            <a:r>
              <a:rPr lang="en-US" sz="28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 For example, it can be used to:</a:t>
            </a:r>
          </a:p>
          <a:p>
            <a:pPr algn="l">
              <a:buFont typeface="Wingdings" panose="05000000000000000000" pitchFamily="2" charset="2"/>
              <a:buChar char="q"/>
            </a:pPr>
            <a:endParaRPr lang="en-US" sz="2800" b="0" i="0" dirty="0"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Style the first letter, or line, of an element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Insert content before, or after, the content of an element</a:t>
            </a:r>
          </a:p>
          <a:p>
            <a:endParaRPr lang="en-US" sz="3200" dirty="0"/>
          </a:p>
          <a:p>
            <a:r>
              <a:rPr lang="en-US" sz="3200" dirty="0"/>
              <a:t>selector::pseudo-element{</a:t>
            </a:r>
          </a:p>
          <a:p>
            <a:pPr marL="109728" indent="0">
              <a:buNone/>
            </a:pPr>
            <a:r>
              <a:rPr lang="en-US" sz="3200" dirty="0"/>
              <a:t>		</a:t>
            </a:r>
            <a:r>
              <a:rPr lang="en-US" sz="3200" dirty="0" err="1"/>
              <a:t>property:value</a:t>
            </a:r>
            <a:r>
              <a:rPr lang="en-US" sz="3200" dirty="0"/>
              <a:t>;</a:t>
            </a:r>
          </a:p>
          <a:p>
            <a:pPr marL="109728" indent="0">
              <a:buNone/>
            </a:pPr>
            <a:r>
              <a:rPr lang="en-US" sz="3200" dirty="0"/>
              <a:t>	}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2341598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Elements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4400" dirty="0"/>
              <a:t>:: first-line</a:t>
            </a:r>
          </a:p>
          <a:p>
            <a:pPr marL="0" indent="0">
              <a:buNone/>
            </a:pPr>
            <a:r>
              <a:rPr lang="en-US" sz="4400" dirty="0"/>
              <a:t>:: first-letter</a:t>
            </a:r>
          </a:p>
          <a:p>
            <a:pPr marL="0" indent="0">
              <a:buNone/>
            </a:pPr>
            <a:r>
              <a:rPr lang="en-US" sz="4400" dirty="0"/>
              <a:t>::before</a:t>
            </a:r>
          </a:p>
          <a:p>
            <a:pPr marL="0" indent="0">
              <a:buNone/>
            </a:pPr>
            <a:r>
              <a:rPr lang="en-US" sz="4400" dirty="0"/>
              <a:t>::after</a:t>
            </a:r>
          </a:p>
          <a:p>
            <a:pPr marL="0" indent="0">
              <a:buNone/>
            </a:pPr>
            <a:r>
              <a:rPr lang="en-US" sz="4400" dirty="0"/>
              <a:t>::marker</a:t>
            </a:r>
          </a:p>
          <a:p>
            <a:pPr marL="0" indent="0">
              <a:buNone/>
            </a:pPr>
            <a:r>
              <a:rPr lang="en-US" sz="4400" dirty="0"/>
              <a:t>::selection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5547647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EE8954-7F28-F1C8-DB53-FB1835E3B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728515"/>
              </p:ext>
            </p:extLst>
          </p:nvPr>
        </p:nvGraphicFramePr>
        <p:xfrm>
          <a:off x="539552" y="476672"/>
          <a:ext cx="8136904" cy="5976667"/>
        </p:xfrm>
        <a:graphic>
          <a:graphicData uri="http://schemas.openxmlformats.org/drawingml/2006/table">
            <a:tbl>
              <a:tblPr/>
              <a:tblGrid>
                <a:gridCol w="1626055">
                  <a:extLst>
                    <a:ext uri="{9D8B030D-6E8A-4147-A177-3AD203B41FA5}">
                      <a16:colId xmlns:a16="http://schemas.microsoft.com/office/drawing/2014/main" val="1136050021"/>
                    </a:ext>
                  </a:extLst>
                </a:gridCol>
                <a:gridCol w="1626055">
                  <a:extLst>
                    <a:ext uri="{9D8B030D-6E8A-4147-A177-3AD203B41FA5}">
                      <a16:colId xmlns:a16="http://schemas.microsoft.com/office/drawing/2014/main" val="887454592"/>
                    </a:ext>
                  </a:extLst>
                </a:gridCol>
                <a:gridCol w="4884794">
                  <a:extLst>
                    <a:ext uri="{9D8B030D-6E8A-4147-A177-3AD203B41FA5}">
                      <a16:colId xmlns:a16="http://schemas.microsoft.com/office/drawing/2014/main" val="35634778"/>
                    </a:ext>
                  </a:extLst>
                </a:gridCol>
              </a:tblGrid>
              <a:tr h="56126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Selector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Example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Example description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311000"/>
                  </a:ext>
                </a:extLst>
              </a:tr>
              <a:tr h="970829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  <a:hlinkClick r:id="rId2"/>
                        </a:rPr>
                        <a:t>::after</a:t>
                      </a:r>
                      <a:endParaRPr lang="en-IN">
                        <a:effectLst/>
                      </a:endParaRP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44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p::after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44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Insert something after the content of each &lt;p&gt; element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4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73327"/>
                  </a:ext>
                </a:extLst>
              </a:tr>
              <a:tr h="970829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  <a:hlinkClick r:id="rId3"/>
                        </a:rPr>
                        <a:t>::before</a:t>
                      </a:r>
                      <a:endParaRPr lang="en-IN">
                        <a:effectLst/>
                      </a:endParaRP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p::before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Insert something before the content of each &lt;p&gt; element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718602"/>
                  </a:ext>
                </a:extLst>
              </a:tr>
              <a:tr h="970829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  <a:hlinkClick r:id="rId4"/>
                        </a:rPr>
                        <a:t>::first-letter</a:t>
                      </a:r>
                      <a:endParaRPr lang="en-IN">
                        <a:effectLst/>
                      </a:endParaRP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44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p::first-letter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44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Selects the first letter of each &lt;p&gt; element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4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059081"/>
                  </a:ext>
                </a:extLst>
              </a:tr>
              <a:tr h="970829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  <a:hlinkClick r:id="rId5"/>
                        </a:rPr>
                        <a:t>::first-line</a:t>
                      </a:r>
                      <a:endParaRPr lang="en-IN">
                        <a:effectLst/>
                      </a:endParaRP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p::first-line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Selects the first line of each &lt;p&gt; element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448172"/>
                  </a:ext>
                </a:extLst>
              </a:tr>
              <a:tr h="561261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  <a:hlinkClick r:id="rId6"/>
                        </a:rPr>
                        <a:t>::marker</a:t>
                      </a:r>
                      <a:endParaRPr lang="en-IN">
                        <a:effectLst/>
                      </a:endParaRP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44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::marker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44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Selects the markers of list items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4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813975"/>
                  </a:ext>
                </a:extLst>
              </a:tr>
              <a:tr h="970829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  <a:hlinkClick r:id="rId7"/>
                        </a:rPr>
                        <a:t>::selection</a:t>
                      </a:r>
                      <a:endParaRPr lang="en-IN">
                        <a:effectLst/>
                      </a:endParaRP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p::selection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Selects the portion of an element that is selected by a user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594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2215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B35CBD-9999-4B98-A5E1-CD3861550FAC}"/>
              </a:ext>
            </a:extLst>
          </p:cNvPr>
          <p:cNvSpPr txBox="1"/>
          <p:nvPr/>
        </p:nvSpPr>
        <p:spPr>
          <a:xfrm>
            <a:off x="1056791" y="1270840"/>
            <a:ext cx="652226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NOW   WRITE      THE DIFFERENCE        BETWEEN        </a:t>
            </a:r>
          </a:p>
          <a:p>
            <a:r>
              <a:rPr lang="en-IN" sz="2800" dirty="0"/>
              <a:t>PSEUDO CLASS AND PSEUDO ELEMENT SELECTOR?!</a:t>
            </a:r>
          </a:p>
          <a:p>
            <a:endParaRPr lang="en-IN" dirty="0"/>
          </a:p>
        </p:txBody>
      </p:sp>
      <p:pic>
        <p:nvPicPr>
          <p:cNvPr id="3076" name="Picture 4" descr="CSS Pseudo Classes and Pseudo Elements | W3REIGN">
            <a:extLst>
              <a:ext uri="{FF2B5EF4-FFF2-40B4-BE49-F238E27FC236}">
                <a16:creationId xmlns:a16="http://schemas.microsoft.com/office/drawing/2014/main" id="{1F672D8A-D00E-48F3-8B66-E87A0C63C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645024"/>
            <a:ext cx="6696744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38061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B1577-3EF3-40FC-8A50-39F7DC130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Pseudo class v/s pseudo element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D434176-32BC-45C2-9FC7-60B82AF4F0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8727068"/>
              </p:ext>
            </p:extLst>
          </p:nvPr>
        </p:nvGraphicFramePr>
        <p:xfrm>
          <a:off x="971600" y="2419882"/>
          <a:ext cx="7135760" cy="415394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447853">
                  <a:extLst>
                    <a:ext uri="{9D8B030D-6E8A-4147-A177-3AD203B41FA5}">
                      <a16:colId xmlns:a16="http://schemas.microsoft.com/office/drawing/2014/main" val="1310387240"/>
                    </a:ext>
                  </a:extLst>
                </a:gridCol>
                <a:gridCol w="3687907">
                  <a:extLst>
                    <a:ext uri="{9D8B030D-6E8A-4147-A177-3AD203B41FA5}">
                      <a16:colId xmlns:a16="http://schemas.microsoft.com/office/drawing/2014/main" val="4135120662"/>
                    </a:ext>
                  </a:extLst>
                </a:gridCol>
              </a:tblGrid>
              <a:tr h="847542">
                <a:tc>
                  <a:txBody>
                    <a:bodyPr/>
                    <a:lstStyle/>
                    <a:p>
                      <a:r>
                        <a:rPr lang="en-IN" dirty="0"/>
                        <a:t>    PSEUDO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PSEUDO  ELEMENT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916265"/>
                  </a:ext>
                </a:extLst>
              </a:tr>
              <a:tr h="1653200">
                <a:tc>
                  <a:txBody>
                    <a:bodyPr/>
                    <a:lstStyle/>
                    <a:p>
                      <a:r>
                        <a:rPr lang="en-IN" dirty="0"/>
                        <a:t>     selectors are selected by </a:t>
                      </a:r>
                    </a:p>
                    <a:p>
                      <a:r>
                        <a:rPr lang="en-IN" sz="4000" dirty="0"/>
                        <a:t>                       “ : 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selectors are selected by </a:t>
                      </a:r>
                    </a:p>
                    <a:p>
                      <a:r>
                        <a:rPr lang="en-IN" sz="4000" dirty="0"/>
                        <a:t>                       “ :: “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186755"/>
                  </a:ext>
                </a:extLst>
              </a:tr>
              <a:tr h="165320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Pseudo-classes are used to target state.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Pseudo-elements are used to target specific parts of an element.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308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4343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Property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018" y="2011680"/>
            <a:ext cx="8063445" cy="4729688"/>
          </a:xfrm>
        </p:spPr>
        <p:txBody>
          <a:bodyPr>
            <a:normAutofit/>
          </a:bodyPr>
          <a:lstStyle/>
          <a:p>
            <a:r>
              <a:rPr lang="en-US" sz="3200" dirty="0"/>
              <a:t>Text formatting</a:t>
            </a:r>
          </a:p>
          <a:p>
            <a:pPr lvl="1"/>
            <a:r>
              <a:rPr lang="en-US" sz="3200" dirty="0"/>
              <a:t>color</a:t>
            </a:r>
          </a:p>
          <a:p>
            <a:pPr lvl="1"/>
            <a:r>
              <a:rPr lang="en-US" sz="3200" dirty="0"/>
              <a:t>Text-align</a:t>
            </a:r>
          </a:p>
          <a:p>
            <a:pPr lvl="1"/>
            <a:r>
              <a:rPr lang="en-US" sz="3200" dirty="0"/>
              <a:t>Text-transform</a:t>
            </a:r>
          </a:p>
          <a:p>
            <a:pPr lvl="1"/>
            <a:r>
              <a:rPr lang="en-US" sz="3200" dirty="0"/>
              <a:t>Text-shadow</a:t>
            </a:r>
          </a:p>
          <a:p>
            <a:pPr lvl="1"/>
            <a:r>
              <a:rPr lang="en-US" sz="3200" dirty="0"/>
              <a:t>Text-decoration</a:t>
            </a:r>
          </a:p>
          <a:p>
            <a:pPr lvl="1"/>
            <a:r>
              <a:rPr lang="en-US" sz="3200" dirty="0"/>
              <a:t>Letter-spacing</a:t>
            </a:r>
          </a:p>
          <a:p>
            <a:pPr lvl="1"/>
            <a:r>
              <a:rPr lang="en-US" sz="3200" dirty="0"/>
              <a:t>Word-spacing</a:t>
            </a:r>
          </a:p>
          <a:p>
            <a:pPr marL="228600" lvl="1" indent="0">
              <a:buNone/>
            </a:pPr>
            <a:endParaRPr lang="en-US" sz="3200" dirty="0"/>
          </a:p>
          <a:p>
            <a:pPr marL="109728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219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Property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Background-image : url (“image.jpg”)</a:t>
            </a:r>
          </a:p>
          <a:p>
            <a:r>
              <a:rPr lang="en-US" dirty="0"/>
              <a:t>Background-repeat  :   no-repeat/repeat-x/Y</a:t>
            </a:r>
          </a:p>
          <a:p>
            <a:r>
              <a:rPr lang="en-US" dirty="0"/>
              <a:t>Background-size   :     cover/100%</a:t>
            </a:r>
          </a:p>
          <a:p>
            <a:r>
              <a:rPr lang="en-US" dirty="0"/>
              <a:t>Background-Position   :    right/left/center</a:t>
            </a:r>
          </a:p>
          <a:p>
            <a:r>
              <a:rPr lang="en-US" dirty="0"/>
              <a:t>Background-attachment  :   scroll/fixed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11186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 Property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Font-size:large/small/medium</a:t>
            </a:r>
          </a:p>
          <a:p>
            <a:r>
              <a:rPr lang="en-US" dirty="0"/>
              <a:t>Font-weight:bold/bolder/lighter/normal</a:t>
            </a:r>
          </a:p>
          <a:p>
            <a:r>
              <a:rPr lang="en-US" dirty="0"/>
              <a:t>Font-style:italic</a:t>
            </a:r>
          </a:p>
          <a:p>
            <a:r>
              <a:rPr lang="en-US" dirty="0" err="1"/>
              <a:t>Font-family:font</a:t>
            </a:r>
            <a:r>
              <a:rPr lang="en-US" dirty="0"/>
              <a:t> styles</a:t>
            </a:r>
          </a:p>
        </p:txBody>
      </p:sp>
    </p:spTree>
    <p:extLst>
      <p:ext uri="{BB962C8B-B14F-4D97-AF65-F5344CB8AC3E}">
        <p14:creationId xmlns:p14="http://schemas.microsoft.com/office/powerpoint/2010/main" val="6171761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Gradient:</a:t>
            </a:r>
            <a:endParaRPr lang="en-IN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060848"/>
            <a:ext cx="4336876" cy="3252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22691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Gradient: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Linear-gradient(direction,color-stop1,color-stop2);</a:t>
            </a:r>
          </a:p>
          <a:p>
            <a:r>
              <a:rPr lang="en-US" dirty="0"/>
              <a:t>Radial-gradient(shape size at position, start-color,…,last-color);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4341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 Model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28119" y="3141015"/>
            <a:ext cx="3886200" cy="192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04186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822B1-0CDB-5874-B116-AFF97D83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 model: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1A6E2-4C97-EB4C-4169-DF0F450E4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The CSS box model is essentially a box that wraps around every HTML element. It consists of: margins, borders, padding, and the actual content. The image illustrates the box model:</a:t>
            </a:r>
            <a:endParaRPr lang="en-US" b="1" dirty="0">
              <a:solidFill>
                <a:srgbClr val="DDDDDD"/>
              </a:solidFill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Content</a:t>
            </a: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- The content of the box, where text and images appear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Padding</a:t>
            </a: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- Clears an area around the content. The padding is transparent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Border</a:t>
            </a: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- A border that goes around the padding and content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Margin</a:t>
            </a: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- Clears an area outside the border. The margin is transparent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57810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Margin-style</a:t>
            </a:r>
          </a:p>
          <a:p>
            <a:pPr lvl="1"/>
            <a:r>
              <a:rPr lang="en-US" dirty="0"/>
              <a:t>Margin-top</a:t>
            </a:r>
          </a:p>
          <a:p>
            <a:pPr lvl="1"/>
            <a:r>
              <a:rPr lang="en-US" dirty="0"/>
              <a:t>Margin-bottom</a:t>
            </a:r>
          </a:p>
          <a:p>
            <a:pPr lvl="1"/>
            <a:r>
              <a:rPr lang="en-US" dirty="0"/>
              <a:t>Margin-left</a:t>
            </a:r>
          </a:p>
          <a:p>
            <a:pPr lvl="1"/>
            <a:r>
              <a:rPr lang="en-US" dirty="0"/>
              <a:t>Margin-right</a:t>
            </a:r>
          </a:p>
          <a:p>
            <a:r>
              <a:rPr lang="en-US" dirty="0"/>
              <a:t>Padding-style</a:t>
            </a:r>
          </a:p>
          <a:p>
            <a:pPr lvl="1"/>
            <a:r>
              <a:rPr lang="en-US" dirty="0"/>
              <a:t>Padding-left</a:t>
            </a:r>
          </a:p>
          <a:p>
            <a:pPr lvl="1"/>
            <a:r>
              <a:rPr lang="en-US" dirty="0"/>
              <a:t>Padding-right</a:t>
            </a:r>
          </a:p>
          <a:p>
            <a:pPr lvl="1"/>
            <a:r>
              <a:rPr lang="en-US" dirty="0"/>
              <a:t>Padding-top</a:t>
            </a:r>
          </a:p>
          <a:p>
            <a:pPr lvl="1"/>
            <a:r>
              <a:rPr lang="en-US" dirty="0"/>
              <a:t>Padding-bottom</a:t>
            </a:r>
          </a:p>
          <a:p>
            <a:r>
              <a:rPr lang="en-US" dirty="0"/>
              <a:t>Border-style</a:t>
            </a:r>
          </a:p>
          <a:p>
            <a:pPr lvl="1"/>
            <a:r>
              <a:rPr lang="en-US" dirty="0"/>
              <a:t>Border-color</a:t>
            </a:r>
          </a:p>
          <a:p>
            <a:pPr lvl="1"/>
            <a:r>
              <a:rPr lang="en-US" dirty="0"/>
              <a:t>Border-width</a:t>
            </a:r>
          </a:p>
          <a:p>
            <a:pPr lvl="1"/>
            <a:r>
              <a:rPr lang="en-US" dirty="0"/>
              <a:t>Border-radius</a:t>
            </a:r>
          </a:p>
          <a:p>
            <a:pPr lvl="1"/>
            <a:endParaRPr lang="en-US" dirty="0"/>
          </a:p>
          <a:p>
            <a:pPr marL="109728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12669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 Property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</a:t>
            </a:r>
          </a:p>
          <a:p>
            <a:r>
              <a:rPr lang="en-US" dirty="0"/>
              <a:t>Relative</a:t>
            </a:r>
          </a:p>
          <a:p>
            <a:r>
              <a:rPr lang="en-US" dirty="0"/>
              <a:t>Fixed</a:t>
            </a:r>
          </a:p>
          <a:p>
            <a:r>
              <a:rPr lang="en-US" dirty="0"/>
              <a:t>Absolute</a:t>
            </a:r>
          </a:p>
          <a:p>
            <a:r>
              <a:rPr lang="en-US" dirty="0"/>
              <a:t>Sticky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25360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692696"/>
            <a:ext cx="7815962" cy="5104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95854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0050A-53E2-4815-9A93-73F1510B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 properties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1FB7A-C7BF-7C5A-D16B-96C6B3DFD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Inline : </a:t>
            </a: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Displays an element as an inline element (like &lt;span&gt;). Any height and width properties will have no effect</a:t>
            </a:r>
          </a:p>
          <a:p>
            <a:r>
              <a:rPr lang="en-US" dirty="0">
                <a:solidFill>
                  <a:srgbClr val="DDDDDD"/>
                </a:solidFill>
                <a:latin typeface="Verdana" panose="020B0604030504040204" pitchFamily="34" charset="0"/>
              </a:rPr>
              <a:t>block : </a:t>
            </a: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Displays an element as a block element (like &lt;p&gt;). It starts on a new line, and takes up the whole width</a:t>
            </a:r>
          </a:p>
          <a:p>
            <a:r>
              <a:rPr lang="en-US" dirty="0">
                <a:solidFill>
                  <a:srgbClr val="DDDDDD"/>
                </a:solidFill>
                <a:latin typeface="Verdana" panose="020B0604030504040204" pitchFamily="34" charset="0"/>
              </a:rPr>
              <a:t>Inline-block : </a:t>
            </a: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Displays an element as an inline-level block container. The element itself is formatted as an inline element, but you can apply height and width values</a:t>
            </a:r>
          </a:p>
          <a:p>
            <a:r>
              <a:rPr lang="en-US" dirty="0">
                <a:solidFill>
                  <a:srgbClr val="DDDDDD"/>
                </a:solidFill>
                <a:latin typeface="Verdana" panose="020B0604030504040204" pitchFamily="34" charset="0"/>
              </a:rPr>
              <a:t>Flex : </a:t>
            </a:r>
            <a:r>
              <a:rPr lang="en-US" dirty="0">
                <a:effectLst/>
              </a:rPr>
              <a:t>Displays an element as a block-level flex container</a:t>
            </a:r>
          </a:p>
          <a:p>
            <a:endParaRPr lang="en-US" dirty="0">
              <a:solidFill>
                <a:srgbClr val="DDDDDD"/>
              </a:solidFill>
              <a:latin typeface="Verdana" panose="020B0604030504040204" pitchFamily="34" charset="0"/>
            </a:endParaRPr>
          </a:p>
          <a:p>
            <a:endParaRPr lang="en-US" b="0" i="0" dirty="0"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endParaRPr lang="en-IN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070A8C2-8C55-787F-8F21-198060AED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39274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4597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 Properties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Flex-box properties</a:t>
            </a:r>
          </a:p>
          <a:p>
            <a:r>
              <a:rPr lang="en-US" dirty="0"/>
              <a:t>Display : flex</a:t>
            </a:r>
            <a:endParaRPr lang="en-US" b="1" u="sng" dirty="0"/>
          </a:p>
          <a:p>
            <a:r>
              <a:rPr lang="en-US" dirty="0"/>
              <a:t>Flex-direction: row/column</a:t>
            </a:r>
          </a:p>
          <a:p>
            <a:r>
              <a:rPr lang="en-US" dirty="0"/>
              <a:t>Flex-wrap: wrap/</a:t>
            </a:r>
            <a:r>
              <a:rPr lang="en-US" dirty="0" err="1"/>
              <a:t>nowrap</a:t>
            </a:r>
            <a:r>
              <a:rPr lang="en-US" dirty="0"/>
              <a:t>/wrap-reverse</a:t>
            </a:r>
          </a:p>
          <a:p>
            <a:r>
              <a:rPr lang="en-US" dirty="0"/>
              <a:t>Justify-content: flex-start/flex-end/center/space-around/space-between/baseline</a:t>
            </a:r>
          </a:p>
          <a:p>
            <a:r>
              <a:rPr lang="en-US" dirty="0"/>
              <a:t>Align-items: flex-start/flex-end/center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5218629"/>
      </p:ext>
    </p:extLst>
  </p:cSld>
  <p:clrMapOvr>
    <a:masterClrMapping/>
  </p:clrMapOvr>
  <p:transition>
    <p:cut thruBlk="1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Flex-Box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4875" y="2466975"/>
            <a:ext cx="7334250" cy="329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296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Transition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Transition allows you to change property value.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3176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Property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600" b="0" i="0" dirty="0">
                <a:solidFill>
                  <a:schemeClr val="accent1"/>
                </a:solidFill>
                <a:effectLst/>
                <a:latin typeface="Verdana" panose="020B0604030504040204" pitchFamily="34" charset="0"/>
              </a:rPr>
              <a:t>CSS transitions allows you to change property values smoothly, over a given duration.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u="sng" dirty="0"/>
              <a:t>Transition-property</a:t>
            </a:r>
            <a:r>
              <a:rPr lang="en-US" dirty="0"/>
              <a:t>: </a:t>
            </a:r>
            <a:r>
              <a:rPr lang="en-US" dirty="0">
                <a:solidFill>
                  <a:srgbClr val="DDDDDD"/>
                </a:solidFill>
                <a:latin typeface="Verdana" panose="020B0604030504040204" pitchFamily="34" charset="0"/>
              </a:rPr>
              <a:t>T</a:t>
            </a: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he CSS property you want to add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 an effect 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u="sng" dirty="0"/>
              <a:t>Transition-duration:</a:t>
            </a:r>
            <a:r>
              <a:rPr lang="en-US" dirty="0"/>
              <a:t> </a:t>
            </a:r>
            <a:r>
              <a:rPr lang="en-US" dirty="0">
                <a:solidFill>
                  <a:srgbClr val="DDDDDD"/>
                </a:solidFill>
                <a:latin typeface="Verdana" panose="020B0604030504040204" pitchFamily="34" charset="0"/>
              </a:rPr>
              <a:t>T</a:t>
            </a:r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he duration of the effect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u="sng" dirty="0"/>
              <a:t>Transition-timing-function: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u="sng" dirty="0"/>
              <a:t>Transition-delay</a:t>
            </a:r>
            <a:r>
              <a:rPr lang="en-US" dirty="0"/>
              <a:t> 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transition-delay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property specifies a delay (in seconds) for the transition effect.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u="sng" dirty="0"/>
              <a:t>Transition(shorthand property)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Consolas" panose="020B0609020204030204" pitchFamily="49" charset="0"/>
              </a:rPr>
              <a:t>transition: width 2s linear 1s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228600" lvl="1" indent="0">
              <a:buNone/>
            </a:pPr>
            <a:endParaRPr lang="en-US" dirty="0"/>
          </a:p>
          <a:p>
            <a:endParaRPr lang="en-US" b="1" u="sn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3200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B406C-21F2-FFA4-1019-59C4013DF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Transition-timing-function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39ED5-B94D-9108-1F82-45AFFDE50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ease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- specifies a transition effect with a slow start, then fast, then end slowly (this is default)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linear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- specifies a transition effect with the same speed from start to end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ease-in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- specifies a transition effect with a slow start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ease-out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- specifies a transition effect with a slow end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ease-in-out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- specifies a transition effect with a slow start and end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3570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2D and 3D Transforms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Transforms allow you to move, rotate, scale, skew, element.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99591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301C4-97A9-D88C-4F3A-3D72A653C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 property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19B15-A5A2-AA10-44DA-9551FF187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019" y="2011680"/>
            <a:ext cx="7772400" cy="5017720"/>
          </a:xfrm>
        </p:spPr>
        <p:txBody>
          <a:bodyPr>
            <a:normAutofit fontScale="92500" lnSpcReduction="20000"/>
          </a:bodyPr>
          <a:lstStyle/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property applies a 2D or 3D transformation to an element. This property allows you to rotate, scale, move, skew, etc., elements.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is used to change behavior of  an element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2D transform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lvl="4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translate()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pPr marL="914400" lvl="4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rotate()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pPr marL="914400" lvl="4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scaleX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pPr marL="914400" lvl="4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scaleY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pPr marL="914400" lvl="4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scale()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pPr marL="914400" lvl="4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skewX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pPr marL="914400" lvl="4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skewY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pPr marL="914400" lvl="4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skew()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3D transform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lvl="4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rotateX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pPr marL="914400" lvl="4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rotateY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pPr marL="914400" lvl="4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rotateZ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pPr lvl="4"/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</a:p>
          <a:p>
            <a:pPr lvl="1"/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34A5761-5423-9785-1A79-B331A436E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1D2A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4969B93-908B-9392-0101-5CB472DD6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184731" cy="461665"/>
          </a:xfrm>
          <a:prstGeom prst="rect">
            <a:avLst/>
          </a:prstGeom>
          <a:solidFill>
            <a:srgbClr val="1D2A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7654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44" y="2011363"/>
            <a:ext cx="5603311" cy="4206875"/>
          </a:xfrm>
        </p:spPr>
      </p:pic>
    </p:spTree>
    <p:extLst>
      <p:ext uri="{BB962C8B-B14F-4D97-AF65-F5344CB8AC3E}">
        <p14:creationId xmlns:p14="http://schemas.microsoft.com/office/powerpoint/2010/main" val="30965425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Transforms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019" y="2011680"/>
            <a:ext cx="7316006" cy="463203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1.translate()-</a:t>
            </a:r>
            <a:r>
              <a:rPr lang="en-US" dirty="0"/>
              <a:t>moves an element from its current position.</a:t>
            </a:r>
          </a:p>
          <a:p>
            <a:pPr marL="0" indent="0">
              <a:buNone/>
            </a:pPr>
            <a:r>
              <a:rPr lang="en-US" b="1" dirty="0"/>
              <a:t>2.rotate()-</a:t>
            </a:r>
            <a:r>
              <a:rPr lang="en-US" dirty="0"/>
              <a:t>rotate an element clockwise/counter-clockwise according to degree.</a:t>
            </a:r>
          </a:p>
          <a:p>
            <a:pPr marL="0" indent="0">
              <a:buNone/>
            </a:pPr>
            <a:r>
              <a:rPr lang="en-US" dirty="0"/>
              <a:t>Using negative values will rotate the element counter-clockwise.</a:t>
            </a:r>
          </a:p>
          <a:p>
            <a:pPr marL="0" indent="0">
              <a:buNone/>
            </a:pPr>
            <a:r>
              <a:rPr lang="en-US" b="1" dirty="0"/>
              <a:t>3.scale()- </a:t>
            </a:r>
            <a:r>
              <a:rPr lang="en-US" dirty="0"/>
              <a:t>increases/decreases the size of an element.</a:t>
            </a:r>
          </a:p>
          <a:p>
            <a:pPr marL="0" indent="0">
              <a:buNone/>
            </a:pPr>
            <a:r>
              <a:rPr lang="en-US" b="1" dirty="0"/>
              <a:t>4.scaleX()-</a:t>
            </a:r>
            <a:r>
              <a:rPr lang="en-US" dirty="0"/>
              <a:t>increases or decreases the width of an element.</a:t>
            </a:r>
          </a:p>
          <a:p>
            <a:pPr marL="0" indent="0">
              <a:buNone/>
            </a:pPr>
            <a:r>
              <a:rPr lang="en-US" b="1" dirty="0"/>
              <a:t>5.scaleY()- </a:t>
            </a:r>
            <a:r>
              <a:rPr lang="en-US" dirty="0"/>
              <a:t>increases or decreases the height of an element.</a:t>
            </a:r>
          </a:p>
          <a:p>
            <a:pPr marL="0" indent="0">
              <a:buNone/>
            </a:pPr>
            <a:r>
              <a:rPr lang="en-US" b="1" dirty="0"/>
              <a:t>6.skew()-</a:t>
            </a:r>
            <a:r>
              <a:rPr lang="en-US" dirty="0"/>
              <a:t>skews an element along the X and Y-axis by the given angles.</a:t>
            </a:r>
          </a:p>
          <a:p>
            <a:pPr marL="0" indent="0">
              <a:buNone/>
            </a:pPr>
            <a:r>
              <a:rPr lang="en-US" b="1" dirty="0"/>
              <a:t>7.skewX()-</a:t>
            </a:r>
            <a:r>
              <a:rPr lang="en-US" dirty="0"/>
              <a:t>skews an element along the X-axis by the given angle.[degree 0-360]</a:t>
            </a:r>
          </a:p>
          <a:p>
            <a:pPr marL="0" indent="0">
              <a:buNone/>
            </a:pPr>
            <a:r>
              <a:rPr lang="en-US" b="1" dirty="0"/>
              <a:t>8.skewY()-</a:t>
            </a:r>
            <a:r>
              <a:rPr lang="en-US" dirty="0"/>
              <a:t>skews an element along the Y-axis by the given angle.</a:t>
            </a:r>
          </a:p>
          <a:p>
            <a:pPr marL="0" indent="0">
              <a:buNone/>
            </a:pPr>
            <a:r>
              <a:rPr lang="en-US" b="1" dirty="0"/>
              <a:t>9.matrix()- </a:t>
            </a:r>
            <a:r>
              <a:rPr lang="en-US" dirty="0"/>
              <a:t>6 parameters</a:t>
            </a:r>
          </a:p>
          <a:p>
            <a:pPr marL="0" indent="0">
              <a:buNone/>
            </a:pPr>
            <a:r>
              <a:rPr lang="en-US" dirty="0"/>
              <a:t>		mathematical function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matrix(</a:t>
            </a:r>
            <a:r>
              <a:rPr lang="en-US" b="1" dirty="0" err="1"/>
              <a:t>scaleX</a:t>
            </a:r>
            <a:r>
              <a:rPr lang="en-US" b="1" dirty="0"/>
              <a:t>(),</a:t>
            </a:r>
            <a:r>
              <a:rPr lang="en-US" b="1" dirty="0" err="1"/>
              <a:t>skewY</a:t>
            </a:r>
            <a:r>
              <a:rPr lang="en-US" b="1" dirty="0"/>
              <a:t>(),</a:t>
            </a:r>
            <a:r>
              <a:rPr lang="en-US" b="1" dirty="0" err="1"/>
              <a:t>skewX</a:t>
            </a:r>
            <a:r>
              <a:rPr lang="en-US" b="1" dirty="0"/>
              <a:t>(),</a:t>
            </a:r>
            <a:r>
              <a:rPr lang="en-US" b="1" dirty="0" err="1"/>
              <a:t>scaleY</a:t>
            </a:r>
            <a:r>
              <a:rPr lang="en-US" b="1" dirty="0"/>
              <a:t>(),</a:t>
            </a:r>
            <a:r>
              <a:rPr lang="en-US" b="1" dirty="0" err="1"/>
              <a:t>translateX</a:t>
            </a:r>
            <a:r>
              <a:rPr lang="en-US" b="1" dirty="0"/>
              <a:t>(),</a:t>
            </a:r>
            <a:r>
              <a:rPr lang="en-US" b="1" dirty="0" err="1"/>
              <a:t>translateY</a:t>
            </a:r>
            <a:r>
              <a:rPr lang="en-US" b="1" dirty="0"/>
              <a:t>())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transform: matrix(1, -0.3, 0, 1, 0, 0);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76298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Transforms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rotateX</a:t>
            </a:r>
            <a:r>
              <a:rPr lang="en-US" dirty="0"/>
              <a:t>()- rotates an element around its X-axis.</a:t>
            </a:r>
          </a:p>
          <a:p>
            <a:r>
              <a:rPr lang="en-US" dirty="0" err="1"/>
              <a:t>rotateY</a:t>
            </a:r>
            <a:r>
              <a:rPr lang="en-US" dirty="0"/>
              <a:t>()-rotates an element around its Y-axis.</a:t>
            </a:r>
          </a:p>
          <a:p>
            <a:r>
              <a:rPr lang="en-US" dirty="0" err="1"/>
              <a:t>rotateZ</a:t>
            </a:r>
            <a:r>
              <a:rPr lang="en-US" dirty="0"/>
              <a:t>()-rotates an element around its Z-axis.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86258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171B1-D8EB-F711-D6E1-0650A2B4C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0D048-D8B2-F788-7EFE-1497858EE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sz="23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CSS allows animation of HTML elements without using JavaScript</a:t>
            </a:r>
          </a:p>
          <a:p>
            <a:pPr>
              <a:lnSpc>
                <a:spcPct val="170000"/>
              </a:lnSpc>
            </a:pPr>
            <a:r>
              <a:rPr lang="en-US" sz="23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An animation lets an element gradually change from one style to another.</a:t>
            </a:r>
          </a:p>
          <a:p>
            <a:pPr algn="l">
              <a:lnSpc>
                <a:spcPct val="170000"/>
              </a:lnSpc>
            </a:pPr>
            <a:r>
              <a:rPr lang="en-US" sz="23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You can change as many CSS properties you want, as many times as you want.</a:t>
            </a:r>
          </a:p>
          <a:p>
            <a:pPr algn="l">
              <a:lnSpc>
                <a:spcPct val="170000"/>
              </a:lnSpc>
            </a:pPr>
            <a:r>
              <a:rPr lang="en-US" sz="23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To use CSS animation, you must first specify some keyframes for the animation.</a:t>
            </a:r>
          </a:p>
          <a:p>
            <a:pPr algn="l">
              <a:lnSpc>
                <a:spcPct val="170000"/>
              </a:lnSpc>
            </a:pPr>
            <a:r>
              <a:rPr lang="en-US" sz="23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Keyframes hold what styles the element will have at certain times.</a:t>
            </a:r>
          </a:p>
          <a:p>
            <a:pPr lvl="3">
              <a:lnSpc>
                <a:spcPct val="170000"/>
              </a:lnSpc>
            </a:pPr>
            <a:endParaRPr lang="en-US" sz="2300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8599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E4804-5FAC-C739-FAC0-723DC251B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ANIMATIONS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8B795D-2FF8-524E-2A10-D5F380784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@keyframes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animation-name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animation-duration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animation-delay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animation-iteration-count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animation-direction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animation-timing-function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813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4A563-268B-D7C5-E038-B0D279515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200608"/>
          </a:xfrm>
        </p:spPr>
        <p:txBody>
          <a:bodyPr>
            <a:normAutofit fontScale="90000"/>
          </a:bodyPr>
          <a:lstStyle/>
          <a:p>
            <a:br>
              <a:rPr lang="en-IN" b="1" i="0" u="sng" dirty="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</a:br>
            <a:r>
              <a:rPr lang="en-IN" b="1" i="0" u="sng" dirty="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The @keyframes Rule</a:t>
            </a:r>
            <a:br>
              <a:rPr lang="en-IN" b="0" i="0" dirty="0">
                <a:solidFill>
                  <a:srgbClr val="DDDDDD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D3A0CE-51F1-5916-1AEC-E2CB8DAD1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When you specify CSS styles inside 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@keyframes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rule, the animation will gradually change from the current style to the new style at certain times.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To get an animation to work, you must bind the animation to an element.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lang="en-US" b="1" u="sng" dirty="0">
                <a:solidFill>
                  <a:schemeClr val="bg1"/>
                </a:solidFill>
                <a:latin typeface="Consolas" panose="020B0609020204030204" pitchFamily="49" charset="0"/>
              </a:rPr>
              <a:t>EXAMPLE :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effectLst/>
                <a:latin typeface="Consolas" panose="020B0609020204030204" pitchFamily="49" charset="0"/>
              </a:rPr>
              <a:t>@keyframes example {</a:t>
            </a:r>
            <a:br>
              <a:rPr lang="en-US" b="0" i="0" dirty="0">
                <a:effectLst/>
                <a:latin typeface="Consolas" panose="020B0609020204030204" pitchFamily="49" charset="0"/>
              </a:rPr>
            </a:br>
            <a:r>
              <a:rPr lang="en-US" b="0" i="0" dirty="0">
                <a:effectLst/>
                <a:latin typeface="Consolas" panose="020B0609020204030204" pitchFamily="49" charset="0"/>
              </a:rPr>
              <a:t>  from {background-color: red;}</a:t>
            </a:r>
            <a:br>
              <a:rPr lang="en-US" b="0" i="0" dirty="0">
                <a:effectLst/>
                <a:latin typeface="Consolas" panose="020B0609020204030204" pitchFamily="49" charset="0"/>
              </a:rPr>
            </a:br>
            <a:r>
              <a:rPr lang="en-US" b="0" i="0" dirty="0">
                <a:effectLst/>
                <a:latin typeface="Consolas" panose="020B0609020204030204" pitchFamily="49" charset="0"/>
              </a:rPr>
              <a:t>  to {background-color: yellow;}</a:t>
            </a:r>
            <a:br>
              <a:rPr lang="en-US" b="0" i="0" dirty="0">
                <a:effectLst/>
                <a:latin typeface="Consolas" panose="020B0609020204030204" pitchFamily="49" charset="0"/>
              </a:rPr>
            </a:br>
            <a:r>
              <a:rPr lang="en-US" b="0" i="0" dirty="0">
                <a:effectLst/>
                <a:latin typeface="Consolas" panose="020B0609020204030204" pitchFamily="49" charset="0"/>
              </a:rPr>
              <a:t>}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effectLst/>
                <a:latin typeface="Consolas" panose="020B0609020204030204" pitchFamily="49" charset="0"/>
              </a:rPr>
              <a:t>/* The element to apply the animation to */</a:t>
            </a:r>
            <a:br>
              <a:rPr lang="en-US" dirty="0"/>
            </a:br>
            <a:r>
              <a:rPr lang="en-US" b="0" i="0" dirty="0">
                <a:effectLst/>
                <a:latin typeface="Consolas" panose="020B0609020204030204" pitchFamily="49" charset="0"/>
              </a:rPr>
              <a:t>div {</a:t>
            </a:r>
            <a:br>
              <a:rPr lang="en-US" b="0" i="0" dirty="0">
                <a:effectLst/>
                <a:latin typeface="Consolas" panose="020B0609020204030204" pitchFamily="49" charset="0"/>
              </a:rPr>
            </a:br>
            <a:r>
              <a:rPr lang="en-US" b="0" i="0" dirty="0">
                <a:effectLst/>
                <a:latin typeface="Consolas" panose="020B0609020204030204" pitchFamily="49" charset="0"/>
              </a:rPr>
              <a:t>  width: 100px;</a:t>
            </a:r>
            <a:br>
              <a:rPr lang="en-US" b="0" i="0" dirty="0">
                <a:effectLst/>
                <a:latin typeface="Consolas" panose="020B0609020204030204" pitchFamily="49" charset="0"/>
              </a:rPr>
            </a:br>
            <a:r>
              <a:rPr lang="en-US" b="0" i="0" dirty="0">
                <a:effectLst/>
                <a:latin typeface="Consolas" panose="020B0609020204030204" pitchFamily="49" charset="0"/>
              </a:rPr>
              <a:t>  height: 100px;</a:t>
            </a:r>
            <a:br>
              <a:rPr lang="en-US" b="0" i="0" dirty="0">
                <a:effectLst/>
                <a:latin typeface="Consolas" panose="020B0609020204030204" pitchFamily="49" charset="0"/>
              </a:rPr>
            </a:br>
            <a:r>
              <a:rPr lang="en-US" b="0" i="0" dirty="0">
                <a:effectLst/>
                <a:latin typeface="Consolas" panose="020B0609020204030204" pitchFamily="49" charset="0"/>
              </a:rPr>
              <a:t>  background-color: red;</a:t>
            </a:r>
            <a:br>
              <a:rPr lang="en-US" b="0" i="0" dirty="0">
                <a:effectLst/>
                <a:latin typeface="Consolas" panose="020B0609020204030204" pitchFamily="49" charset="0"/>
              </a:rPr>
            </a:br>
            <a:r>
              <a:rPr lang="en-US" b="0" i="0" dirty="0">
                <a:effectLst/>
                <a:latin typeface="Consolas" panose="020B0609020204030204" pitchFamily="49" charset="0"/>
              </a:rPr>
              <a:t>  animation-name: example;</a:t>
            </a:r>
            <a:br>
              <a:rPr lang="en-US" b="0" i="0" dirty="0">
                <a:effectLst/>
                <a:latin typeface="Consolas" panose="020B0609020204030204" pitchFamily="49" charset="0"/>
              </a:rPr>
            </a:br>
            <a:r>
              <a:rPr lang="en-US" b="0" i="0" dirty="0">
                <a:effectLst/>
                <a:latin typeface="Consolas" panose="020B0609020204030204" pitchFamily="49" charset="0"/>
              </a:rPr>
              <a:t>  animation-duration: 4s;</a:t>
            </a:r>
            <a:br>
              <a:rPr lang="en-US" b="0" i="0" dirty="0">
                <a:effectLst/>
                <a:latin typeface="Consolas" panose="020B0609020204030204" pitchFamily="49" charset="0"/>
              </a:rPr>
            </a:br>
            <a:r>
              <a:rPr lang="en-US" b="0" i="0" dirty="0">
                <a:effectLst/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43391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4A31C-CB68-C018-7C67-C7A7F0FF2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436B0-07DE-2625-3631-0E90336FB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662" y="1988840"/>
            <a:ext cx="7772400" cy="4777760"/>
          </a:xfrm>
        </p:spPr>
        <p:txBody>
          <a:bodyPr>
            <a:normAutofit fontScale="92500"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animation-name</a:t>
            </a:r>
            <a:r>
              <a:rPr kumimoji="0" lang="en-US" altLang="en-US" sz="2000" b="0" i="0" u="sng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:Name </a:t>
            </a:r>
            <a:r>
              <a:rPr lang="en-US" altLang="en-US" sz="2000" dirty="0">
                <a:latin typeface="Consolas" panose="020B0609020204030204" pitchFamily="49" charset="0"/>
              </a:rPr>
              <a:t>of the animation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animation-duration: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This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effectLst/>
                <a:latin typeface="Verdana" panose="020B0604030504040204" pitchFamily="34" charset="0"/>
              </a:rPr>
              <a:t>property defines how long an animation should take to complete,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If the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animation-duration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property is not specified, no animation will occur, because the default value is 0s (0 seconds)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animation-delay</a:t>
            </a:r>
            <a:r>
              <a:rPr kumimoji="0" lang="en-US" altLang="en-US" sz="2000" b="0" i="0" u="sng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: P</a:t>
            </a:r>
            <a:r>
              <a:rPr lang="en-US" sz="16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roperty specifies a delay for the start of an animation.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animation-iteration-count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:</a:t>
            </a:r>
            <a:r>
              <a:rPr lang="en-US" sz="16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 property specifies the number of times an animation should run.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animation-direction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:</a:t>
            </a:r>
            <a:r>
              <a:rPr lang="en-US" sz="16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 property specifies whether an animation should be played forwards, backwards or in alternate cycles.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animation-timing-function:</a:t>
            </a:r>
            <a:r>
              <a:rPr lang="en-US" sz="1600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  property specifies the speed curve of the animation</a:t>
            </a:r>
            <a:endParaRPr kumimoji="0" lang="en-US" altLang="en-US" sz="2000" b="1" i="0" u="sng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17396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1FA2D-6C60-4CD1-1D5F-8C19E9718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chemeClr val="tx2"/>
                </a:solidFill>
                <a:effectLst/>
                <a:latin typeface="Consolas" panose="020B0609020204030204" pitchFamily="49" charset="0"/>
              </a:rPr>
              <a:t>animation-direction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BA13E-26CE-2D22-7D25-7CA982222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2060848"/>
            <a:ext cx="7772400" cy="4512976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- The animation is played as normal (forwards). This is default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reverse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- The animation is played in reverse direction (backwards)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alternate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- The animation is played forwards first, then backwards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alternate-reverse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- The animation is played backwards first, then forwards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76525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91643-16E2-3550-33F6-C18F1434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 queries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F18DB-411C-C956-A51B-746FF6FA1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988840"/>
            <a:ext cx="7772400" cy="4206240"/>
          </a:xfrm>
        </p:spPr>
        <p:txBody>
          <a:bodyPr>
            <a:normAutofit fontScale="70000" lnSpcReduction="2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Media query is a CSS technique introduced in CSS3.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DDDDDD"/>
              </a:solidFill>
              <a:effectLst/>
              <a:latin typeface="Verdana" panose="020B060403050404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It uses 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9999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 rule to include a block of CSS properties only if a certain condition is true.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kumimoji="0" lang="en-US" altLang="en-US" sz="3100" b="0" i="0" u="none" strike="noStrike" cap="none" normalizeH="0" baseline="0" dirty="0">
              <a:ln>
                <a:noFill/>
              </a:ln>
              <a:effectLst/>
              <a:latin typeface="Söhne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31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In this example, the </a:t>
            </a:r>
            <a:r>
              <a:rPr kumimoji="0" lang="en-US" altLang="en-US" sz="3100" b="1" i="0" u="none" strike="noStrike" cap="none" normalizeH="0" baseline="0" dirty="0">
                <a:ln>
                  <a:noFill/>
                </a:ln>
                <a:effectLst/>
                <a:latin typeface="Söhne Mono"/>
              </a:rPr>
              <a:t>only</a:t>
            </a:r>
            <a:r>
              <a:rPr kumimoji="0" lang="en-US" altLang="en-US" sz="3100" b="0" i="0" u="none" strike="noStrike" cap="none" normalizeH="0" baseline="0" dirty="0">
                <a:ln>
                  <a:noFill/>
                </a:ln>
                <a:effectLst/>
                <a:latin typeface="Söhne"/>
              </a:rPr>
              <a:t> keyword is used to target only screens. </a:t>
            </a:r>
            <a:endParaRPr kumimoji="0" lang="en-US" altLang="en-US" sz="3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DDDDDD"/>
                </a:solidFill>
                <a:effectLst/>
                <a:latin typeface="Segoe UI" panose="020B0502040204020203" pitchFamily="34" charset="0"/>
              </a:rPr>
              <a:t>Example</a:t>
            </a:r>
          </a:p>
          <a:p>
            <a:pPr algn="l"/>
            <a:r>
              <a:rPr lang="en-US" b="0" i="0" dirty="0">
                <a:solidFill>
                  <a:srgbClr val="DDDDDD"/>
                </a:solidFill>
                <a:effectLst/>
                <a:latin typeface="Verdana" panose="020B0604030504040204" pitchFamily="34" charset="0"/>
              </a:rPr>
              <a:t>If the browser window is 600px or smaller, the background color will be lightblue:</a:t>
            </a:r>
          </a:p>
          <a:p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@media only screen and (max-width: 600px) {</a:t>
            </a:r>
            <a:b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body {</a:t>
            </a:r>
            <a:b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   background-color: lightblue;</a:t>
            </a:r>
            <a:b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 }</a:t>
            </a:r>
            <a:b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D7530E-90CF-6D8B-319E-89BC544DC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4615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606060"/>
      </a:dk2>
      <a:lt2>
        <a:srgbClr val="EDEDED"/>
      </a:lt2>
      <a:accent1>
        <a:srgbClr val="FFC000"/>
      </a:accent1>
      <a:accent2>
        <a:srgbClr val="A5D028"/>
      </a:accent2>
      <a:accent3>
        <a:srgbClr val="08CC78"/>
      </a:accent3>
      <a:accent4>
        <a:srgbClr val="099BDD"/>
      </a:accent4>
      <a:accent5>
        <a:srgbClr val="828288"/>
      </a:accent5>
      <a:accent6>
        <a:srgbClr val="F56617"/>
      </a:accent6>
      <a:hlink>
        <a:srgbClr val="FF9933"/>
      </a:hlink>
      <a:folHlink>
        <a:srgbClr val="B2B2B2"/>
      </a:folHlink>
    </a:clrScheme>
    <a:fontScheme name="Banded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B1D2DA32-AC8B-4194-BF85-FF4A5B40EB5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4822</TotalTime>
  <Words>2370</Words>
  <Application>Microsoft Office PowerPoint</Application>
  <PresentationFormat>On-screen Show (4:3)</PresentationFormat>
  <Paragraphs>370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6" baseType="lpstr">
      <vt:lpstr>Arial</vt:lpstr>
      <vt:lpstr>Calibri</vt:lpstr>
      <vt:lpstr>Consolas</vt:lpstr>
      <vt:lpstr>Corbel</vt:lpstr>
      <vt:lpstr>Segoe UI</vt:lpstr>
      <vt:lpstr>Söhne</vt:lpstr>
      <vt:lpstr>Söhne Mono</vt:lpstr>
      <vt:lpstr>Symbol</vt:lpstr>
      <vt:lpstr>Times New Roman</vt:lpstr>
      <vt:lpstr>Verdana</vt:lpstr>
      <vt:lpstr>Wingdings</vt:lpstr>
      <vt:lpstr>Banded</vt:lpstr>
      <vt:lpstr>CSS</vt:lpstr>
      <vt:lpstr>CSS</vt:lpstr>
      <vt:lpstr>Types of CSS</vt:lpstr>
      <vt:lpstr>Syntax of css</vt:lpstr>
      <vt:lpstr>Three ways to add css file</vt:lpstr>
      <vt:lpstr>External CSS Style</vt:lpstr>
      <vt:lpstr>   Selectors</vt:lpstr>
      <vt:lpstr>Types of CSS Selectors</vt:lpstr>
      <vt:lpstr>Selector</vt:lpstr>
      <vt:lpstr>Simple Selector</vt:lpstr>
      <vt:lpstr>UNIVERSAL SELECTOR(*)</vt:lpstr>
      <vt:lpstr>TYPE/ ELEMENT SELECTOR</vt:lpstr>
      <vt:lpstr>ID SELECTOR(#)</vt:lpstr>
      <vt:lpstr>CLASS SELECTOR</vt:lpstr>
      <vt:lpstr>Combinator Selector</vt:lpstr>
      <vt:lpstr>DESCENDENT SELECTOR</vt:lpstr>
      <vt:lpstr>Child selector(&gt;)</vt:lpstr>
      <vt:lpstr>Adjacent sibling selector</vt:lpstr>
      <vt:lpstr> general sibling selector</vt:lpstr>
      <vt:lpstr>Pseudo classes</vt:lpstr>
      <vt:lpstr>Pseudo Classes</vt:lpstr>
      <vt:lpstr>Psuedo ClASS SELECTOR</vt:lpstr>
      <vt:lpstr>Pseudo Elements</vt:lpstr>
      <vt:lpstr>Pseudo Elements</vt:lpstr>
      <vt:lpstr>PowerPoint Presentation</vt:lpstr>
      <vt:lpstr>PowerPoint Presentation</vt:lpstr>
      <vt:lpstr>Pseudo class v/s pseudo element</vt:lpstr>
      <vt:lpstr>Text Property</vt:lpstr>
      <vt:lpstr>Background Property</vt:lpstr>
      <vt:lpstr>Font Property</vt:lpstr>
      <vt:lpstr>Gradient:</vt:lpstr>
      <vt:lpstr>Gradient:</vt:lpstr>
      <vt:lpstr>Box Model</vt:lpstr>
      <vt:lpstr>Box model:</vt:lpstr>
      <vt:lpstr>Properties</vt:lpstr>
      <vt:lpstr>Position Property</vt:lpstr>
      <vt:lpstr>PowerPoint Presentation</vt:lpstr>
      <vt:lpstr>Display  properties</vt:lpstr>
      <vt:lpstr>Flex Properties</vt:lpstr>
      <vt:lpstr>Flex-Box</vt:lpstr>
      <vt:lpstr>Transition</vt:lpstr>
      <vt:lpstr>Transition Property</vt:lpstr>
      <vt:lpstr>Transition-timing-function</vt:lpstr>
      <vt:lpstr>2D and 3D Transforms</vt:lpstr>
      <vt:lpstr>Transform property</vt:lpstr>
      <vt:lpstr>Difference</vt:lpstr>
      <vt:lpstr>2D Transforms</vt:lpstr>
      <vt:lpstr>3D Transforms</vt:lpstr>
      <vt:lpstr>Animations</vt:lpstr>
      <vt:lpstr>ANIMATIONS</vt:lpstr>
      <vt:lpstr> The @keyframes Rule </vt:lpstr>
      <vt:lpstr>PowerPoint Presentation</vt:lpstr>
      <vt:lpstr>animation-direction</vt:lpstr>
      <vt:lpstr>Media queries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73</cp:revision>
  <dcterms:created xsi:type="dcterms:W3CDTF">2022-02-02T09:25:59Z</dcterms:created>
  <dcterms:modified xsi:type="dcterms:W3CDTF">2025-09-09T06:51:35Z</dcterms:modified>
</cp:coreProperties>
</file>