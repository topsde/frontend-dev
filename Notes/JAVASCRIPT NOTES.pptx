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319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58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0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74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62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747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21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93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16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139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6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991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9055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647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177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655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776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288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729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61C7D7A-53C3-4B6B-9A5C-7FA38BDE5A5E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FB1F9-740E-4411-B6AB-B1616B79E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8919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programming/c_while_loop.h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es6.asp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JavaScript/Reference/Global_Objects/String" TargetMode="Externa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0E6C-2DC6-8052-4B88-C0849BB53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430" y="1047750"/>
            <a:ext cx="8825658" cy="2853331"/>
          </a:xfrm>
        </p:spPr>
        <p:txBody>
          <a:bodyPr/>
          <a:lstStyle/>
          <a:p>
            <a:r>
              <a:rPr lang="en-US" dirty="0"/>
              <a:t>Java Script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280D6-54D0-4DC4-EA84-43CC0E5C94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// js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88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049C-F595-EAAB-8204-52A1980E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8407"/>
          </a:xfrm>
        </p:spPr>
        <p:txBody>
          <a:bodyPr/>
          <a:lstStyle/>
          <a:p>
            <a:r>
              <a:rPr lang="en-US" dirty="0" err="1"/>
              <a:t>Javascript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0DE83-61F6-CF8D-72F4-0341DA1E9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81125"/>
            <a:ext cx="8946541" cy="4867275"/>
          </a:xfrm>
        </p:spPr>
        <p:txBody>
          <a:bodyPr/>
          <a:lstStyle/>
          <a:p>
            <a:r>
              <a:rPr lang="en-US" dirty="0"/>
              <a:t>JavaScript is the most popular programming language which is used to create interactive webpages</a:t>
            </a:r>
          </a:p>
          <a:p>
            <a:r>
              <a:rPr lang="en-US" dirty="0"/>
              <a:t>JavaScript is the client-server side scripting language which is used to create dynamic web pages</a:t>
            </a:r>
          </a:p>
          <a:p>
            <a:pPr algn="l"/>
            <a:r>
              <a:rPr lang="en-US" b="0" dirty="0">
                <a:solidFill>
                  <a:schemeClr val="tx2"/>
                </a:solidFill>
                <a:effectLst/>
                <a:latin typeface="Verdana" panose="020B0604030504040204" pitchFamily="34" charset="0"/>
              </a:rPr>
              <a:t>JavaScript was invented by Brendan Eich in 1995, and became an ECMA standard in 1997.</a:t>
            </a:r>
          </a:p>
          <a:p>
            <a:pPr algn="l"/>
            <a:r>
              <a:rPr lang="en-US" b="0" dirty="0">
                <a:solidFill>
                  <a:schemeClr val="tx2"/>
                </a:solidFill>
                <a:effectLst/>
                <a:latin typeface="Verdana" panose="020B0604030504040204" pitchFamily="34" charset="0"/>
              </a:rPr>
              <a:t>ECMA-262 is the official name of the standard. ECMAScript is the official name of the language.</a:t>
            </a:r>
          </a:p>
          <a:p>
            <a:pPr algn="l"/>
            <a:r>
              <a:rPr lang="en-US" b="0" dirty="0">
                <a:solidFill>
                  <a:schemeClr val="tx2"/>
                </a:solidFill>
                <a:effectLst/>
                <a:latin typeface="Verdana" panose="020B0604030504040204" pitchFamily="34" charset="0"/>
              </a:rPr>
              <a:t>C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urrent version of JS is ES6 (introduced after 2015)</a:t>
            </a:r>
          </a:p>
          <a:p>
            <a:pPr algn="l"/>
            <a:endParaRPr lang="en-US" b="0" dirty="0">
              <a:solidFill>
                <a:schemeClr val="tx2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359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7B8F-15F0-7C94-DE4A-D68AAD66E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6007"/>
          </a:xfrm>
        </p:spPr>
        <p:txBody>
          <a:bodyPr/>
          <a:lstStyle/>
          <a:p>
            <a:r>
              <a:rPr lang="en-US" dirty="0"/>
              <a:t>Characteristics of JavaScript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43104-E189-56BD-9F56-1E1E89CC6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1626"/>
            <a:ext cx="8946541" cy="4676774"/>
          </a:xfrm>
        </p:spPr>
        <p:txBody>
          <a:bodyPr/>
          <a:lstStyle/>
          <a:p>
            <a:r>
              <a:rPr lang="en-US" b="1" dirty="0"/>
              <a:t>Client-side scripting language </a:t>
            </a:r>
            <a:r>
              <a:rPr lang="en-US" dirty="0"/>
              <a:t>: The code is readable analyzable and executable by browser itself</a:t>
            </a:r>
          </a:p>
          <a:p>
            <a:r>
              <a:rPr lang="en-US" b="1" dirty="0"/>
              <a:t>Interpreted Language </a:t>
            </a:r>
            <a:r>
              <a:rPr lang="en-US" dirty="0"/>
              <a:t>: </a:t>
            </a:r>
            <a:r>
              <a:rPr lang="en-US" dirty="0">
                <a:solidFill>
                  <a:schemeClr val="tx2"/>
                </a:solidFill>
              </a:rPr>
              <a:t>J</a:t>
            </a:r>
            <a:r>
              <a:rPr lang="en-US" b="0" i="0" dirty="0">
                <a:solidFill>
                  <a:schemeClr val="tx2"/>
                </a:solidFill>
                <a:effectLst/>
                <a:latin typeface="Söhne"/>
              </a:rPr>
              <a:t>avaScript is an interpreted language, meaning it is executed line by line at runtime.</a:t>
            </a:r>
          </a:p>
          <a:p>
            <a:r>
              <a:rPr lang="en-US" b="1" dirty="0">
                <a:solidFill>
                  <a:schemeClr val="tx2"/>
                </a:solidFill>
                <a:latin typeface="Söhne"/>
              </a:rPr>
              <a:t>Dynamically types Language </a:t>
            </a:r>
            <a:r>
              <a:rPr lang="en-US" dirty="0">
                <a:solidFill>
                  <a:schemeClr val="tx2"/>
                </a:solidFill>
                <a:latin typeface="Söhne"/>
              </a:rPr>
              <a:t>: </a:t>
            </a:r>
            <a:r>
              <a:rPr lang="en-US" b="0" i="0" dirty="0">
                <a:solidFill>
                  <a:schemeClr val="tx2"/>
                </a:solidFill>
                <a:effectLst/>
                <a:latin typeface="Söhne"/>
              </a:rPr>
              <a:t>JavaScript is dynamically-typed, which means you don't need to specify the data type of a variable when declaring it. The type is determined at runtime.</a:t>
            </a:r>
          </a:p>
          <a:p>
            <a:r>
              <a:rPr lang="en-US" b="1" dirty="0">
                <a:solidFill>
                  <a:schemeClr val="tx2"/>
                </a:solidFill>
                <a:latin typeface="Söhne"/>
              </a:rPr>
              <a:t>Weakly Typed Language </a:t>
            </a:r>
            <a:r>
              <a:rPr lang="en-US" dirty="0">
                <a:solidFill>
                  <a:schemeClr val="tx2"/>
                </a:solidFill>
                <a:latin typeface="Söhne"/>
              </a:rPr>
              <a:t>: Semicolon is not mandatory at all the time </a:t>
            </a:r>
          </a:p>
          <a:p>
            <a:r>
              <a:rPr lang="en-US" b="1" dirty="0">
                <a:solidFill>
                  <a:schemeClr val="tx2"/>
                </a:solidFill>
                <a:latin typeface="Söhne"/>
              </a:rPr>
              <a:t>Synchronous in nature </a:t>
            </a:r>
            <a:r>
              <a:rPr lang="en-US" dirty="0">
                <a:solidFill>
                  <a:schemeClr val="tx2"/>
                </a:solidFill>
                <a:latin typeface="Söhne"/>
              </a:rPr>
              <a:t>: It will executes line by line , we can make it as asynchronous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0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E42A4-6E95-5FA8-4D94-81972C16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7F399-2D34-64C7-5783-A0FB75ECA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learn and implement</a:t>
            </a:r>
          </a:p>
          <a:p>
            <a:r>
              <a:rPr lang="en-US" dirty="0"/>
              <a:t>Reduces server load</a:t>
            </a:r>
          </a:p>
          <a:p>
            <a:r>
              <a:rPr lang="en-US" dirty="0"/>
              <a:t>Efficient performance</a:t>
            </a:r>
          </a:p>
          <a:p>
            <a:r>
              <a:rPr lang="en-US" dirty="0"/>
              <a:t>Regular updates</a:t>
            </a:r>
          </a:p>
          <a:p>
            <a:r>
              <a:rPr lang="en-US" dirty="0"/>
              <a:t>Platform independent</a:t>
            </a:r>
          </a:p>
          <a:p>
            <a:r>
              <a:rPr lang="en-US" dirty="0"/>
              <a:t>It has more frameworks and libraries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405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297F-25AF-21F1-F847-FBF092F0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66507"/>
          </a:xfrm>
        </p:spPr>
        <p:txBody>
          <a:bodyPr/>
          <a:lstStyle/>
          <a:p>
            <a:r>
              <a:rPr lang="en-US" dirty="0"/>
              <a:t>Environmental Setup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EDDC7-59F2-83E3-C0B2-6A0E681A2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28726"/>
            <a:ext cx="8946541" cy="5019674"/>
          </a:xfrm>
        </p:spPr>
        <p:txBody>
          <a:bodyPr/>
          <a:lstStyle/>
          <a:p>
            <a:r>
              <a:rPr lang="en-US" dirty="0"/>
              <a:t>We can run JavaScript code in two environments.</a:t>
            </a:r>
          </a:p>
          <a:p>
            <a:pPr lvl="1"/>
            <a:r>
              <a:rPr lang="en-US" dirty="0"/>
              <a:t>Browser</a:t>
            </a:r>
          </a:p>
          <a:p>
            <a:pPr lvl="1"/>
            <a:r>
              <a:rPr lang="en-US" dirty="0"/>
              <a:t>Node.js</a:t>
            </a:r>
          </a:p>
          <a:p>
            <a:r>
              <a:rPr lang="en-US" dirty="0"/>
              <a:t>Every browser consists of JavaScript engine which helps to run JS code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36FE938-8C86-4315-FB5B-B5A4775CC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6331"/>
              </p:ext>
            </p:extLst>
          </p:nvPr>
        </p:nvGraphicFramePr>
        <p:xfrm>
          <a:off x="1412875" y="3367722"/>
          <a:ext cx="8128000" cy="19153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282950">
                  <a:extLst>
                    <a:ext uri="{9D8B030D-6E8A-4147-A177-3AD203B41FA5}">
                      <a16:colId xmlns:a16="http://schemas.microsoft.com/office/drawing/2014/main" val="807836214"/>
                    </a:ext>
                  </a:extLst>
                </a:gridCol>
                <a:gridCol w="4845050">
                  <a:extLst>
                    <a:ext uri="{9D8B030D-6E8A-4147-A177-3AD203B41FA5}">
                      <a16:colId xmlns:a16="http://schemas.microsoft.com/office/drawing/2014/main" val="1619761820"/>
                    </a:ext>
                  </a:extLst>
                </a:gridCol>
              </a:tblGrid>
              <a:tr h="383064">
                <a:tc>
                  <a:txBody>
                    <a:bodyPr/>
                    <a:lstStyle/>
                    <a:p>
                      <a:r>
                        <a:rPr lang="en-US" u="sng" dirty="0"/>
                        <a:t>Browser</a:t>
                      </a:r>
                      <a:endParaRPr lang="en-IN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JS engine</a:t>
                      </a:r>
                      <a:endParaRPr lang="en-IN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001299"/>
                  </a:ext>
                </a:extLst>
              </a:tr>
              <a:tr h="383064">
                <a:tc>
                  <a:txBody>
                    <a:bodyPr/>
                    <a:lstStyle/>
                    <a:p>
                      <a:r>
                        <a:rPr lang="en-US" dirty="0"/>
                        <a:t>Chrome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851665"/>
                  </a:ext>
                </a:extLst>
              </a:tr>
              <a:tr h="383064">
                <a:tc>
                  <a:txBody>
                    <a:bodyPr/>
                    <a:lstStyle/>
                    <a:p>
                      <a:r>
                        <a:rPr lang="en-US" dirty="0"/>
                        <a:t>Mozilla Firefox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Spider monkey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953120"/>
                  </a:ext>
                </a:extLst>
              </a:tr>
              <a:tr h="383064">
                <a:tc>
                  <a:txBody>
                    <a:bodyPr/>
                    <a:lstStyle/>
                    <a:p>
                      <a:r>
                        <a:rPr lang="en-US" dirty="0"/>
                        <a:t>Microsoft Edge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Chakra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359675"/>
                  </a:ext>
                </a:extLst>
              </a:tr>
              <a:tr h="383064">
                <a:tc>
                  <a:txBody>
                    <a:bodyPr/>
                    <a:lstStyle/>
                    <a:p>
                      <a:r>
                        <a:rPr lang="en-US" dirty="0"/>
                        <a:t>Safari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JavaScript Core Webkit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777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86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88C1-B0CD-0D4C-4792-C9EA5D1A6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6" y="319368"/>
            <a:ext cx="9404723" cy="823632"/>
          </a:xfrm>
        </p:spPr>
        <p:txBody>
          <a:bodyPr/>
          <a:lstStyle/>
          <a:p>
            <a:r>
              <a:rPr lang="en-US" dirty="0"/>
              <a:t>How to include JS in 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57F3F-89C9-9D34-E2C3-72DDD63B4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200276"/>
            <a:ext cx="8946541" cy="30670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We can insert JS code to HTML in two ways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3200" dirty="0"/>
          </a:p>
          <a:p>
            <a:pPr marL="457200" lvl="1" indent="0">
              <a:buNone/>
            </a:pPr>
            <a:r>
              <a:rPr lang="en-US" sz="2400" dirty="0"/>
              <a:t>1.Internal JS	</a:t>
            </a:r>
            <a:r>
              <a:rPr lang="en-US" sz="2800" dirty="0"/>
              <a:t>				</a:t>
            </a:r>
          </a:p>
          <a:p>
            <a:pPr marL="457200" lvl="1" indent="0">
              <a:buNone/>
            </a:pPr>
            <a:r>
              <a:rPr lang="en-US" sz="2400" dirty="0"/>
              <a:t>2.External</a:t>
            </a:r>
            <a:r>
              <a:rPr lang="en-US" sz="2800" dirty="0"/>
              <a:t> JS</a:t>
            </a:r>
          </a:p>
          <a:p>
            <a:pPr marL="457200" lvl="1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084A13-A816-9463-CA3D-F63AC129D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D2A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317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F0DB-17F7-000D-4F90-9C5A55F2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4107"/>
          </a:xfrm>
        </p:spPr>
        <p:txBody>
          <a:bodyPr/>
          <a:lstStyle/>
          <a:p>
            <a:r>
              <a:rPr lang="en-US" sz="3600" dirty="0"/>
              <a:t>Output Methods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AF8AC-5D39-3F7E-EC51-B6EC67761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Console.log(“hello”) </a:t>
            </a:r>
          </a:p>
          <a:p>
            <a:pPr lvl="1"/>
            <a:r>
              <a:rPr lang="en-US" dirty="0"/>
              <a:t>It will print the output in console window</a:t>
            </a:r>
          </a:p>
          <a:p>
            <a:r>
              <a:rPr lang="en-US" dirty="0"/>
              <a:t>Document.write(“Hello”)</a:t>
            </a:r>
          </a:p>
          <a:p>
            <a:pPr lvl="1"/>
            <a:r>
              <a:rPr lang="en-US" dirty="0"/>
              <a:t>It will print the output in user interface</a:t>
            </a:r>
          </a:p>
          <a:p>
            <a:r>
              <a:rPr lang="en-US" dirty="0"/>
              <a:t>Document.writeln(“Hello”)</a:t>
            </a:r>
          </a:p>
          <a:p>
            <a:pPr lvl="1"/>
            <a:r>
              <a:rPr lang="en-US" dirty="0"/>
              <a:t>It will print the output in user interface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952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F7A6-0270-5561-C3F8-84183732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42682"/>
          </a:xfrm>
        </p:spPr>
        <p:txBody>
          <a:bodyPr/>
          <a:lstStyle/>
          <a:p>
            <a:r>
              <a:rPr lang="en-US" dirty="0"/>
              <a:t>Tokens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84E7B-3031-B75C-AF17-DEFCBA805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933575"/>
            <a:ext cx="8946541" cy="4314824"/>
          </a:xfrm>
        </p:spPr>
        <p:txBody>
          <a:bodyPr/>
          <a:lstStyle/>
          <a:p>
            <a:r>
              <a:rPr lang="en-US" dirty="0"/>
              <a:t>Building blocks of every programming language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Keywords : Predefined words whose task is already predefined                                                                      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Identifiers : The name given for the variables ,arrays , objects etc..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Literals : The values written by developer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97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DA437-7326-4F7A-8BBF-39E40498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5532"/>
          </a:xfrm>
        </p:spPr>
        <p:txBody>
          <a:bodyPr/>
          <a:lstStyle/>
          <a:p>
            <a:r>
              <a:rPr lang="en-US" dirty="0"/>
              <a:t>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57CA-F4C1-530D-84A8-D4ADCDD99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219324"/>
            <a:ext cx="8946541" cy="4029075"/>
          </a:xfrm>
        </p:spPr>
        <p:txBody>
          <a:bodyPr/>
          <a:lstStyle/>
          <a:p>
            <a:r>
              <a:rPr lang="en-US" dirty="0"/>
              <a:t>In JavaScript We have 3 keywords to declare variables(var , let , const)</a:t>
            </a:r>
          </a:p>
          <a:p>
            <a:r>
              <a:rPr lang="en-US" dirty="0"/>
              <a:t>Syntax To declare variable:</a:t>
            </a:r>
          </a:p>
          <a:p>
            <a:pPr marL="0" indent="0">
              <a:buNone/>
            </a:pPr>
            <a:r>
              <a:rPr lang="en-US" dirty="0"/>
              <a:t>		var/let/const identifier;</a:t>
            </a:r>
          </a:p>
          <a:p>
            <a:pPr marL="0" indent="0">
              <a:buNone/>
            </a:pPr>
            <a:r>
              <a:rPr lang="en-US" dirty="0"/>
              <a:t>		var/let/const identifier=value;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356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C0D7-9837-F71E-1AB8-25985D7B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7457"/>
          </a:xfrm>
        </p:spPr>
        <p:txBody>
          <a:bodyPr/>
          <a:lstStyle/>
          <a:p>
            <a:r>
              <a:rPr lang="en-US" dirty="0"/>
              <a:t>Var , let and const 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FF6BBB9-573B-8F58-9B6D-836DFD0E4D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479547"/>
              </p:ext>
            </p:extLst>
          </p:nvPr>
        </p:nvGraphicFramePr>
        <p:xfrm>
          <a:off x="1103313" y="2052638"/>
          <a:ext cx="8947148" cy="372903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6787">
                  <a:extLst>
                    <a:ext uri="{9D8B030D-6E8A-4147-A177-3AD203B41FA5}">
                      <a16:colId xmlns:a16="http://schemas.microsoft.com/office/drawing/2014/main" val="2037660546"/>
                    </a:ext>
                  </a:extLst>
                </a:gridCol>
                <a:gridCol w="2236787">
                  <a:extLst>
                    <a:ext uri="{9D8B030D-6E8A-4147-A177-3AD203B41FA5}">
                      <a16:colId xmlns:a16="http://schemas.microsoft.com/office/drawing/2014/main" val="2626335819"/>
                    </a:ext>
                  </a:extLst>
                </a:gridCol>
                <a:gridCol w="2236787">
                  <a:extLst>
                    <a:ext uri="{9D8B030D-6E8A-4147-A177-3AD203B41FA5}">
                      <a16:colId xmlns:a16="http://schemas.microsoft.com/office/drawing/2014/main" val="2667495466"/>
                    </a:ext>
                  </a:extLst>
                </a:gridCol>
                <a:gridCol w="2236787">
                  <a:extLst>
                    <a:ext uri="{9D8B030D-6E8A-4147-A177-3AD203B41FA5}">
                      <a16:colId xmlns:a16="http://schemas.microsoft.com/office/drawing/2014/main" val="2893087461"/>
                    </a:ext>
                  </a:extLst>
                </a:gridCol>
              </a:tblGrid>
              <a:tr h="48265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03149"/>
                  </a:ext>
                </a:extLst>
              </a:tr>
              <a:tr h="833083">
                <a:tc>
                  <a:txBody>
                    <a:bodyPr/>
                    <a:lstStyle/>
                    <a:p>
                      <a:r>
                        <a:rPr lang="en-US" dirty="0"/>
                        <a:t>Declaration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Declaration with initialization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537919"/>
                  </a:ext>
                </a:extLst>
              </a:tr>
              <a:tr h="482659">
                <a:tc>
                  <a:txBody>
                    <a:bodyPr/>
                    <a:lstStyle/>
                    <a:p>
                      <a:r>
                        <a:rPr lang="en-US" dirty="0"/>
                        <a:t>Initialization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445964"/>
                  </a:ext>
                </a:extLst>
              </a:tr>
              <a:tr h="482659">
                <a:tc>
                  <a:txBody>
                    <a:bodyPr/>
                    <a:lstStyle/>
                    <a:p>
                      <a:r>
                        <a:rPr lang="en-US" dirty="0"/>
                        <a:t>Reinitialization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944716"/>
                  </a:ext>
                </a:extLst>
              </a:tr>
              <a:tr h="482659">
                <a:tc>
                  <a:txBody>
                    <a:bodyPr/>
                    <a:lstStyle/>
                    <a:p>
                      <a:r>
                        <a:rPr lang="en-US" dirty="0"/>
                        <a:t>Redeclaration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217074"/>
                  </a:ext>
                </a:extLst>
              </a:tr>
              <a:tr h="482659"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 scope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Script scope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Script scope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385347"/>
                  </a:ext>
                </a:extLst>
              </a:tr>
              <a:tr h="482659">
                <a:tc>
                  <a:txBody>
                    <a:bodyPr/>
                    <a:lstStyle/>
                    <a:p>
                      <a:r>
                        <a:rPr lang="en-US" dirty="0"/>
                        <a:t>Hoisting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859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95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D6CF5-F397-B750-ACBE-179B9E6A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7432"/>
          </a:xfrm>
        </p:spPr>
        <p:txBody>
          <a:bodyPr/>
          <a:lstStyle/>
          <a:p>
            <a:r>
              <a:rPr lang="en-US" dirty="0"/>
              <a:t>Hoisting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16482-DC1C-AEE5-657B-112D1547F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00225"/>
            <a:ext cx="8946541" cy="4448174"/>
          </a:xfrm>
        </p:spPr>
        <p:txBody>
          <a:bodyPr/>
          <a:lstStyle/>
          <a:p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Hoisting is JavaScript's default behavior of moving all declarations to the top of the current scope (to the top of the current script or the current function).</a:t>
            </a:r>
          </a:p>
          <a:p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In JavaScript, a variable can be declared after it has been used.</a:t>
            </a:r>
          </a:p>
          <a:p>
            <a:endParaRPr lang="en-US" b="0" i="0" dirty="0"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Example:</a:t>
            </a:r>
          </a:p>
          <a:p>
            <a:pPr marL="0" indent="0">
              <a:buNone/>
            </a:pPr>
            <a:endParaRPr lang="en-US" dirty="0">
              <a:solidFill>
                <a:srgbClr val="DDDDDD"/>
              </a:solidFill>
              <a:latin typeface="Verdana" panose="020B0604030504040204" pitchFamily="34" charset="0"/>
            </a:endParaRPr>
          </a:p>
          <a:p>
            <a:pPr marL="400050" lvl="1" indent="0">
              <a:buNone/>
            </a:pPr>
            <a:r>
              <a:rPr lang="en-IN" b="0" i="0" dirty="0">
                <a:solidFill>
                  <a:schemeClr val="tx2"/>
                </a:solidFill>
                <a:effectLst/>
                <a:latin typeface="Söhne Mono"/>
              </a:rPr>
              <a:t>console.log(</a:t>
            </a:r>
            <a:r>
              <a:rPr lang="en-IN" b="0" i="0" dirty="0" err="1">
                <a:solidFill>
                  <a:schemeClr val="tx2"/>
                </a:solidFill>
                <a:effectLst/>
                <a:latin typeface="Söhne Mono"/>
              </a:rPr>
              <a:t>myVar</a:t>
            </a:r>
            <a:r>
              <a:rPr lang="en-IN" b="0" i="0" dirty="0">
                <a:solidFill>
                  <a:schemeClr val="tx2"/>
                </a:solidFill>
                <a:effectLst/>
                <a:latin typeface="Söhne Mono"/>
              </a:rPr>
              <a:t>); // Outputs: undefined </a:t>
            </a:r>
          </a:p>
          <a:p>
            <a:pPr marL="400050" lvl="1" indent="0">
              <a:buNone/>
            </a:pPr>
            <a:r>
              <a:rPr lang="en-IN" b="0" i="0" dirty="0">
                <a:solidFill>
                  <a:schemeClr val="tx2"/>
                </a:solidFill>
                <a:effectLst/>
                <a:latin typeface="Söhne Mono"/>
              </a:rPr>
              <a:t>var </a:t>
            </a:r>
            <a:r>
              <a:rPr lang="en-IN" b="0" i="0" dirty="0" err="1">
                <a:solidFill>
                  <a:schemeClr val="tx2"/>
                </a:solidFill>
                <a:effectLst/>
                <a:latin typeface="Söhne Mono"/>
              </a:rPr>
              <a:t>myVar</a:t>
            </a:r>
            <a:r>
              <a:rPr lang="en-IN" b="0" i="0" dirty="0">
                <a:solidFill>
                  <a:schemeClr val="tx2"/>
                </a:solidFill>
                <a:effectLst/>
                <a:latin typeface="Söhne Mono"/>
              </a:rPr>
              <a:t> = 42;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091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EC6C-C536-0135-F3B5-AAD2A06C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41288"/>
            <a:ext cx="9404723" cy="1166532"/>
          </a:xfrm>
        </p:spPr>
        <p:txBody>
          <a:bodyPr/>
          <a:lstStyle/>
          <a:p>
            <a:r>
              <a:rPr lang="en-US" b="0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  <a:t>The let and const Keywords</a:t>
            </a:r>
            <a:br>
              <a:rPr lang="en-US" b="0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D987B1-6C57-BD66-667B-85DD60562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Variables defined with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are hoisted to the top of the block, but not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initialized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Meaning: The block of code is aware of the variable, but it cannot be used until it has been declared.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Using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variable before it is declared will result in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ReferenceError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The variable is in a "temporal dead zone" from the start of the block until it is declared: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b="0" i="0" dirty="0">
                <a:effectLst/>
                <a:latin typeface="Lato" panose="020F0502020204030204" pitchFamily="34" charset="0"/>
              </a:rPr>
              <a:t>A </a:t>
            </a:r>
            <a:r>
              <a:rPr lang="en-US" b="1" i="0" dirty="0">
                <a:effectLst/>
                <a:latin typeface="Lato" panose="020F0502020204030204" pitchFamily="34" charset="0"/>
              </a:rPr>
              <a:t>temporal dead zone (TDZ)</a:t>
            </a:r>
            <a:r>
              <a:rPr lang="en-US" b="0" i="0" dirty="0">
                <a:effectLst/>
                <a:latin typeface="Lato" panose="020F0502020204030204" pitchFamily="34" charset="0"/>
              </a:rPr>
              <a:t> is the area of a block where a variable is inaccessible until the moment the computer completely initializes it with a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80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AD3B-3257-E9E5-E31B-315FEA9F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7432"/>
          </a:xfrm>
        </p:spPr>
        <p:txBody>
          <a:bodyPr/>
          <a:lstStyle/>
          <a:p>
            <a:r>
              <a:rPr lang="en-US" dirty="0"/>
              <a:t>Datatypes in 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EB0E-7C1F-73AC-D306-72A632FEF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5890"/>
            <a:ext cx="8946541" cy="4999392"/>
          </a:xfrm>
        </p:spPr>
        <p:txBody>
          <a:bodyPr>
            <a:normAutofit fontScale="62500" lnSpcReduction="20000"/>
          </a:bodyPr>
          <a:lstStyle/>
          <a:p>
            <a:r>
              <a:rPr lang="en-US" sz="3400" dirty="0"/>
              <a:t>Datatype defines the type of data to be stored in a particular memory allocation</a:t>
            </a:r>
          </a:p>
          <a:p>
            <a:pPr marL="0" indent="0" algn="l">
              <a:buNone/>
            </a:pPr>
            <a:r>
              <a:rPr lang="en-US" sz="4000" b="1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  <a:t>JavaScript has 8 Datatypes(primitive)</a:t>
            </a:r>
          </a:p>
          <a:p>
            <a:pPr marL="400050" lvl="1" indent="0">
              <a:buNone/>
            </a:pPr>
            <a: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1. String</a:t>
            </a:r>
            <a:b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</a:br>
            <a: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2. Number</a:t>
            </a:r>
            <a:b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</a:br>
            <a: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3. Bigint</a:t>
            </a:r>
            <a:b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</a:br>
            <a: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4. Boolean</a:t>
            </a:r>
            <a:b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</a:br>
            <a: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5. Undefined</a:t>
            </a:r>
            <a:b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</a:br>
            <a: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6. Null</a:t>
            </a:r>
            <a:b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</a:br>
            <a: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7. Symbol</a:t>
            </a:r>
            <a:br>
              <a:rPr lang="en-US" sz="29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</a:br>
            <a:endParaRPr lang="en-US" sz="2900" b="0" i="0" dirty="0"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r>
              <a:rPr lang="en-IN" sz="2600" b="1" dirty="0"/>
              <a:t>Non primitive </a:t>
            </a:r>
          </a:p>
          <a:p>
            <a:pPr marL="457200" lvl="1" indent="0">
              <a:buNone/>
            </a:pPr>
            <a:r>
              <a:rPr lang="en-US" sz="2600" dirty="0">
                <a:solidFill>
                  <a:srgbClr val="DDDDDD"/>
                </a:solidFill>
                <a:latin typeface="Verdana" panose="020B0604030504040204" pitchFamily="34" charset="0"/>
              </a:rPr>
              <a:t>A function</a:t>
            </a:r>
          </a:p>
          <a:p>
            <a:pPr marL="457200" lvl="1" indent="0">
              <a:buNone/>
            </a:pPr>
            <a:r>
              <a:rPr lang="en-US" sz="26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An object</a:t>
            </a:r>
          </a:p>
          <a:p>
            <a:pPr marL="457200" lvl="1" indent="0">
              <a:buNone/>
            </a:pPr>
            <a:r>
              <a:rPr lang="en-US" sz="26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An array</a:t>
            </a:r>
            <a:endParaRPr lang="en-IN" sz="2600" b="1" dirty="0"/>
          </a:p>
          <a:p>
            <a:pPr marL="457200" lvl="1" indent="0">
              <a:buNone/>
            </a:pPr>
            <a:endParaRPr lang="en-US" sz="1700" b="0" i="0" dirty="0"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457200" lvl="1" indent="0">
              <a:buNone/>
            </a:pPr>
            <a:br>
              <a:rPr lang="en-US" sz="1700" dirty="0"/>
            </a:br>
            <a:br>
              <a:rPr lang="en-US" sz="1700" dirty="0"/>
            </a:br>
            <a:endParaRPr lang="en-IN" sz="1700" b="1" dirty="0"/>
          </a:p>
        </p:txBody>
      </p:sp>
    </p:spTree>
    <p:extLst>
      <p:ext uri="{BB962C8B-B14F-4D97-AF65-F5344CB8AC3E}">
        <p14:creationId xmlns:p14="http://schemas.microsoft.com/office/powerpoint/2010/main" val="95170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17C5-0766-8D62-1034-CA308CABC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Datatypes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9478E-0B53-0843-92DE-BB4FD8485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83080"/>
            <a:ext cx="8946541" cy="4465319"/>
          </a:xfrm>
        </p:spPr>
        <p:txBody>
          <a:bodyPr/>
          <a:lstStyle/>
          <a:p>
            <a:r>
              <a:rPr lang="en-US" dirty="0"/>
              <a:t>String : We can declare the string in js in 3 ways</a:t>
            </a:r>
          </a:p>
          <a:p>
            <a:pPr lvl="1"/>
            <a:r>
              <a:rPr lang="en-US" dirty="0"/>
              <a:t>Example : ‘hello’ ,”hello” ,`Hello everyone`</a:t>
            </a:r>
          </a:p>
          <a:p>
            <a:r>
              <a:rPr lang="en-US" dirty="0"/>
              <a:t>Number : Integer and floating point numbers</a:t>
            </a:r>
          </a:p>
          <a:p>
            <a:r>
              <a:rPr lang="en-US" dirty="0"/>
              <a:t>Boolean : True or false</a:t>
            </a:r>
          </a:p>
          <a:p>
            <a:r>
              <a:rPr lang="en-US" dirty="0"/>
              <a:t>Bigint : large amount of data</a:t>
            </a:r>
          </a:p>
          <a:p>
            <a:r>
              <a:rPr lang="en-US" dirty="0"/>
              <a:t>Undefined : It represents the value of an uninitialized values</a:t>
            </a:r>
          </a:p>
          <a:p>
            <a:r>
              <a:rPr lang="en-US" dirty="0"/>
              <a:t>Null : It is empty variable and for future use</a:t>
            </a:r>
          </a:p>
          <a:p>
            <a:r>
              <a:rPr lang="en-US" dirty="0"/>
              <a:t>Symbol : It will create function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46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AE1D-0BD3-F57E-73E5-808B3319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87462"/>
          </a:xfrm>
        </p:spPr>
        <p:txBody>
          <a:bodyPr/>
          <a:lstStyle/>
          <a:p>
            <a:r>
              <a:rPr lang="en-US" dirty="0"/>
              <a:t>Operators in 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E55BA-6B61-A5B2-9F8E-8E295A7CC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002" y="1600200"/>
            <a:ext cx="8946541" cy="4671059"/>
          </a:xfrm>
        </p:spPr>
        <p:txBody>
          <a:bodyPr/>
          <a:lstStyle/>
          <a:p>
            <a:r>
              <a:rPr lang="en-US" dirty="0"/>
              <a:t>Predefined symbols used to perform particular task</a:t>
            </a:r>
          </a:p>
          <a:p>
            <a:r>
              <a:rPr lang="en-US" dirty="0"/>
              <a:t>Types of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Arithmetic Operators : +,-,*,/,%,++,--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Assignment Operators : +=,-=,*=,/=,%=,=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Comparison Operators : &gt;,&lt;, !=,&gt;=,&lt;=,==,===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Logical Operators : &amp;&amp; , || , 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Ternary Operators : ( condition ) ? True stmt : false stmt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235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8131-801F-7936-A30F-705BEF03D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3162"/>
          </a:xfrm>
        </p:spPr>
        <p:txBody>
          <a:bodyPr/>
          <a:lstStyle/>
          <a:p>
            <a:r>
              <a:rPr lang="en-US" dirty="0"/>
              <a:t>Conditional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65A42-F315-8C99-C549-0268F93B5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8770"/>
            <a:ext cx="8946541" cy="465962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Conditional statements are used to perform different actions based on different conditions.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to specify a block of code to be executed, if a specified condition is true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to specify a block of code to be executed, if the same condition is false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else 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to specify a new condition to test, if the first condition is false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to specify many alternative blocks of code to be executed</a:t>
            </a:r>
          </a:p>
          <a:p>
            <a:endParaRPr lang="en-US" b="0" i="0" dirty="0"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58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1C632-AE8A-F205-CFE9-8E314274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7472"/>
          </a:xfrm>
        </p:spPr>
        <p:txBody>
          <a:bodyPr/>
          <a:lstStyle/>
          <a:p>
            <a:r>
              <a:rPr lang="en-US" dirty="0"/>
              <a:t>Loops in 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89D78-17BA-22BB-6966-241C7557A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Loops can execute a block of code a number of times</a:t>
            </a:r>
          </a:p>
          <a:p>
            <a:pPr marL="0" indent="0">
              <a:buNone/>
            </a:pPr>
            <a:endParaRPr lang="en-US" b="0" i="0" dirty="0"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1" i="0" u="none" strike="noStrike" dirty="0">
                <a:solidFill>
                  <a:srgbClr val="008000"/>
                </a:solidFill>
                <a:effectLst/>
                <a:latin typeface="Verdana" panose="020B0604030504040204" pitchFamily="34" charset="0"/>
                <a:hlinkClick r:id="rId2"/>
              </a:rPr>
              <a:t>while loop</a:t>
            </a:r>
            <a:r>
              <a:rPr lang="en-US" b="1" i="0" u="none" strike="noStrike" dirty="0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 : </a:t>
            </a:r>
            <a:r>
              <a:rPr lang="en-US" b="0" i="0" dirty="0">
                <a:effectLst/>
                <a:latin typeface="Verdana" panose="020B0604030504040204" pitchFamily="34" charset="0"/>
              </a:rPr>
              <a:t>Repeats a statement or group of statements while a given condition is true. It tests the condition before executing the loop body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1" i="0" u="none" strike="noStrike" dirty="0">
                <a:solidFill>
                  <a:srgbClr val="008000"/>
                </a:solidFill>
                <a:effectLst/>
                <a:latin typeface="Verdana" panose="020B0604030504040204" pitchFamily="34" charset="0"/>
                <a:hlinkClick r:id="rId2"/>
              </a:rPr>
              <a:t>Do while loop</a:t>
            </a:r>
            <a:r>
              <a:rPr lang="en-US" b="1" i="0" u="none" strike="noStrike" dirty="0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: </a:t>
            </a:r>
            <a:r>
              <a:rPr lang="en-US" b="0" i="0" dirty="0">
                <a:effectLst/>
                <a:latin typeface="Verdana" panose="020B0604030504040204" pitchFamily="34" charset="0"/>
              </a:rPr>
              <a:t>It is more like a while statement, except that it tests the condition at the end of the loop body.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b="1" i="0" u="none" strike="noStrike" dirty="0">
                <a:solidFill>
                  <a:srgbClr val="008000"/>
                </a:solidFill>
                <a:effectLst/>
                <a:latin typeface="Verdana" panose="020B0604030504040204" pitchFamily="34" charset="0"/>
                <a:hlinkClick r:id="rId2"/>
              </a:rPr>
              <a:t>For loop</a:t>
            </a:r>
            <a:r>
              <a:rPr lang="en-US" b="1" i="0" u="none" strike="noStrike" dirty="0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 : </a:t>
            </a:r>
            <a:r>
              <a:rPr lang="en-US" b="0" i="0" dirty="0">
                <a:effectLst/>
                <a:latin typeface="Verdana" panose="020B0604030504040204" pitchFamily="34" charset="0"/>
              </a:rPr>
              <a:t>Executes a sequence of statements multiple times and abbreviates the code that manages the loop variable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268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5A66-CC8A-FBBD-B50D-04D5CD9A0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6022"/>
          </a:xfrm>
        </p:spPr>
        <p:txBody>
          <a:bodyPr/>
          <a:lstStyle/>
          <a:p>
            <a:r>
              <a:rPr lang="en-US" dirty="0"/>
              <a:t>Functions In 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46152-47D5-207C-5E2B-B39A1D0A0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4490"/>
            <a:ext cx="8946541" cy="461390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 JavaScript function is a block of code designed to perform a particular task.</a:t>
            </a:r>
          </a:p>
          <a:p>
            <a:pPr algn="l"/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 JavaScript function is executed when "something" invokes it (calls it).</a:t>
            </a:r>
          </a:p>
          <a:p>
            <a:pPr algn="l"/>
            <a:r>
              <a:rPr lang="en-US" b="0" i="0" dirty="0">
                <a:effectLst/>
                <a:latin typeface="Verdana" panose="020B0604030504040204" pitchFamily="34" charset="0"/>
              </a:rPr>
              <a:t>With functions you can reuse code</a:t>
            </a:r>
          </a:p>
          <a:p>
            <a:pPr algn="l"/>
            <a:r>
              <a:rPr lang="en-US" b="0" i="0" dirty="0">
                <a:effectLst/>
                <a:latin typeface="Verdana" panose="020B0604030504040204" pitchFamily="34" charset="0"/>
              </a:rPr>
              <a:t>You can write code that can be used many times.</a:t>
            </a:r>
          </a:p>
          <a:p>
            <a:pPr algn="l"/>
            <a:r>
              <a:rPr lang="en-US" b="0" i="0" dirty="0">
                <a:effectLst/>
                <a:latin typeface="Verdana" panose="020B0604030504040204" pitchFamily="34" charset="0"/>
              </a:rPr>
              <a:t>You can use the same code with different arguments, to produce different results.</a:t>
            </a:r>
            <a:endParaRPr lang="en-US" b="0" i="0" dirty="0"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endParaRPr lang="en-IN" dirty="0"/>
          </a:p>
          <a:p>
            <a:r>
              <a:rPr lang="en-IN" b="1" u="sng" dirty="0"/>
              <a:t>Syntax : </a:t>
            </a:r>
          </a:p>
          <a:p>
            <a:pPr lvl="1"/>
            <a:r>
              <a:rPr lang="en-US" sz="2800" b="0" i="0" dirty="0">
                <a:effectLst/>
                <a:latin typeface="Consolas" panose="020B0609020204030204" pitchFamily="49" charset="0"/>
              </a:rPr>
              <a:t>function myFunction(p1, p2) {</a:t>
            </a:r>
            <a:br>
              <a:rPr lang="en-US" sz="2800" dirty="0"/>
            </a:br>
            <a:r>
              <a:rPr lang="en-US" sz="2800" b="0" i="0" dirty="0">
                <a:effectLst/>
                <a:latin typeface="Consolas" panose="020B0609020204030204" pitchFamily="49" charset="0"/>
              </a:rPr>
              <a:t>  return p1 * p2;</a:t>
            </a:r>
            <a:br>
              <a:rPr lang="en-US" sz="2800" dirty="0"/>
            </a:br>
            <a:r>
              <a:rPr lang="en-US" sz="2800" b="0" i="0" dirty="0">
                <a:effectLst/>
                <a:latin typeface="Consolas" panose="020B0609020204030204" pitchFamily="49" charset="0"/>
              </a:rPr>
              <a:t>}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01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183E-72E4-76D2-9C6A-322AB3C9B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  <a:t>JavaScript Function Syntax</a:t>
            </a:r>
            <a:br>
              <a:rPr lang="en-IN" b="0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58356-4908-5F04-33C4-B208F8078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 JavaScript function is defined with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keyword, followed by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, followed by parentheses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Function names can contain letters, digits, underscores, and dollar signs (same rules as variables).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The parentheses may include parameter names separated by commas: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(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parameter1, parameter2, ...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The code to be executed, by the function, is placed inside curly brackets: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{}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2799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2C8D8-E67A-DF5E-EF27-6EA0977B4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36052"/>
          </a:xfrm>
        </p:spPr>
        <p:txBody>
          <a:bodyPr/>
          <a:lstStyle/>
          <a:p>
            <a:r>
              <a:rPr lang="en-US" dirty="0"/>
              <a:t>Types of Functions in 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31B6-423E-12C3-5629-E99A7F7E1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Anonymous 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Named 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Function with expression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Nested function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Immediate invoking 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Arrow 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Higher order 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Callback 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Generator function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676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B1D6-14CD-5C8B-34AF-A87F14F5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1.Anonymous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6A93-CF23-6F61-EDD4-1EFB4D60F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without name is known as Anonymous function</a:t>
            </a:r>
          </a:p>
          <a:p>
            <a:endParaRPr lang="en-US" dirty="0"/>
          </a:p>
          <a:p>
            <a:r>
              <a:rPr lang="en-US" dirty="0"/>
              <a:t>Syntax :</a:t>
            </a:r>
          </a:p>
          <a:p>
            <a:pPr lvl="1"/>
            <a:r>
              <a:rPr lang="en-IN" sz="2400" b="0" i="0" dirty="0">
                <a:effectLst/>
                <a:latin typeface="Menlo"/>
              </a:rPr>
              <a:t>function(parameters) {</a:t>
            </a:r>
          </a:p>
          <a:p>
            <a:pPr marL="457200" lvl="1" indent="0">
              <a:buNone/>
            </a:pPr>
            <a:r>
              <a:rPr lang="en-IN" sz="2400" dirty="0">
                <a:latin typeface="Menlo"/>
              </a:rPr>
              <a:t>							</a:t>
            </a:r>
            <a:r>
              <a:rPr lang="en-IN" sz="2400" b="0" i="0" dirty="0">
                <a:effectLst/>
                <a:latin typeface="Menlo"/>
              </a:rPr>
              <a:t> // function body </a:t>
            </a:r>
          </a:p>
          <a:p>
            <a:pPr marL="457200" lvl="1" indent="0">
              <a:buNone/>
            </a:pPr>
            <a:r>
              <a:rPr lang="en-IN" sz="2400" dirty="0">
                <a:latin typeface="Menlo"/>
              </a:rPr>
              <a:t>						</a:t>
            </a:r>
            <a:r>
              <a:rPr lang="en-IN" sz="2400" b="0" i="0" dirty="0">
                <a:effectLst/>
                <a:latin typeface="Menlo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81713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3499-7EC1-B729-4505-0A725C4A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Named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25CC9-7B2B-EF30-FBB2-25C3269B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with name is called as named function</a:t>
            </a:r>
          </a:p>
          <a:p>
            <a:endParaRPr lang="en-US" dirty="0"/>
          </a:p>
          <a:p>
            <a:r>
              <a:rPr lang="en-US" dirty="0"/>
              <a:t>Syntax  :</a:t>
            </a:r>
          </a:p>
          <a:p>
            <a:r>
              <a:rPr lang="en-US" sz="2800" b="0" i="0" dirty="0">
                <a:effectLst/>
                <a:latin typeface="Menlo"/>
              </a:rPr>
              <a:t>function functionName(parameters) {</a:t>
            </a:r>
          </a:p>
          <a:p>
            <a:pPr marL="457200" lvl="1" indent="0">
              <a:buNone/>
            </a:pPr>
            <a:r>
              <a:rPr lang="en-US" sz="2800" dirty="0">
                <a:latin typeface="Menlo"/>
              </a:rPr>
              <a:t>										</a:t>
            </a:r>
            <a:r>
              <a:rPr lang="en-US" sz="2800" b="0" i="0" dirty="0">
                <a:effectLst/>
                <a:latin typeface="Menlo"/>
              </a:rPr>
              <a:t> // function body</a:t>
            </a:r>
          </a:p>
          <a:p>
            <a:pPr marL="457200" lvl="1" indent="0">
              <a:buNone/>
            </a:pPr>
            <a:r>
              <a:rPr lang="en-US" sz="2800" dirty="0">
                <a:latin typeface="Menlo"/>
              </a:rPr>
              <a:t>											</a:t>
            </a:r>
            <a:r>
              <a:rPr lang="en-US" sz="2800" b="0" i="0" dirty="0">
                <a:effectLst/>
                <a:latin typeface="Menlo"/>
              </a:rPr>
              <a:t>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568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8E6D-A648-7169-29E1-90F785DF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. Function with expression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2A0AC-7F99-47BD-DED4-1838CBEC9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the way to execute the anonymous function</a:t>
            </a:r>
          </a:p>
          <a:p>
            <a:r>
              <a:rPr lang="en-US" dirty="0"/>
              <a:t>Passing whole anonymous function as a value to a variable is known as </a:t>
            </a:r>
            <a:r>
              <a:rPr lang="en-US" b="1" dirty="0"/>
              <a:t>function with expression.</a:t>
            </a:r>
          </a:p>
          <a:p>
            <a:r>
              <a:rPr lang="en-US" dirty="0"/>
              <a:t>The function which is passed as a value is known as </a:t>
            </a:r>
            <a:r>
              <a:rPr lang="en-US" b="1" dirty="0"/>
              <a:t>first class function</a:t>
            </a:r>
          </a:p>
          <a:p>
            <a:pPr marL="800100" lvl="2" indent="0">
              <a:buNone/>
            </a:pPr>
            <a:r>
              <a:rPr lang="en-US" sz="2000" b="1" dirty="0"/>
              <a:t>EX </a:t>
            </a:r>
            <a:r>
              <a:rPr lang="en-US" sz="2800" b="1" dirty="0"/>
              <a:t>: </a:t>
            </a:r>
            <a:r>
              <a:rPr lang="en-US" sz="2800" dirty="0"/>
              <a:t>let x=function(){</a:t>
            </a:r>
          </a:p>
          <a:p>
            <a:pPr marL="800100" lvl="2" indent="0">
              <a:buNone/>
            </a:pPr>
            <a:r>
              <a:rPr lang="en-US" sz="2800" dirty="0"/>
              <a:t>//block of code</a:t>
            </a:r>
          </a:p>
          <a:p>
            <a:pPr marL="800100" lvl="2" indent="0">
              <a:buNone/>
            </a:pPr>
            <a:r>
              <a:rPr lang="en-US" sz="2800" dirty="0"/>
              <a:t>}</a:t>
            </a:r>
          </a:p>
          <a:p>
            <a:pPr marL="800100" lvl="2" indent="0">
              <a:buNone/>
            </a:pPr>
            <a:r>
              <a:rPr lang="en-US" sz="2800" dirty="0"/>
              <a:t>x();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68861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822E-F771-5D80-11CB-761F5070C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9CA95-CDAB-6246-92A2-4ED5DA80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31620"/>
            <a:ext cx="8946541" cy="4716779"/>
          </a:xfrm>
        </p:spPr>
        <p:txBody>
          <a:bodyPr>
            <a:normAutofit fontScale="92500"/>
          </a:bodyPr>
          <a:lstStyle/>
          <a:p>
            <a:r>
              <a:rPr lang="en-US" dirty="0"/>
              <a:t>A function which is declared inside another function is known as nested function.</a:t>
            </a:r>
          </a:p>
          <a:p>
            <a:r>
              <a:rPr lang="en-US" dirty="0"/>
              <a:t>Nested functions are unidirectional i.e., We can access parent function properties in child function but vice-versa is not possible.</a:t>
            </a:r>
          </a:p>
          <a:p>
            <a:r>
              <a:rPr lang="en-US" dirty="0"/>
              <a:t>The ability of js engine to search a variable in the outer scope when it is not available in the local scope is known </a:t>
            </a:r>
            <a:r>
              <a:rPr lang="en-US" b="1" dirty="0"/>
              <a:t>as lexical scoping or scope chaining.</a:t>
            </a:r>
          </a:p>
          <a:p>
            <a:r>
              <a:rPr lang="en-US" dirty="0"/>
              <a:t>Whenever the child function needs a property from parent function the </a:t>
            </a:r>
            <a:r>
              <a:rPr lang="en-US" b="1" dirty="0"/>
              <a:t>closure</a:t>
            </a:r>
            <a:r>
              <a:rPr lang="en-US" dirty="0"/>
              <a:t> will be formed and it consists of only required properties.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A closure is a feature of JavaScript that allows inner functions to access the outer scope of a function. Closure helps in binding a function to its outer boundary and is created automatically whenever a function is created. A block is also treated as a scope since ES6. Since JavaScript is event-driven so closures are useful as it helps to maintain the state between events.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936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909C-B005-923C-9DFA-3C3076EA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1B8BC-5B67-1A62-A6A9-34A5F8A2B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20190"/>
            <a:ext cx="8946541" cy="47282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Function parent(){</a:t>
            </a:r>
          </a:p>
          <a:p>
            <a:pPr marL="0" indent="0">
              <a:buNone/>
            </a:pPr>
            <a:r>
              <a:rPr lang="en-US" dirty="0"/>
              <a:t>	let a=10;</a:t>
            </a:r>
          </a:p>
          <a:p>
            <a:pPr marL="0" indent="0">
              <a:buNone/>
            </a:pPr>
            <a:r>
              <a:rPr lang="en-US" dirty="0"/>
              <a:t>	function child(){</a:t>
            </a:r>
          </a:p>
          <a:p>
            <a:pPr marL="0" indent="0">
              <a:buNone/>
            </a:pPr>
            <a:r>
              <a:rPr lang="en-US" dirty="0"/>
              <a:t>	let b=20;</a:t>
            </a:r>
          </a:p>
          <a:p>
            <a:pPr marL="0" indent="0">
              <a:buNone/>
            </a:pPr>
            <a:r>
              <a:rPr lang="en-US" dirty="0"/>
              <a:t>	console.log(a+b);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Child();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Parent();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59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9B6A8-98C5-9588-9B22-DAF4E631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currying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8CB2C-15B1-ACA9-36B8-93C30805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7340"/>
            <a:ext cx="8946541" cy="467105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Calling a child function along with parent by using one more parenthesis is known as java script currying</a:t>
            </a:r>
          </a:p>
          <a:p>
            <a:r>
              <a:rPr lang="en-US" dirty="0"/>
              <a:t>Example:</a:t>
            </a:r>
          </a:p>
          <a:p>
            <a:pPr marL="400050" lvl="1" indent="0">
              <a:buNone/>
            </a:pPr>
            <a:r>
              <a:rPr lang="en-US" sz="2000" dirty="0"/>
              <a:t>Function parent(){</a:t>
            </a:r>
          </a:p>
          <a:p>
            <a:pPr marL="400050" lvl="1" indent="0">
              <a:buNone/>
            </a:pPr>
            <a:r>
              <a:rPr lang="en-US" sz="2000" dirty="0"/>
              <a:t>	let a=10;</a:t>
            </a:r>
          </a:p>
          <a:p>
            <a:pPr marL="400050" lvl="1" indent="0">
              <a:buNone/>
            </a:pPr>
            <a:r>
              <a:rPr lang="en-US" sz="2000" dirty="0"/>
              <a:t>	function child(){</a:t>
            </a:r>
          </a:p>
          <a:p>
            <a:pPr marL="400050" lvl="1" indent="0">
              <a:buNone/>
            </a:pPr>
            <a:r>
              <a:rPr lang="en-US" sz="2000" dirty="0"/>
              <a:t>	let b=20;</a:t>
            </a:r>
          </a:p>
          <a:p>
            <a:pPr marL="400050" lvl="1" indent="0">
              <a:buNone/>
            </a:pPr>
            <a:r>
              <a:rPr lang="en-US" sz="2000" dirty="0"/>
              <a:t>	console.log(a+b);</a:t>
            </a:r>
          </a:p>
          <a:p>
            <a:pPr marL="400050" lvl="1" indent="0">
              <a:buNone/>
            </a:pPr>
            <a:r>
              <a:rPr lang="en-US" sz="2000" dirty="0"/>
              <a:t>}</a:t>
            </a:r>
          </a:p>
          <a:p>
            <a:pPr marL="400050" lvl="1" indent="0">
              <a:buNone/>
            </a:pPr>
            <a:r>
              <a:rPr lang="en-US" sz="2000" dirty="0"/>
              <a:t>return child;</a:t>
            </a:r>
          </a:p>
          <a:p>
            <a:pPr marL="400050" lvl="1" indent="0">
              <a:buNone/>
            </a:pPr>
            <a:r>
              <a:rPr lang="en-US" sz="2000" dirty="0"/>
              <a:t>}</a:t>
            </a:r>
          </a:p>
          <a:p>
            <a:pPr marL="400050" lvl="1" indent="0">
              <a:buNone/>
            </a:pPr>
            <a:r>
              <a:rPr lang="en-US" sz="2000" dirty="0"/>
              <a:t>parent()();     ==</a:t>
            </a:r>
            <a:r>
              <a:rPr lang="en-US" sz="2000" dirty="0">
                <a:sym typeface="Wingdings" panose="05000000000000000000" pitchFamily="2" charset="2"/>
              </a:rPr>
              <a:t>JavaScript currying</a:t>
            </a: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25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88BA-0288-92FF-565C-46D12C2B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Immediate invoking function(IIF)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D7798-F69A-A70A-2041-EECD00F92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which is called immediately as soon as the function declaration is known as IIF</a:t>
            </a:r>
          </a:p>
          <a:p>
            <a:r>
              <a:rPr lang="en-US" dirty="0"/>
              <a:t>We can invoke anonymous function by using IIF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sz="3200" dirty="0"/>
              <a:t>(function(){</a:t>
            </a:r>
          </a:p>
          <a:p>
            <a:pPr marL="0" indent="0">
              <a:buNone/>
            </a:pPr>
            <a:r>
              <a:rPr lang="en-US" sz="3200" dirty="0"/>
              <a:t>				console.log(“Hello”);</a:t>
            </a:r>
          </a:p>
          <a:p>
            <a:pPr marL="0" indent="0">
              <a:buNone/>
            </a:pPr>
            <a:r>
              <a:rPr lang="en-US" sz="3200" dirty="0"/>
              <a:t>				})</a:t>
            </a:r>
            <a:r>
              <a:rPr lang="en-US" sz="3200" b="1" dirty="0"/>
              <a:t>()</a:t>
            </a:r>
            <a:r>
              <a:rPr lang="en-US" sz="3200" dirty="0"/>
              <a:t>;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45142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AD35-BBD9-B128-5BC4-09358096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Arrow function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C9CEE-2BF0-3766-4897-53C2CB174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was introduced in ES6 version of JS.</a:t>
            </a:r>
          </a:p>
          <a:p>
            <a:r>
              <a:rPr lang="en-US" dirty="0"/>
              <a:t>The main purpose of using arrow function is to reduce the syntax.</a:t>
            </a:r>
          </a:p>
          <a:p>
            <a:r>
              <a:rPr lang="en-US" dirty="0"/>
              <a:t>If function has only one statement then block is optional.</a:t>
            </a:r>
          </a:p>
          <a:p>
            <a:r>
              <a:rPr lang="en-US" dirty="0"/>
              <a:t>It is mandatory to use block if function consists of multiple lines of code or if we use return keyword in function.</a:t>
            </a:r>
          </a:p>
          <a:p>
            <a:r>
              <a:rPr lang="en-US" dirty="0"/>
              <a:t>Example:</a:t>
            </a:r>
          </a:p>
          <a:p>
            <a:pPr marL="400050" lvl="1" indent="0">
              <a:buNone/>
            </a:pPr>
            <a:r>
              <a:rPr lang="en-US" sz="2400" dirty="0"/>
              <a:t>Let x=(a,b)=&gt;console.log(a+b);</a:t>
            </a:r>
          </a:p>
          <a:p>
            <a:pPr marL="400050" lvl="1" indent="0">
              <a:buNone/>
            </a:pPr>
            <a:r>
              <a:rPr lang="en-IN" sz="2400" dirty="0"/>
              <a:t>Let y=(a,b)=&gt;{return a + b };</a:t>
            </a:r>
          </a:p>
        </p:txBody>
      </p:sp>
    </p:spTree>
    <p:extLst>
      <p:ext uri="{BB962C8B-B14F-4D97-AF65-F5344CB8AC3E}">
        <p14:creationId xmlns:p14="http://schemas.microsoft.com/office/powerpoint/2010/main" val="453875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EB436-DFE5-F9A8-388A-AD930FFD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8740"/>
            <a:ext cx="9404723" cy="781722"/>
          </a:xfrm>
        </p:spPr>
        <p:txBody>
          <a:bodyPr/>
          <a:lstStyle/>
          <a:p>
            <a:r>
              <a:rPr lang="en-IN" dirty="0"/>
              <a:t>Higher order function(HOF)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761EB-8862-60DE-E82F-C985C3162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131570"/>
            <a:ext cx="9404723" cy="51168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function which accepts a function as a parameter is known as HOF</a:t>
            </a:r>
          </a:p>
          <a:p>
            <a:r>
              <a:rPr lang="en-US" dirty="0"/>
              <a:t>It is used to perform multiple operations with different values.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Function hof(a , b , task ){</a:t>
            </a:r>
          </a:p>
          <a:p>
            <a:pPr marL="457200" lvl="1" indent="0">
              <a:buNone/>
            </a:pPr>
            <a:r>
              <a:rPr lang="en-US" dirty="0"/>
              <a:t>Let res=task(a,b);</a:t>
            </a:r>
          </a:p>
          <a:p>
            <a:pPr marL="457200" lvl="1" indent="0">
              <a:buNone/>
            </a:pPr>
            <a:r>
              <a:rPr lang="en-US" dirty="0"/>
              <a:t>return res;</a:t>
            </a:r>
          </a:p>
          <a:p>
            <a:pPr marL="457200" lvl="1" indent="0">
              <a:buNone/>
            </a:pPr>
            <a:r>
              <a:rPr lang="en-US" dirty="0"/>
              <a:t>};</a:t>
            </a:r>
          </a:p>
          <a:p>
            <a:pPr marL="457200" lvl="1" indent="0">
              <a:buNone/>
            </a:pPr>
            <a:r>
              <a:rPr lang="en-US" dirty="0"/>
              <a:t>Let add=hof(10,20,function(x , y){</a:t>
            </a:r>
          </a:p>
          <a:p>
            <a:pPr marL="457200" lvl="1" indent="0">
              <a:buNone/>
            </a:pPr>
            <a:r>
              <a:rPr lang="en-US" dirty="0"/>
              <a:t>return x + y;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r>
              <a:rPr lang="en-US" dirty="0"/>
              <a:t>Let mul = hof(10,20,function(x , y){</a:t>
            </a:r>
          </a:p>
          <a:p>
            <a:pPr marL="457200" lvl="1" indent="0">
              <a:buNone/>
            </a:pPr>
            <a:r>
              <a:rPr lang="en-US" dirty="0"/>
              <a:t>return x*y;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r>
              <a:rPr lang="en-US" dirty="0"/>
              <a:t>Console.log(add());</a:t>
            </a:r>
          </a:p>
          <a:p>
            <a:pPr marL="457200" lvl="1" indent="0">
              <a:buNone/>
            </a:pPr>
            <a:r>
              <a:rPr lang="en-US" dirty="0"/>
              <a:t>Console.log(mul());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448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3BA9E-596B-027D-E2B2-4E637D0C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1722"/>
          </a:xfrm>
        </p:spPr>
        <p:txBody>
          <a:bodyPr/>
          <a:lstStyle/>
          <a:p>
            <a:r>
              <a:rPr lang="en-US" dirty="0"/>
              <a:t>Callback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AA436-5AE9-9525-AFF2-EF8486922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71600"/>
            <a:ext cx="10783889" cy="5406390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A function which is passed as an argument to another function is known as callback function.</a:t>
            </a:r>
          </a:p>
          <a:p>
            <a:r>
              <a:rPr lang="en-US" sz="7200" dirty="0"/>
              <a:t>The function is invoked in the outer function to complete an action</a:t>
            </a:r>
          </a:p>
          <a:p>
            <a:r>
              <a:rPr lang="en-US" sz="7200" dirty="0"/>
              <a:t>Example : </a:t>
            </a:r>
          </a:p>
          <a:p>
            <a:pPr marL="457200" lvl="1" indent="0">
              <a:buNone/>
            </a:pPr>
            <a:r>
              <a:rPr lang="en-US" sz="7200" dirty="0"/>
              <a:t>function first(){</a:t>
            </a:r>
          </a:p>
          <a:p>
            <a:pPr marL="457200" lvl="1" indent="0">
              <a:buNone/>
            </a:pPr>
            <a:r>
              <a:rPr lang="en-US" sz="7200" dirty="0"/>
              <a:t>Console.log(“first”);</a:t>
            </a:r>
          </a:p>
          <a:p>
            <a:pPr marL="457200" lvl="1" indent="0">
              <a:buNone/>
            </a:pPr>
            <a:r>
              <a:rPr lang="en-US" sz="7200" dirty="0"/>
              <a:t>}</a:t>
            </a:r>
          </a:p>
          <a:p>
            <a:pPr marL="457200" lvl="1" indent="0">
              <a:buNone/>
            </a:pPr>
            <a:r>
              <a:rPr lang="en-US" sz="7200" dirty="0"/>
              <a:t>function second(){</a:t>
            </a:r>
          </a:p>
          <a:p>
            <a:pPr marL="457200" lvl="1" indent="0">
              <a:buNone/>
            </a:pPr>
            <a:r>
              <a:rPr lang="en-US" sz="7200" dirty="0"/>
              <a:t>Console.log(“third”);</a:t>
            </a:r>
          </a:p>
          <a:p>
            <a:pPr marL="457200" lvl="1" indent="0">
              <a:buNone/>
            </a:pPr>
            <a:r>
              <a:rPr lang="en-US" sz="7200" dirty="0"/>
              <a:t>}</a:t>
            </a:r>
          </a:p>
          <a:p>
            <a:pPr marL="457200" lvl="1" indent="0">
              <a:buNone/>
            </a:pPr>
            <a:r>
              <a:rPr lang="en-US" sz="7200" dirty="0"/>
              <a:t>function third(callback){</a:t>
            </a:r>
          </a:p>
          <a:p>
            <a:pPr marL="457200" lvl="1" indent="0">
              <a:buNone/>
            </a:pPr>
            <a:r>
              <a:rPr lang="en-US" sz="7200" dirty="0"/>
              <a:t>Console.log(“second”);</a:t>
            </a:r>
          </a:p>
          <a:p>
            <a:pPr marL="457200" lvl="1" indent="0">
              <a:buNone/>
            </a:pPr>
            <a:r>
              <a:rPr lang="en-US" sz="7200" dirty="0"/>
              <a:t>Callback()</a:t>
            </a:r>
          </a:p>
          <a:p>
            <a:pPr marL="457200" lvl="1" indent="0">
              <a:buNone/>
            </a:pPr>
            <a:r>
              <a:rPr lang="en-US" sz="7200" dirty="0"/>
              <a:t>}</a:t>
            </a:r>
          </a:p>
          <a:p>
            <a:pPr marL="457200" lvl="1" indent="0">
              <a:buNone/>
            </a:pPr>
            <a:r>
              <a:rPr lang="en-US" sz="7200" dirty="0"/>
              <a:t>first();</a:t>
            </a:r>
          </a:p>
          <a:p>
            <a:pPr marL="457200" lvl="1" indent="0">
              <a:buNone/>
            </a:pPr>
            <a:r>
              <a:rPr lang="en-US" sz="7200" dirty="0"/>
              <a:t>third(second);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8415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DA8A-F67E-BB34-1D15-0C392500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10" y="155538"/>
            <a:ext cx="9404723" cy="850302"/>
          </a:xfrm>
        </p:spPr>
        <p:txBody>
          <a:bodyPr/>
          <a:lstStyle/>
          <a:p>
            <a:r>
              <a:rPr lang="en-IN" u="sng" dirty="0"/>
              <a:t>Generator function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912CA-8D5D-C781-42B2-D818E28B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845820"/>
            <a:ext cx="10675620" cy="6183630"/>
          </a:xfrm>
        </p:spPr>
        <p:txBody>
          <a:bodyPr>
            <a:normAutofit lnSpcReduction="10000"/>
          </a:bodyPr>
          <a:lstStyle/>
          <a:p>
            <a:r>
              <a:rPr lang="en-US" sz="2400" b="0" i="0" dirty="0">
                <a:effectLst/>
                <a:latin typeface="Nunito" pitchFamily="2" charset="0"/>
              </a:rPr>
              <a:t>A generator-function is defined like a normal function, but whenever it needs to generate a value, it does so with the yield keyword rather than return. </a:t>
            </a:r>
          </a:p>
          <a:p>
            <a:r>
              <a:rPr lang="en-IN" sz="2400" dirty="0"/>
              <a:t>Example:</a:t>
            </a:r>
          </a:p>
          <a:p>
            <a:pPr marL="457200" lvl="1" indent="0">
              <a:buNone/>
            </a:pPr>
            <a:r>
              <a:rPr lang="en-IN" sz="2200" dirty="0"/>
              <a:t>Function* gen(){</a:t>
            </a:r>
          </a:p>
          <a:p>
            <a:pPr marL="457200" lvl="1" indent="0">
              <a:buNone/>
            </a:pPr>
            <a:r>
              <a:rPr lang="en-IN" sz="2200" dirty="0"/>
              <a:t>Yield 1;</a:t>
            </a:r>
          </a:p>
          <a:p>
            <a:pPr marL="457200" lvl="1" indent="0">
              <a:buNone/>
            </a:pPr>
            <a:r>
              <a:rPr lang="en-IN" sz="2200" dirty="0"/>
              <a:t>Yield 2;</a:t>
            </a:r>
          </a:p>
          <a:p>
            <a:pPr marL="457200" lvl="1" indent="0">
              <a:buNone/>
            </a:pPr>
            <a:r>
              <a:rPr lang="en-IN" sz="2200" dirty="0"/>
              <a:t>…….</a:t>
            </a:r>
          </a:p>
          <a:p>
            <a:pPr marL="457200" lvl="1" indent="0">
              <a:buNone/>
            </a:pPr>
            <a:r>
              <a:rPr lang="en-IN" sz="2200" dirty="0"/>
              <a:t>………</a:t>
            </a:r>
          </a:p>
          <a:p>
            <a:pPr marL="457200" lvl="1" indent="0">
              <a:buNone/>
            </a:pPr>
            <a:r>
              <a:rPr lang="en-IN" sz="2200" dirty="0"/>
              <a:t>}</a:t>
            </a:r>
          </a:p>
          <a:p>
            <a:pPr marL="457200" lvl="1" indent="0">
              <a:buNone/>
            </a:pPr>
            <a:r>
              <a:rPr lang="en-IN" sz="2200" dirty="0"/>
              <a:t>Let res=gen();</a:t>
            </a:r>
          </a:p>
          <a:p>
            <a:pPr marL="457200" lvl="1" indent="0">
              <a:buNone/>
            </a:pPr>
            <a:r>
              <a:rPr lang="en-IN" sz="2200" dirty="0"/>
              <a:t>Console.log(res.next().value);</a:t>
            </a:r>
          </a:p>
          <a:p>
            <a:pPr marL="457200" lvl="1" indent="0">
              <a:buNone/>
            </a:pPr>
            <a:r>
              <a:rPr lang="en-IN" sz="2200" dirty="0"/>
              <a:t>Console.log(res.next().value);</a:t>
            </a:r>
          </a:p>
          <a:p>
            <a:pPr marL="457200" lvl="1" indent="0">
              <a:buNone/>
            </a:pPr>
            <a:r>
              <a:rPr lang="en-IN" sz="2200" dirty="0"/>
              <a:t>Console.log(res.next().value);</a:t>
            </a:r>
          </a:p>
          <a:p>
            <a:pPr marL="457200" lvl="1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150946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1816" y="651383"/>
            <a:ext cx="10622484" cy="3886319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10915">
              <a:lnSpc>
                <a:spcPct val="100000"/>
              </a:lnSpc>
              <a:spcBef>
                <a:spcPts val="844"/>
              </a:spcBef>
            </a:pPr>
            <a:r>
              <a:rPr sz="2000" b="1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JAVASCRIPT</a:t>
            </a:r>
            <a:r>
              <a:rPr sz="2000" b="1" u="sng" spc="4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ARRAYS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spc="-105" dirty="0">
                <a:latin typeface="Times New Roman"/>
                <a:cs typeface="Times New Roman"/>
              </a:rPr>
              <a:t>ARRAYS:-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Array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collection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different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elements.Array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heterogrnous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in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nature.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25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javascript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we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create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array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ways.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695325" lvl="1" indent="-226695">
              <a:lnSpc>
                <a:spcPct val="100000"/>
              </a:lnSpc>
              <a:buAutoNum type="arabicPeriod"/>
              <a:tabLst>
                <a:tab pos="695960" algn="l"/>
              </a:tabLst>
            </a:pPr>
            <a:r>
              <a:rPr sz="2000" spc="-5" dirty="0">
                <a:latin typeface="Calibri"/>
                <a:cs typeface="Calibri"/>
              </a:rPr>
              <a:t>By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array</a:t>
            </a:r>
            <a:r>
              <a:rPr sz="2000" spc="-15" dirty="0">
                <a:latin typeface="Calibri"/>
                <a:cs typeface="Calibri"/>
              </a:rPr>
              <a:t> literal</a:t>
            </a:r>
            <a:endParaRPr sz="2000" dirty="0">
              <a:latin typeface="Calibri"/>
              <a:cs typeface="Calibri"/>
            </a:endParaRPr>
          </a:p>
          <a:p>
            <a:pPr marL="483234" marR="2710815" lvl="1">
              <a:lnSpc>
                <a:spcPct val="100000"/>
              </a:lnSpc>
              <a:spcBef>
                <a:spcPts val="5"/>
              </a:spcBef>
              <a:tabLst>
                <a:tab pos="657860" algn="l"/>
              </a:tabLst>
            </a:pPr>
            <a:r>
              <a:rPr lang="en-US" sz="2000" spc="-5" dirty="0">
                <a:latin typeface="Calibri"/>
                <a:cs typeface="Calibri"/>
              </a:rPr>
              <a:t>2</a:t>
            </a:r>
            <a:r>
              <a:rPr sz="2000" spc="-5" dirty="0">
                <a:latin typeface="Calibri"/>
                <a:cs typeface="Calibri"/>
              </a:rPr>
              <a:t>.By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 </a:t>
            </a:r>
            <a:r>
              <a:rPr sz="2000" spc="-20" dirty="0">
                <a:latin typeface="Calibri"/>
                <a:cs typeface="Calibri"/>
              </a:rPr>
              <a:t>Array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constructor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(using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keyword)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2000" spc="-5" dirty="0">
                <a:latin typeface="Calibri"/>
                <a:cs typeface="Calibri"/>
              </a:rPr>
              <a:t>1)	</a:t>
            </a:r>
            <a:r>
              <a:rPr sz="2000" spc="-10" dirty="0">
                <a:latin typeface="Calibri"/>
                <a:cs typeface="Calibri"/>
              </a:rPr>
              <a:t>JavaScript</a:t>
            </a:r>
            <a:r>
              <a:rPr sz="2000" spc="-20" dirty="0">
                <a:latin typeface="Calibri"/>
                <a:cs typeface="Calibri"/>
              </a:rPr>
              <a:t> array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literal:-</a:t>
            </a:r>
            <a:endParaRPr sz="20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syntax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creating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array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array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literal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is: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arrayname=[value1,value2.....valueN];</a:t>
            </a:r>
            <a:endParaRPr sz="20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As</a:t>
            </a:r>
            <a:r>
              <a:rPr sz="2000" spc="-10" dirty="0">
                <a:latin typeface="Calibri"/>
                <a:cs typeface="Calibri"/>
              </a:rPr>
              <a:t> you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see,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contained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inside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[ ] and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separated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by</a:t>
            </a:r>
            <a:r>
              <a:rPr sz="2000" dirty="0">
                <a:latin typeface="Calibri"/>
                <a:cs typeface="Calibri"/>
              </a:rPr>
              <a:t> 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(comma).</a:t>
            </a:r>
            <a:endParaRPr sz="20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.length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property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returns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length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array.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1816" y="4628641"/>
            <a:ext cx="4313124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Ex:-</a:t>
            </a:r>
            <a:r>
              <a:rPr sz="2000" b="1" spc="-5" dirty="0">
                <a:latin typeface="Calibri"/>
                <a:cs typeface="Calibri"/>
              </a:rPr>
              <a:t>&lt;script&gt;</a:t>
            </a:r>
            <a:endParaRPr sz="2000" dirty="0">
              <a:latin typeface="Calibri"/>
              <a:cs typeface="Calibri"/>
            </a:endParaRPr>
          </a:p>
          <a:p>
            <a:pPr marL="379730" marR="508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var </a:t>
            </a:r>
            <a:r>
              <a:rPr sz="2000" spc="-5" dirty="0">
                <a:latin typeface="Calibri"/>
                <a:cs typeface="Calibri"/>
              </a:rPr>
              <a:t>emp=["Sonoo","Vimal","Ratan"]; </a:t>
            </a:r>
            <a:r>
              <a:rPr sz="2000" spc="-39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(i=0;i</a:t>
            </a:r>
            <a:r>
              <a:rPr sz="2000" b="1" spc="-5" dirty="0">
                <a:latin typeface="Calibri"/>
                <a:cs typeface="Calibri"/>
              </a:rPr>
              <a:t>&lt;emp.length</a:t>
            </a:r>
            <a:r>
              <a:rPr sz="2000" spc="-5" dirty="0">
                <a:latin typeface="Calibri"/>
                <a:cs typeface="Calibri"/>
              </a:rPr>
              <a:t>;i++){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document.write(emp[i]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5" dirty="0">
                <a:latin typeface="Calibri"/>
                <a:cs typeface="Calibri"/>
              </a:rPr>
              <a:t> "</a:t>
            </a:r>
            <a:r>
              <a:rPr sz="2000" b="1" spc="-5" dirty="0">
                <a:latin typeface="Calibri"/>
                <a:cs typeface="Calibri"/>
              </a:rPr>
              <a:t>&lt;br/&gt;</a:t>
            </a:r>
            <a:r>
              <a:rPr sz="2000" spc="-5" dirty="0">
                <a:latin typeface="Calibri"/>
                <a:cs typeface="Calibri"/>
              </a:rPr>
              <a:t>");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&lt;/script&gt;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4085" y="5032121"/>
            <a:ext cx="821055" cy="123373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2000" spc="-5" dirty="0">
                <a:latin typeface="Calibri"/>
                <a:cs typeface="Calibri"/>
              </a:rPr>
              <a:t>Output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Arial MT"/>
                <a:cs typeface="Arial MT"/>
              </a:rPr>
              <a:t>Sonoo 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Vimal 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Ratan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888" y="430022"/>
            <a:ext cx="10038182" cy="616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5" dirty="0">
                <a:latin typeface="Calibri"/>
                <a:cs typeface="Calibri"/>
              </a:rPr>
              <a:t>2)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JavaScript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constructor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(new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keyword):-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Here,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</a:t>
            </a:r>
            <a:r>
              <a:rPr sz="2400" dirty="0">
                <a:latin typeface="Calibri"/>
                <a:cs typeface="Calibri"/>
              </a:rPr>
              <a:t> need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create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instance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passing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arguments in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constructor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don't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have to </a:t>
            </a:r>
            <a:r>
              <a:rPr sz="2400" spc="-3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value </a:t>
            </a:r>
            <a:r>
              <a:rPr sz="2400" spc="-20" dirty="0">
                <a:latin typeface="Calibri"/>
                <a:cs typeface="Calibri"/>
              </a:rPr>
              <a:t>explicitly.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Ex:-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&lt;script&gt;</a:t>
            </a:r>
            <a:endParaRPr sz="2400" dirty="0">
              <a:latin typeface="Calibri"/>
              <a:cs typeface="Calibri"/>
            </a:endParaRPr>
          </a:p>
          <a:p>
            <a:pPr marL="12700" marR="5720715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var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emp=new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Array("Jai","Vijay","Smith"); </a:t>
            </a:r>
            <a:r>
              <a:rPr sz="2400" spc="-39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(i=0;i</a:t>
            </a:r>
            <a:r>
              <a:rPr sz="2400" b="1" spc="-5" dirty="0">
                <a:latin typeface="Calibri"/>
                <a:cs typeface="Calibri"/>
              </a:rPr>
              <a:t>&lt;emp.length</a:t>
            </a:r>
            <a:r>
              <a:rPr sz="2400" spc="-5" dirty="0">
                <a:latin typeface="Calibri"/>
                <a:cs typeface="Calibri"/>
              </a:rPr>
              <a:t>;i++){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document.write(emp[i]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</a:t>
            </a:r>
            <a:r>
              <a:rPr sz="2400" b="1" spc="-5" dirty="0">
                <a:latin typeface="Calibri"/>
                <a:cs typeface="Calibri"/>
              </a:rPr>
              <a:t>&lt;br&gt;</a:t>
            </a:r>
            <a:r>
              <a:rPr sz="2400" spc="-5" dirty="0">
                <a:latin typeface="Calibri"/>
                <a:cs typeface="Calibri"/>
              </a:rPr>
              <a:t>");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&lt;/script&gt;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 dirty="0">
              <a:latin typeface="Calibri"/>
              <a:cs typeface="Calibri"/>
            </a:endParaRPr>
          </a:p>
          <a:p>
            <a:pPr marL="12700" marR="8819515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Output:</a:t>
            </a:r>
            <a:r>
              <a:rPr sz="2400" dirty="0">
                <a:latin typeface="Calibri"/>
                <a:cs typeface="Calibri"/>
              </a:rPr>
              <a:t>-  Jai</a:t>
            </a:r>
          </a:p>
          <a:p>
            <a:pPr marL="12700" marR="9079230">
              <a:lnSpc>
                <a:spcPct val="100000"/>
              </a:lnSpc>
            </a:pPr>
            <a:r>
              <a:rPr sz="2400" spc="-15" dirty="0">
                <a:latin typeface="Calibri"/>
                <a:cs typeface="Calibri"/>
              </a:rPr>
              <a:t>Vijay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Smi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4C62-5860-6324-06A4-67601E8A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16062"/>
          </a:xfrm>
        </p:spPr>
        <p:txBody>
          <a:bodyPr/>
          <a:lstStyle/>
          <a:p>
            <a:r>
              <a:rPr lang="en-US" dirty="0"/>
              <a:t>Java script Array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2A774-0DF3-FD19-D55B-811FC1D9B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85900"/>
            <a:ext cx="8946541" cy="4762499"/>
          </a:xfrm>
        </p:spPr>
        <p:txBody>
          <a:bodyPr>
            <a:normAutofit/>
          </a:bodyPr>
          <a:lstStyle/>
          <a:p>
            <a:r>
              <a:rPr lang="en-US" dirty="0"/>
              <a:t>push</a:t>
            </a:r>
            <a:r>
              <a:rPr lang="en-US" dirty="0">
                <a:sym typeface="Wingdings" panose="05000000000000000000" pitchFamily="2" charset="2"/>
              </a:rPr>
              <a:t>() : It will insert an element of an array at the end</a:t>
            </a:r>
          </a:p>
          <a:p>
            <a:r>
              <a:rPr lang="en-US" dirty="0"/>
              <a:t>unshift</a:t>
            </a:r>
            <a:r>
              <a:rPr lang="en-US" dirty="0">
                <a:sym typeface="Wingdings" panose="05000000000000000000" pitchFamily="2" charset="2"/>
              </a:rPr>
              <a:t>() : It will insert an element of an array at the first</a:t>
            </a:r>
            <a:endParaRPr lang="en-IN" dirty="0"/>
          </a:p>
          <a:p>
            <a:r>
              <a:rPr lang="en-US" dirty="0"/>
              <a:t>pop</a:t>
            </a:r>
            <a:r>
              <a:rPr lang="en-US" dirty="0">
                <a:sym typeface="Wingdings" panose="05000000000000000000" pitchFamily="2" charset="2"/>
              </a:rPr>
              <a:t>() : It will remove elements of array from the end</a:t>
            </a:r>
            <a:endParaRPr lang="en-IN" dirty="0"/>
          </a:p>
          <a:p>
            <a:r>
              <a:rPr lang="en-US" dirty="0"/>
              <a:t>shift</a:t>
            </a:r>
            <a:r>
              <a:rPr lang="en-US" dirty="0">
                <a:sym typeface="Wingdings" panose="05000000000000000000" pitchFamily="2" charset="2"/>
              </a:rPr>
              <a:t>() : It will remove elements of array from the start</a:t>
            </a:r>
          </a:p>
          <a:p>
            <a:r>
              <a:rPr lang="en-IN" dirty="0"/>
              <a:t>indexOf() :It will return a index of particular element</a:t>
            </a:r>
          </a:p>
          <a:p>
            <a:r>
              <a:rPr lang="en-IN" dirty="0"/>
              <a:t>Includes() : It will check whether the particular element is present in array or not.</a:t>
            </a:r>
          </a:p>
          <a:p>
            <a:r>
              <a:rPr lang="en-IN" dirty="0"/>
              <a:t>At() : It will return the element which is present in particular index.</a:t>
            </a:r>
          </a:p>
          <a:p>
            <a:r>
              <a:rPr lang="en-IN" dirty="0"/>
              <a:t>Slice() : It will give slice of an array and it will not affect the original array.</a:t>
            </a:r>
          </a:p>
          <a:p>
            <a:r>
              <a:rPr lang="en-US" dirty="0"/>
              <a:t>Splice() : It is used to </a:t>
            </a:r>
            <a:r>
              <a:rPr lang="en-US" b="0" i="0" dirty="0">
                <a:effectLst/>
              </a:rPr>
              <a:t>add or remove elements from an array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762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D6E3-A2F7-3481-844A-B789D852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script Array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59D2B-E94C-9DB6-3193-39225F42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Join() : It is </a:t>
            </a:r>
            <a:r>
              <a:rPr lang="en-US" b="0" i="0" dirty="0">
                <a:effectLst/>
              </a:rPr>
              <a:t>used to join all elements of an array into a string.</a:t>
            </a:r>
          </a:p>
          <a:p>
            <a:r>
              <a:rPr lang="en-US" dirty="0"/>
              <a:t>Concat() : It is used to join/concat two or more arrays.</a:t>
            </a:r>
          </a:p>
          <a:p>
            <a:r>
              <a:rPr lang="en-US" dirty="0"/>
              <a:t>toString() : </a:t>
            </a:r>
            <a:r>
              <a:rPr lang="en-US" b="0" i="0" dirty="0">
                <a:effectLst/>
              </a:rPr>
              <a:t>It converts all the elements in an array into a single string and returns that string.</a:t>
            </a:r>
          </a:p>
          <a:p>
            <a:r>
              <a:rPr lang="en-US" dirty="0"/>
              <a:t>Split() : It </a:t>
            </a:r>
            <a:r>
              <a:rPr lang="en-US" b="0" i="0" dirty="0">
                <a:effectLst/>
              </a:rPr>
              <a:t>is used to split a string into an array.</a:t>
            </a:r>
          </a:p>
          <a:p>
            <a:r>
              <a:rPr lang="en-US" dirty="0"/>
              <a:t>Reverse() : It is used to reverse an array.</a:t>
            </a:r>
          </a:p>
          <a:p>
            <a:r>
              <a:rPr lang="en-US" dirty="0"/>
              <a:t>Array.from() : It will convert string into an array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6785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28B9-995C-DB11-6E4E-13EA094A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101" y="315558"/>
            <a:ext cx="9404723" cy="804582"/>
          </a:xfrm>
        </p:spPr>
        <p:txBody>
          <a:bodyPr/>
          <a:lstStyle/>
          <a:p>
            <a:r>
              <a:rPr lang="en-US" dirty="0"/>
              <a:t>Filter() , map() , reduce()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9EF6-929F-3436-C300-15010707B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257300"/>
            <a:ext cx="11349990" cy="5143500"/>
          </a:xfrm>
        </p:spPr>
        <p:txBody>
          <a:bodyPr>
            <a:normAutofit/>
          </a:bodyPr>
          <a:lstStyle/>
          <a:p>
            <a:r>
              <a:rPr lang="en-US" b="1" u="sng" dirty="0"/>
              <a:t>Filter() :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Söhne Mono"/>
              </a:rPr>
              <a:t>filter()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method in JavaScript is used to create a new array with all elements that pass a test specified by a provided function. It does not modify the original array.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en-US" b="1" u="sng" dirty="0"/>
              <a:t>Example :</a:t>
            </a:r>
          </a:p>
          <a:p>
            <a:r>
              <a:rPr lang="en-US" b="1" dirty="0"/>
              <a:t> </a:t>
            </a:r>
            <a:r>
              <a:rPr lang="en-US" dirty="0"/>
              <a:t>let newArray = array. Filter(callback(element[, index, array]){</a:t>
            </a:r>
          </a:p>
          <a:p>
            <a:pPr marL="0" indent="0">
              <a:buNone/>
            </a:pPr>
            <a:r>
              <a:rPr lang="en-US" dirty="0"/>
              <a:t>	thisArg;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callback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: This is the function that is used to test each element in the array. It takes three arguments: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element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The current element being processed in the array.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(optional): The index of the current element being processed.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array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(optional): The array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filter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was called upon.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thisArg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(optional): Value to use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this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when executing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callback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61076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D599-EF18-2E15-9F8C-8BE866330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33182"/>
          </a:xfrm>
        </p:spPr>
        <p:txBody>
          <a:bodyPr/>
          <a:lstStyle/>
          <a:p>
            <a:r>
              <a:rPr lang="en-US" dirty="0"/>
              <a:t>Filter() , map() , reduce()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B0511-30C7-B9C2-C416-95FC5A6F4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485900"/>
            <a:ext cx="11544300" cy="5120639"/>
          </a:xfrm>
        </p:spPr>
        <p:txBody>
          <a:bodyPr>
            <a:normAutofit/>
          </a:bodyPr>
          <a:lstStyle/>
          <a:p>
            <a:r>
              <a:rPr lang="en-US" sz="2800" dirty="0"/>
              <a:t>Map() :</a:t>
            </a:r>
          </a:p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map()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method in JavaScript is used to create a new array by applying a function to every element in an existing array. It does not modify the original array. Instead, it returns a new array with the modified elements.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indent="0">
              <a:buNone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effectLst/>
              </a:rPr>
              <a:t>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const numbers = [1, 2, 3, 4, 5];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const doubledNumbers = numbers. Map(number =&gt; number * 2);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console.log(doubledNumbers); // Output: [2, 4, 6, 8, 10]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1964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1F31-420D-D58B-42E7-80E4ECE3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Filter() , map() , reduce()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9167B-BB23-885B-C881-B3ECBE7B6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052918"/>
            <a:ext cx="10618470" cy="419548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Reduce() :</a:t>
            </a:r>
          </a:p>
          <a:p>
            <a:pPr marL="0" indent="0"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reduce()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method in JavaScript is used to apply a function to an accumulator and each element in an array, in order to reduce it to a single value. It iterates over each element in the array and accumulates a value based on the provided function.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</a:endParaRPr>
          </a:p>
          <a:p>
            <a:r>
              <a:rPr lang="en-IN" b="1" u="sng" dirty="0"/>
              <a:t>Ex :</a:t>
            </a:r>
          </a:p>
          <a:p>
            <a:pPr marL="457200" lvl="1" indent="0">
              <a:buNone/>
            </a:pPr>
            <a:r>
              <a:rPr lang="en-IN" sz="1900" dirty="0" err="1"/>
              <a:t>const</a:t>
            </a:r>
            <a:r>
              <a:rPr lang="en-IN" sz="1900" dirty="0"/>
              <a:t> numbers = [1, 2, 3, 4, 5];</a:t>
            </a:r>
          </a:p>
          <a:p>
            <a:pPr marL="457200" lvl="1" indent="0">
              <a:buNone/>
            </a:pPr>
            <a:r>
              <a:rPr lang="en-IN" sz="1900" dirty="0" err="1"/>
              <a:t>const</a:t>
            </a:r>
            <a:r>
              <a:rPr lang="en-IN" sz="1900" dirty="0"/>
              <a:t> sum = numbers.reduce(function(accumulator, currentValue) {</a:t>
            </a:r>
          </a:p>
          <a:p>
            <a:pPr marL="457200" lvl="1" indent="0">
              <a:buNone/>
            </a:pPr>
            <a:r>
              <a:rPr lang="en-IN" sz="1900" dirty="0"/>
              <a:t>  return accumulator + currentValue;</a:t>
            </a:r>
          </a:p>
          <a:p>
            <a:pPr marL="457200" lvl="1" indent="0">
              <a:buNone/>
            </a:pPr>
            <a:r>
              <a:rPr lang="en-IN" sz="1900" dirty="0"/>
              <a:t>}, 0);</a:t>
            </a:r>
          </a:p>
          <a:p>
            <a:pPr marL="457200" lvl="1" indent="0">
              <a:buNone/>
            </a:pPr>
            <a:r>
              <a:rPr lang="en-IN" sz="1900" dirty="0"/>
              <a:t>console.log(sum); // Output: 15</a:t>
            </a:r>
          </a:p>
          <a:p>
            <a:pPr lvl="1"/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8269701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696A-0AA1-33B3-100B-BC878AA4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9306"/>
          </a:xfrm>
        </p:spPr>
        <p:txBody>
          <a:bodyPr/>
          <a:lstStyle/>
          <a:p>
            <a:r>
              <a:rPr lang="en-US" dirty="0"/>
              <a:t>Objects in 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2A19A-9C97-30E3-D39E-91E9791D6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31346"/>
            <a:ext cx="10310163" cy="4717054"/>
          </a:xfrm>
        </p:spPr>
        <p:txBody>
          <a:bodyPr/>
          <a:lstStyle/>
          <a:p>
            <a:r>
              <a:rPr lang="en-US" dirty="0"/>
              <a:t>Object is nothing but the thing which has existence in the world.</a:t>
            </a:r>
          </a:p>
          <a:p>
            <a:r>
              <a:rPr lang="en-US" sz="2400" dirty="0">
                <a:solidFill>
                  <a:schemeClr val="tx2"/>
                </a:solidFill>
                <a:latin typeface="Calibri"/>
                <a:cs typeface="Calibri"/>
              </a:rPr>
              <a:t>A</a:t>
            </a:r>
            <a:r>
              <a:rPr lang="en-US" sz="2400" spc="14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15" dirty="0">
                <a:solidFill>
                  <a:schemeClr val="tx2"/>
                </a:solidFill>
                <a:latin typeface="Calibri"/>
                <a:cs typeface="Calibri"/>
              </a:rPr>
              <a:t>JavaScript</a:t>
            </a:r>
            <a:r>
              <a:rPr lang="en-US" sz="2400" spc="14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/>
                <a:cs typeface="Calibri"/>
              </a:rPr>
              <a:t>object</a:t>
            </a:r>
            <a:r>
              <a:rPr lang="en-US" sz="2400" spc="14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is</a:t>
            </a:r>
            <a:r>
              <a:rPr lang="en-US" sz="2400" spc="14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/>
                <a:cs typeface="Calibri"/>
              </a:rPr>
              <a:t>an</a:t>
            </a:r>
            <a:r>
              <a:rPr lang="en-US" sz="2400" spc="15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entity</a:t>
            </a:r>
            <a:r>
              <a:rPr lang="en-US" sz="2400" spc="15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having</a:t>
            </a:r>
            <a:r>
              <a:rPr lang="en-US" sz="2400" spc="14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20" dirty="0">
                <a:solidFill>
                  <a:schemeClr val="tx2"/>
                </a:solidFill>
                <a:latin typeface="Calibri"/>
                <a:cs typeface="Calibri"/>
              </a:rPr>
              <a:t>state</a:t>
            </a:r>
            <a:r>
              <a:rPr lang="en-US" sz="2400" spc="15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/>
                <a:cs typeface="Calibri"/>
              </a:rPr>
              <a:t>and</a:t>
            </a:r>
            <a:r>
              <a:rPr lang="en-US" sz="2400" spc="15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behavior</a:t>
            </a:r>
            <a:r>
              <a:rPr lang="en-US" sz="2400" spc="14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(properties</a:t>
            </a:r>
            <a:r>
              <a:rPr lang="en-US" sz="2400" spc="15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/>
                <a:cs typeface="Calibri"/>
              </a:rPr>
              <a:t>and</a:t>
            </a:r>
            <a:r>
              <a:rPr lang="en-US" sz="2400" spc="15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method).</a:t>
            </a:r>
            <a:r>
              <a:rPr lang="en-US" sz="2400" spc="14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chemeClr val="tx2"/>
                </a:solidFill>
                <a:latin typeface="Calibri"/>
                <a:cs typeface="Calibri"/>
              </a:rPr>
              <a:t>For</a:t>
            </a:r>
            <a:r>
              <a:rPr lang="en-US" sz="2400" spc="14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chemeClr val="tx2"/>
                </a:solidFill>
                <a:latin typeface="Calibri"/>
                <a:cs typeface="Calibri"/>
              </a:rPr>
              <a:t>example: </a:t>
            </a:r>
            <a:r>
              <a:rPr lang="en-US" sz="2400" spc="-39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45" dirty="0">
                <a:solidFill>
                  <a:schemeClr val="tx2"/>
                </a:solidFill>
                <a:latin typeface="Calibri"/>
                <a:cs typeface="Calibri"/>
              </a:rPr>
              <a:t>car,</a:t>
            </a:r>
            <a:r>
              <a:rPr lang="en-US" sz="2400" spc="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/>
                <a:cs typeface="Calibri"/>
              </a:rPr>
              <a:t>pen,</a:t>
            </a:r>
            <a:r>
              <a:rPr lang="en-US" sz="2400" spc="1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20" dirty="0">
                <a:solidFill>
                  <a:schemeClr val="tx2"/>
                </a:solidFill>
                <a:latin typeface="Calibri"/>
                <a:cs typeface="Calibri"/>
              </a:rPr>
              <a:t>bike,</a:t>
            </a:r>
            <a:r>
              <a:rPr lang="en-US" sz="2400" spc="2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35" dirty="0">
                <a:solidFill>
                  <a:schemeClr val="tx2"/>
                </a:solidFill>
                <a:latin typeface="Calibri"/>
                <a:cs typeface="Calibri"/>
              </a:rPr>
              <a:t>chair,</a:t>
            </a:r>
            <a:r>
              <a:rPr lang="en-US" sz="2400" spc="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/>
                <a:cs typeface="Calibri"/>
              </a:rPr>
              <a:t>glass,</a:t>
            </a:r>
            <a:r>
              <a:rPr lang="en-US" sz="2400" spc="-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15" dirty="0">
                <a:solidFill>
                  <a:schemeClr val="tx2"/>
                </a:solidFill>
                <a:latin typeface="Calibri"/>
                <a:cs typeface="Calibri"/>
              </a:rPr>
              <a:t>keyboard,</a:t>
            </a:r>
            <a:r>
              <a:rPr lang="en-US" sz="2400" spc="1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monitor</a:t>
            </a:r>
            <a:r>
              <a:rPr lang="en-US" sz="2400" spc="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15" dirty="0">
                <a:solidFill>
                  <a:schemeClr val="tx2"/>
                </a:solidFill>
                <a:latin typeface="Calibri"/>
                <a:cs typeface="Calibri"/>
              </a:rPr>
              <a:t>etc</a:t>
            </a:r>
            <a:r>
              <a:rPr lang="en-US" sz="2000" spc="-15" dirty="0">
                <a:solidFill>
                  <a:schemeClr val="tx2"/>
                </a:solidFill>
                <a:latin typeface="Calibri"/>
                <a:cs typeface="Calibri"/>
              </a:rPr>
              <a:t>.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IN" dirty="0"/>
              <a:t>In java script object is used to store the data in key value pairs.</a:t>
            </a:r>
          </a:p>
          <a:p>
            <a:r>
              <a:rPr lang="en-US" sz="2400" spc="-10" dirty="0">
                <a:solidFill>
                  <a:schemeClr val="tx2"/>
                </a:solidFill>
                <a:latin typeface="Calibri"/>
                <a:cs typeface="Calibri"/>
              </a:rPr>
              <a:t>JavaScript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 is</a:t>
            </a:r>
            <a:r>
              <a:rPr lang="en-US" sz="2400" spc="1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/>
                <a:cs typeface="Calibri"/>
              </a:rPr>
              <a:t>an</a:t>
            </a:r>
            <a:r>
              <a:rPr lang="en-US" sz="2400" spc="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object-based</a:t>
            </a:r>
            <a:r>
              <a:rPr lang="en-US" sz="2400" spc="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language.</a:t>
            </a:r>
            <a:r>
              <a:rPr lang="en-US" sz="2400" spc="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Everything</a:t>
            </a:r>
            <a:r>
              <a:rPr lang="en-US" sz="24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is</a:t>
            </a:r>
            <a:r>
              <a:rPr lang="en-US" sz="2400" spc="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/>
                <a:cs typeface="Calibri"/>
              </a:rPr>
              <a:t>an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object</a:t>
            </a:r>
            <a:r>
              <a:rPr lang="en-US" sz="2400" spc="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chemeClr val="tx2"/>
                </a:solidFill>
                <a:latin typeface="Calibri"/>
                <a:cs typeface="Calibri"/>
              </a:rPr>
              <a:t>in</a:t>
            </a:r>
            <a:r>
              <a:rPr lang="en-US" sz="2400" spc="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chemeClr val="tx2"/>
                </a:solidFill>
                <a:latin typeface="Calibri"/>
                <a:cs typeface="Calibri"/>
              </a:rPr>
              <a:t>JavaScript.</a:t>
            </a:r>
            <a:endParaRPr lang="en-IN" sz="2400" dirty="0">
              <a:solidFill>
                <a:schemeClr val="tx2"/>
              </a:solidFill>
            </a:endParaRPr>
          </a:p>
          <a:p>
            <a:r>
              <a:rPr lang="en-IN" dirty="0"/>
              <a:t>Objects are mutable.</a:t>
            </a:r>
          </a:p>
          <a:p>
            <a:endParaRPr lang="en-IN" dirty="0"/>
          </a:p>
          <a:p>
            <a:r>
              <a:rPr lang="en-IN" dirty="0"/>
              <a:t>We can access , update, add and delete the properties from an object.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2616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7238" y="855345"/>
            <a:ext cx="3417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u="none" spc="-45" dirty="0">
                <a:latin typeface="Times New Roman"/>
                <a:cs typeface="Times New Roman"/>
              </a:rPr>
              <a:t>OBJECTS</a:t>
            </a:r>
            <a:r>
              <a:rPr sz="2400" b="0" u="none" spc="-25" dirty="0">
                <a:latin typeface="Times New Roman"/>
                <a:cs typeface="Times New Roman"/>
              </a:rPr>
              <a:t> </a:t>
            </a:r>
            <a:r>
              <a:rPr sz="2400" b="0" u="none" spc="80" dirty="0">
                <a:latin typeface="Times New Roman"/>
                <a:cs typeface="Times New Roman"/>
              </a:rPr>
              <a:t>IN</a:t>
            </a:r>
            <a:r>
              <a:rPr sz="2400" b="0" u="none" spc="-20" dirty="0">
                <a:latin typeface="Times New Roman"/>
                <a:cs typeface="Times New Roman"/>
              </a:rPr>
              <a:t> </a:t>
            </a:r>
            <a:r>
              <a:rPr sz="2400" b="0" u="none" spc="-140" dirty="0">
                <a:latin typeface="Times New Roman"/>
                <a:cs typeface="Times New Roman"/>
              </a:rPr>
              <a:t>JAVASCRIPT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3873" y="1449451"/>
            <a:ext cx="9046400" cy="38286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javaScript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object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1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entity</a:t>
            </a:r>
            <a:r>
              <a:rPr sz="1800" spc="1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having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state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behavior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(properties</a:t>
            </a:r>
            <a:r>
              <a:rPr sz="1800" spc="1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method).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example: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car,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pen,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bike,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chair,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glass,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keyboard,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monitor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33"/>
              </a:buClr>
              <a:buFont typeface="Arial MT"/>
              <a:buChar char="•"/>
            </a:pPr>
            <a:endParaRPr sz="17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JavaScript</a:t>
            </a:r>
            <a:r>
              <a:rPr sz="1800" spc="-5" dirty="0">
                <a:latin typeface="Calibri"/>
                <a:cs typeface="Calibri"/>
              </a:rPr>
              <a:t> is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object-based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language.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Everything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 </a:t>
            </a:r>
            <a:r>
              <a:rPr sz="1800" spc="-5" dirty="0">
                <a:latin typeface="Calibri"/>
                <a:cs typeface="Calibri"/>
              </a:rPr>
              <a:t>object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JavaScript.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  <a:spcBef>
                <a:spcPts val="5"/>
              </a:spcBef>
            </a:pPr>
            <a:r>
              <a:rPr sz="2000" u="sng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Creating</a:t>
            </a:r>
            <a:r>
              <a:rPr sz="2000" u="sng" spc="1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Objects</a:t>
            </a:r>
            <a:r>
              <a:rPr sz="2000" u="sng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in</a:t>
            </a:r>
            <a:r>
              <a:rPr sz="2000" u="sng" spc="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JavaScript</a:t>
            </a:r>
            <a:r>
              <a:rPr sz="2000" u="sng" spc="-10" dirty="0">
                <a:latin typeface="Calibri"/>
                <a:cs typeface="Calibri"/>
              </a:rPr>
              <a:t>:</a:t>
            </a:r>
            <a:endParaRPr sz="2000" u="sng" dirty="0">
              <a:latin typeface="Calibri"/>
              <a:cs typeface="Calibri"/>
            </a:endParaRPr>
          </a:p>
          <a:p>
            <a:pPr marL="12700" marR="6196330">
              <a:lnSpc>
                <a:spcPct val="200000"/>
              </a:lnSpc>
            </a:pPr>
            <a:r>
              <a:rPr sz="1800" spc="-10" dirty="0">
                <a:latin typeface="Calibri"/>
                <a:cs typeface="Calibri"/>
              </a:rPr>
              <a:t>There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ways</a:t>
            </a:r>
            <a:r>
              <a:rPr sz="1800" spc="-10" dirty="0">
                <a:latin typeface="Calibri"/>
                <a:cs typeface="Calibri"/>
              </a:rPr>
              <a:t> to</a:t>
            </a:r>
            <a:r>
              <a:rPr sz="1800" spc="-15" dirty="0">
                <a:latin typeface="Calibri"/>
                <a:cs typeface="Calibri"/>
              </a:rPr>
              <a:t> create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objects.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1.By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object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literal.</a:t>
            </a:r>
            <a:endParaRPr sz="1800" dirty="0">
              <a:latin typeface="Calibri"/>
              <a:cs typeface="Calibri"/>
            </a:endParaRPr>
          </a:p>
          <a:p>
            <a:pPr marL="12700" marR="3712210">
              <a:lnSpc>
                <a:spcPct val="200000"/>
              </a:lnSpc>
            </a:pPr>
            <a:r>
              <a:rPr sz="1800" spc="-5" dirty="0">
                <a:latin typeface="Calibri"/>
                <a:cs typeface="Calibri"/>
              </a:rPr>
              <a:t>2.By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creating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instance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Object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directly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(using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</a:t>
            </a:r>
            <a:r>
              <a:rPr lang="en-IN" sz="1800" spc="-5" dirty="0">
                <a:latin typeface="Calibri"/>
                <a:cs typeface="Calibri"/>
              </a:rPr>
              <a:t>w </a:t>
            </a:r>
            <a:r>
              <a:rPr lang="en-IN" sz="1800" spc="-15" dirty="0">
                <a:latin typeface="Calibri"/>
                <a:cs typeface="Calibri"/>
              </a:rPr>
              <a:t>keyword). </a:t>
            </a:r>
            <a:endParaRPr lang="en-US" sz="1800" spc="-39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8D3A-687D-C2A6-130C-D75CC5EA3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0" u="none" spc="-45" dirty="0">
                <a:latin typeface="Times New Roman"/>
                <a:cs typeface="Times New Roman"/>
              </a:rPr>
              <a:t>OBJECTS</a:t>
            </a:r>
            <a:r>
              <a:rPr lang="en-IN" sz="4400" b="0" u="none" spc="-25" dirty="0">
                <a:latin typeface="Times New Roman"/>
                <a:cs typeface="Times New Roman"/>
              </a:rPr>
              <a:t> </a:t>
            </a:r>
            <a:r>
              <a:rPr lang="en-IN" sz="4400" b="0" u="none" spc="80" dirty="0">
                <a:latin typeface="Times New Roman"/>
                <a:cs typeface="Times New Roman"/>
              </a:rPr>
              <a:t>IN</a:t>
            </a:r>
            <a:r>
              <a:rPr lang="en-IN" sz="4400" b="0" u="none" spc="-20" dirty="0">
                <a:latin typeface="Times New Roman"/>
                <a:cs typeface="Times New Roman"/>
              </a:rPr>
              <a:t> </a:t>
            </a:r>
            <a:r>
              <a:rPr lang="en-IN" sz="4400" b="0" u="none" spc="-140" dirty="0">
                <a:latin typeface="Times New Roman"/>
                <a:cs typeface="Times New Roman"/>
              </a:rPr>
              <a:t>JAVASCRIPT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EB923-8161-B4F1-1351-D94BB853F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746825" cy="4195481"/>
          </a:xfrm>
        </p:spPr>
        <p:txBody>
          <a:bodyPr>
            <a:normAutofit fontScale="85000" lnSpcReduction="10000"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14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JavaScript</a:t>
            </a:r>
            <a:r>
              <a:rPr lang="en-US" sz="2800" spc="1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object</a:t>
            </a:r>
            <a:r>
              <a:rPr lang="en-US" sz="2800" spc="14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is</a:t>
            </a:r>
            <a:r>
              <a:rPr lang="en-US" sz="2800" spc="1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</a:t>
            </a:r>
            <a:r>
              <a:rPr lang="en-US" sz="2800" spc="15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entity</a:t>
            </a:r>
            <a:r>
              <a:rPr lang="en-US" sz="2800" spc="15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having</a:t>
            </a:r>
            <a:r>
              <a:rPr lang="en-US" sz="2800" spc="14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state</a:t>
            </a:r>
            <a:r>
              <a:rPr lang="en-US" sz="2800" spc="1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15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behavior</a:t>
            </a:r>
            <a:r>
              <a:rPr lang="en-US" sz="2800" spc="14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(properties</a:t>
            </a:r>
            <a:r>
              <a:rPr lang="en-US" sz="2800" spc="1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15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method).</a:t>
            </a:r>
            <a:r>
              <a:rPr lang="en-US" sz="2800" spc="14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For</a:t>
            </a:r>
            <a:r>
              <a:rPr lang="en-US" sz="2800" spc="14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example: </a:t>
            </a:r>
            <a:r>
              <a:rPr lang="en-US" sz="2800" spc="-390" dirty="0">
                <a:latin typeface="Calibri"/>
                <a:cs typeface="Calibri"/>
              </a:rPr>
              <a:t> </a:t>
            </a:r>
            <a:r>
              <a:rPr lang="en-US" sz="2800" spc="-45" dirty="0">
                <a:latin typeface="Calibri"/>
                <a:cs typeface="Calibri"/>
              </a:rPr>
              <a:t>car,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pen,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bike,</a:t>
            </a:r>
            <a:r>
              <a:rPr lang="en-US" sz="2800" spc="25" dirty="0">
                <a:latin typeface="Calibri"/>
                <a:cs typeface="Calibri"/>
              </a:rPr>
              <a:t> </a:t>
            </a:r>
            <a:r>
              <a:rPr lang="en-US" sz="2800" spc="-35" dirty="0">
                <a:latin typeface="Calibri"/>
                <a:cs typeface="Calibri"/>
              </a:rPr>
              <a:t>chair,</a:t>
            </a:r>
            <a:r>
              <a:rPr lang="en-US" sz="2800" spc="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glass,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keyboard,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monitor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etc.</a:t>
            </a:r>
            <a:endParaRPr lang="en-US"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33"/>
              </a:buClr>
              <a:buFont typeface="Arial MT"/>
              <a:buChar char="•"/>
            </a:pPr>
            <a:endParaRPr lang="en-US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600" spc="-10" dirty="0">
                <a:latin typeface="Calibri"/>
                <a:cs typeface="Calibri"/>
              </a:rPr>
              <a:t>JavaScript</a:t>
            </a:r>
            <a:r>
              <a:rPr lang="en-US" sz="2600" spc="-5" dirty="0">
                <a:latin typeface="Calibri"/>
                <a:cs typeface="Calibri"/>
              </a:rPr>
              <a:t> is</a:t>
            </a:r>
            <a:r>
              <a:rPr lang="en-US" sz="2600" spc="1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an</a:t>
            </a:r>
            <a:r>
              <a:rPr lang="en-US" sz="2600" spc="1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object-based</a:t>
            </a:r>
            <a:r>
              <a:rPr lang="en-US" sz="2600" spc="1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language.</a:t>
            </a:r>
            <a:r>
              <a:rPr lang="en-US" sz="2600" spc="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Everything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is</a:t>
            </a:r>
            <a:r>
              <a:rPr lang="en-US" sz="2600" spc="2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an </a:t>
            </a:r>
            <a:r>
              <a:rPr lang="en-US" sz="2600" spc="-5" dirty="0">
                <a:latin typeface="Calibri"/>
                <a:cs typeface="Calibri"/>
              </a:rPr>
              <a:t>object</a:t>
            </a:r>
            <a:r>
              <a:rPr lang="en-US" sz="2600" spc="20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in</a:t>
            </a:r>
            <a:r>
              <a:rPr lang="en-US" sz="2600" spc="20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JavaScript.</a:t>
            </a:r>
            <a:endParaRPr lang="en-US"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dirty="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  <a:spcBef>
                <a:spcPts val="5"/>
              </a:spcBef>
            </a:pPr>
            <a:r>
              <a:rPr lang="en-US" sz="2400" u="sng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Creating</a:t>
            </a:r>
            <a:r>
              <a:rPr lang="en-US" sz="2400" u="sng" spc="1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lang="en-US" sz="2400" u="sng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Objects</a:t>
            </a:r>
            <a:r>
              <a:rPr lang="en-US" sz="2400" u="sng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lang="en-US" sz="2400" u="sng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in</a:t>
            </a:r>
            <a:r>
              <a:rPr lang="en-US" sz="2400" u="sng" spc="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lang="en-US" sz="2400" u="sng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JavaScript</a:t>
            </a:r>
            <a:r>
              <a:rPr lang="en-US" sz="2400" u="sng" spc="-10" dirty="0">
                <a:latin typeface="Calibri"/>
                <a:cs typeface="Calibri"/>
              </a:rPr>
              <a:t>:</a:t>
            </a:r>
            <a:endParaRPr lang="en-US" sz="2400" u="sng" dirty="0">
              <a:latin typeface="Calibri"/>
              <a:cs typeface="Calibri"/>
            </a:endParaRPr>
          </a:p>
          <a:p>
            <a:pPr marL="12700" marR="6196330">
              <a:lnSpc>
                <a:spcPct val="200000"/>
              </a:lnSpc>
            </a:pPr>
            <a:r>
              <a:rPr lang="en-US" spc="-10" dirty="0">
                <a:latin typeface="Calibri"/>
                <a:cs typeface="Calibri"/>
              </a:rPr>
              <a:t>There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are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3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ways</a:t>
            </a:r>
            <a:r>
              <a:rPr lang="en-US" spc="-10" dirty="0">
                <a:latin typeface="Calibri"/>
                <a:cs typeface="Calibri"/>
              </a:rPr>
              <a:t> to</a:t>
            </a:r>
            <a:r>
              <a:rPr lang="en-US" spc="-15" dirty="0">
                <a:latin typeface="Calibri"/>
                <a:cs typeface="Calibri"/>
              </a:rPr>
              <a:t> create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objects. </a:t>
            </a:r>
            <a:r>
              <a:rPr lang="en-US" spc="-390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1.By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object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spc="-15" dirty="0">
                <a:latin typeface="Calibri"/>
                <a:cs typeface="Calibri"/>
              </a:rPr>
              <a:t>literal.</a:t>
            </a:r>
            <a:endParaRPr lang="en-US" dirty="0">
              <a:latin typeface="Calibri"/>
              <a:cs typeface="Calibri"/>
            </a:endParaRPr>
          </a:p>
          <a:p>
            <a:pPr marL="0" marR="3712210" indent="0">
              <a:lnSpc>
                <a:spcPct val="200000"/>
              </a:lnSpc>
              <a:buNone/>
            </a:pPr>
            <a:r>
              <a:rPr lang="en-US" spc="-5" dirty="0">
                <a:latin typeface="Calibri"/>
                <a:cs typeface="Calibri"/>
              </a:rPr>
              <a:t>2.By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creating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instance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of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Object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directly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(using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new </a:t>
            </a:r>
            <a:r>
              <a:rPr lang="en-US" spc="-15" dirty="0">
                <a:latin typeface="Calibri"/>
                <a:cs typeface="Calibri"/>
              </a:rPr>
              <a:t>keyword). </a:t>
            </a:r>
            <a:endParaRPr lang="en-US" spc="-395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IN" dirty="0"/>
              <a:t>3.By using constructor function</a:t>
            </a:r>
          </a:p>
        </p:txBody>
      </p:sp>
    </p:spTree>
    <p:extLst>
      <p:ext uri="{BB962C8B-B14F-4D97-AF65-F5344CB8AC3E}">
        <p14:creationId xmlns:p14="http://schemas.microsoft.com/office/powerpoint/2010/main" val="40718890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2692" y="693801"/>
            <a:ext cx="9130674" cy="5799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heavy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1)JavaScript</a:t>
            </a:r>
            <a:r>
              <a:rPr sz="2000" u="heavy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Object</a:t>
            </a:r>
            <a:r>
              <a:rPr sz="2000" u="heavy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by</a:t>
            </a:r>
            <a:r>
              <a:rPr sz="2000" u="heavy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object</a:t>
            </a:r>
            <a:r>
              <a:rPr sz="2000" u="heavy" spc="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literal: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syntax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object using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object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literal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given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below: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VariableName </a:t>
            </a:r>
            <a:r>
              <a:rPr sz="2000" spc="-5" dirty="0">
                <a:latin typeface="Calibri"/>
                <a:cs typeface="Calibri"/>
              </a:rPr>
              <a:t>object=</a:t>
            </a:r>
            <a:endParaRPr sz="2000" dirty="0">
              <a:latin typeface="Calibri"/>
              <a:cs typeface="Calibri"/>
            </a:endParaRPr>
          </a:p>
          <a:p>
            <a:pPr marL="216027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{</a:t>
            </a:r>
          </a:p>
          <a:p>
            <a:pPr marL="2318385" marR="1886585" algn="just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property1:value1, </a:t>
            </a:r>
            <a:r>
              <a:rPr sz="2000" spc="-395" dirty="0">
                <a:latin typeface="Calibri"/>
                <a:cs typeface="Calibri"/>
              </a:rPr>
              <a:t> </a:t>
            </a:r>
            <a:endParaRPr lang="en-US" sz="2000" spc="-395" dirty="0">
              <a:latin typeface="Calibri"/>
              <a:cs typeface="Calibri"/>
            </a:endParaRPr>
          </a:p>
          <a:p>
            <a:pPr marL="2318385" marR="1886585" algn="just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property2:value2, </a:t>
            </a:r>
            <a:r>
              <a:rPr sz="2000" spc="-395" dirty="0">
                <a:latin typeface="Calibri"/>
                <a:cs typeface="Calibri"/>
              </a:rPr>
              <a:t> </a:t>
            </a:r>
            <a:endParaRPr lang="en-US" sz="2000" spc="-395" dirty="0">
              <a:latin typeface="Calibri"/>
              <a:cs typeface="Calibri"/>
            </a:endParaRPr>
          </a:p>
          <a:p>
            <a:pPr marL="2318385" marR="1886585" algn="just">
              <a:lnSpc>
                <a:spcPct val="100000"/>
              </a:lnSpc>
            </a:pPr>
            <a:r>
              <a:rPr sz="2000" spc="-5" dirty="0" err="1">
                <a:latin typeface="Calibri"/>
                <a:cs typeface="Calibri"/>
              </a:rPr>
              <a:t>p</a:t>
            </a:r>
            <a:r>
              <a:rPr sz="2000" spc="-30" dirty="0" err="1">
                <a:latin typeface="Calibri"/>
                <a:cs typeface="Calibri"/>
              </a:rPr>
              <a:t>r</a:t>
            </a:r>
            <a:r>
              <a:rPr sz="2000" spc="-5" dirty="0" err="1">
                <a:latin typeface="Calibri"/>
                <a:cs typeface="Calibri"/>
              </a:rPr>
              <a:t>op</a:t>
            </a:r>
            <a:r>
              <a:rPr sz="2000" dirty="0" err="1">
                <a:latin typeface="Calibri"/>
                <a:cs typeface="Calibri"/>
              </a:rPr>
              <a:t>er</a:t>
            </a:r>
            <a:r>
              <a:rPr sz="2000" spc="-10" dirty="0" err="1">
                <a:latin typeface="Calibri"/>
                <a:cs typeface="Calibri"/>
              </a:rPr>
              <a:t>t</a:t>
            </a:r>
            <a:r>
              <a:rPr sz="2000" dirty="0" err="1">
                <a:latin typeface="Calibri"/>
                <a:cs typeface="Calibri"/>
              </a:rPr>
              <a:t>y</a:t>
            </a:r>
            <a:r>
              <a:rPr sz="2000" spc="5" dirty="0" err="1">
                <a:latin typeface="Calibri"/>
                <a:cs typeface="Calibri"/>
              </a:rPr>
              <a:t>N</a:t>
            </a:r>
            <a:r>
              <a:rPr sz="2000" spc="-5" dirty="0" err="1">
                <a:latin typeface="Calibri"/>
                <a:cs typeface="Calibri"/>
              </a:rPr>
              <a:t>:</a:t>
            </a:r>
            <a:r>
              <a:rPr sz="2000" spc="-25" dirty="0" err="1">
                <a:latin typeface="Calibri"/>
                <a:cs typeface="Calibri"/>
              </a:rPr>
              <a:t>v</a:t>
            </a:r>
            <a:r>
              <a:rPr sz="2000" dirty="0" err="1">
                <a:latin typeface="Calibri"/>
                <a:cs typeface="Calibri"/>
              </a:rPr>
              <a:t>alueN</a:t>
            </a:r>
            <a:endParaRPr sz="2000" dirty="0">
              <a:latin typeface="Calibri"/>
              <a:cs typeface="Calibri"/>
            </a:endParaRPr>
          </a:p>
          <a:p>
            <a:pPr marL="216027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As</a:t>
            </a:r>
            <a:r>
              <a:rPr sz="2000" spc="-10" dirty="0">
                <a:latin typeface="Calibri"/>
                <a:cs typeface="Calibri"/>
              </a:rPr>
              <a:t> you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see,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property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value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separated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</a:t>
            </a:r>
            <a:r>
              <a:rPr sz="2000" dirty="0">
                <a:latin typeface="Calibri"/>
                <a:cs typeface="Calibri"/>
              </a:rPr>
              <a:t> :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(colon).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Example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creating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object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JavaScript.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alibri"/>
                <a:cs typeface="Calibri"/>
              </a:rPr>
              <a:t>&lt;script&gt;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Let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emp={</a:t>
            </a:r>
          </a:p>
          <a:p>
            <a:pPr marL="640715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id:102,</a:t>
            </a:r>
            <a:endParaRPr sz="2000" dirty="0">
              <a:latin typeface="Calibri"/>
              <a:cs typeface="Calibri"/>
            </a:endParaRPr>
          </a:p>
          <a:p>
            <a:pPr marL="640715" marR="379222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/>
                <a:cs typeface="Calibri"/>
              </a:rPr>
              <a:t>na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"</a:t>
            </a:r>
            <a:r>
              <a:rPr sz="2000" spc="-25" dirty="0">
                <a:latin typeface="Calibri"/>
                <a:cs typeface="Calibri"/>
              </a:rPr>
              <a:t>K</a:t>
            </a:r>
            <a:r>
              <a:rPr sz="2000" spc="-5" dirty="0">
                <a:latin typeface="Calibri"/>
                <a:cs typeface="Calibri"/>
              </a:rPr>
              <a:t>um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r",  salary:40000</a:t>
            </a:r>
            <a:endParaRPr sz="2000" dirty="0">
              <a:latin typeface="Calibri"/>
              <a:cs typeface="Calibri"/>
            </a:endParaRPr>
          </a:p>
          <a:p>
            <a:pPr marL="48387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document.write(emp.id+"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"+emp.name+"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"+emp.salary);</a:t>
            </a: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&lt;/script&gt;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8847" y="868807"/>
            <a:ext cx="9504812" cy="524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2)</a:t>
            </a:r>
            <a:r>
              <a:rPr sz="2400" u="heavy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By</a:t>
            </a:r>
            <a:r>
              <a:rPr sz="2400" u="heavy" spc="-2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creating</a:t>
            </a:r>
            <a:r>
              <a:rPr sz="2400" u="heavy" spc="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instance</a:t>
            </a:r>
            <a:r>
              <a:rPr sz="2400" u="heavy" spc="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of</a:t>
            </a:r>
            <a:r>
              <a:rPr sz="2400" u="heavy" spc="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Object: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syntax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creating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 </a:t>
            </a:r>
            <a:r>
              <a:rPr sz="2400" spc="-10" dirty="0">
                <a:latin typeface="Calibri"/>
                <a:cs typeface="Calibri"/>
              </a:rPr>
              <a:t>directly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given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below: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var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objectname=new Object();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Here,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new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keyword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spc="-15" dirty="0">
                <a:latin typeface="Calibri"/>
                <a:cs typeface="Calibri"/>
              </a:rPr>
              <a:t>create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 dirty="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Example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creating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directly.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&lt;script&gt;</a:t>
            </a:r>
            <a:endParaRPr sz="2400" dirty="0">
              <a:latin typeface="Calibri"/>
              <a:cs typeface="Calibri"/>
            </a:endParaRPr>
          </a:p>
          <a:p>
            <a:pPr marL="12700" marR="3154045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var </a:t>
            </a:r>
            <a:r>
              <a:rPr sz="2400" spc="-5" dirty="0">
                <a:latin typeface="Calibri"/>
                <a:cs typeface="Calibri"/>
              </a:rPr>
              <a:t>emp=new </a:t>
            </a:r>
            <a:r>
              <a:rPr sz="2400" spc="-10" dirty="0">
                <a:latin typeface="Calibri"/>
                <a:cs typeface="Calibri"/>
              </a:rPr>
              <a:t>Object(); </a:t>
            </a:r>
            <a:r>
              <a:rPr sz="2400" spc="-3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emp.id=101;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emp.name="Ravi";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emp.salary=50000;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document.write(emp.id+"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"+emp.name+"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"+emp.salary);</a:t>
            </a: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&lt;/script&gt;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294" y="544877"/>
            <a:ext cx="10540403" cy="610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3)</a:t>
            </a:r>
            <a:r>
              <a:rPr sz="2400" u="heavy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By</a:t>
            </a:r>
            <a:r>
              <a:rPr sz="2400" u="heavy" spc="-2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using</a:t>
            </a:r>
            <a:r>
              <a:rPr sz="2400" u="heavy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an</a:t>
            </a:r>
            <a:r>
              <a:rPr sz="2400" u="heavy" spc="5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constructor</a:t>
            </a:r>
            <a:r>
              <a:rPr lang="en-US" sz="2400" u="heavy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 function</a:t>
            </a:r>
            <a:r>
              <a:rPr sz="2400" u="heavy" spc="-10" dirty="0">
                <a:uFill>
                  <a:solidFill>
                    <a:srgbClr val="600A38"/>
                  </a:solidFill>
                </a:u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Here,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create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arguments.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Each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argument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value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assigned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3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keyword.</a:t>
            </a:r>
            <a:endParaRPr sz="24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this</a:t>
            </a:r>
            <a:r>
              <a:rPr sz="2400" b="1" spc="-15" dirty="0">
                <a:latin typeface="Calibri"/>
                <a:cs typeface="Calibri"/>
              </a:rPr>
              <a:t> keyword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refers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creating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 object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constructor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given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below.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&lt;script&gt;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function emp(id,name,salary){</a:t>
            </a:r>
            <a:endParaRPr sz="2400" dirty="0">
              <a:latin typeface="Calibri"/>
              <a:cs typeface="Calibri"/>
            </a:endParaRPr>
          </a:p>
          <a:p>
            <a:pPr marL="12700" marR="80918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this.id=id;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this.name=name; </a:t>
            </a:r>
            <a:r>
              <a:rPr sz="2400" spc="-3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</a:t>
            </a:r>
            <a:r>
              <a:rPr sz="2400" spc="-10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s.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ry</a:t>
            </a:r>
            <a:r>
              <a:rPr sz="2400" spc="-5" dirty="0">
                <a:latin typeface="Calibri"/>
                <a:cs typeface="Calibri"/>
              </a:rPr>
              <a:t>=</a:t>
            </a:r>
            <a:r>
              <a:rPr sz="2400" spc="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alar</a:t>
            </a:r>
            <a:r>
              <a:rPr sz="2400" spc="10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;</a:t>
            </a: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400" spc="-35" dirty="0">
                <a:latin typeface="Calibri"/>
                <a:cs typeface="Calibri"/>
              </a:rPr>
              <a:t>Var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e=new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emp(103,"Vimal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Jaiswal",30000);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document.write(e.id+"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"+e.name+"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"+e.salary);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&lt;/script&gt;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6484" y="805053"/>
            <a:ext cx="996329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u="none" dirty="0">
                <a:solidFill>
                  <a:schemeClr val="tx1"/>
                </a:solidFill>
                <a:latin typeface="Calibri"/>
                <a:cs typeface="Calibri"/>
              </a:rPr>
              <a:t>In </a:t>
            </a:r>
            <a:r>
              <a:rPr sz="2000" b="0" u="none" spc="-10" dirty="0">
                <a:solidFill>
                  <a:schemeClr val="tx1"/>
                </a:solidFill>
                <a:latin typeface="Calibri"/>
                <a:cs typeface="Calibri"/>
              </a:rPr>
              <a:t>JavaScript,</a:t>
            </a:r>
            <a:r>
              <a:rPr sz="2000" b="0" u="none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chemeClr val="tx1"/>
                </a:solidFill>
                <a:latin typeface="Calibri"/>
                <a:cs typeface="Calibri"/>
              </a:rPr>
              <a:t>there</a:t>
            </a:r>
            <a:r>
              <a:rPr sz="2000" b="0" u="none" spc="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sz="2000" b="0" u="none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spc="-5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sz="2000" b="0" u="none" dirty="0">
                <a:solidFill>
                  <a:schemeClr val="tx1"/>
                </a:solidFill>
                <a:latin typeface="Calibri"/>
                <a:cs typeface="Calibri"/>
              </a:rPr>
              <a:t> main</a:t>
            </a:r>
            <a:r>
              <a:rPr sz="2000" b="0" u="none" spc="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spc="-20" dirty="0">
                <a:solidFill>
                  <a:schemeClr val="tx1"/>
                </a:solidFill>
                <a:latin typeface="Calibri"/>
                <a:cs typeface="Calibri"/>
              </a:rPr>
              <a:t>ways</a:t>
            </a:r>
            <a:r>
              <a:rPr sz="2000" b="0" u="none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000" b="0" u="none" spc="-5" dirty="0">
                <a:solidFill>
                  <a:schemeClr val="tx1"/>
                </a:solidFill>
                <a:latin typeface="Calibri"/>
                <a:cs typeface="Calibri"/>
              </a:rPr>
              <a:t> access</a:t>
            </a:r>
            <a:r>
              <a:rPr sz="2000" b="0" u="none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000" b="0" u="none" spc="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spc="-10" dirty="0">
                <a:solidFill>
                  <a:schemeClr val="tx1"/>
                </a:solidFill>
                <a:latin typeface="Calibri"/>
                <a:cs typeface="Calibri"/>
              </a:rPr>
              <a:t>manipulate</a:t>
            </a:r>
            <a:r>
              <a:rPr sz="2000" b="0" u="none" spc="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spc="-5" dirty="0">
                <a:solidFill>
                  <a:schemeClr val="tx1"/>
                </a:solidFill>
                <a:latin typeface="Calibri"/>
                <a:cs typeface="Calibri"/>
              </a:rPr>
              <a:t>object</a:t>
            </a:r>
            <a:r>
              <a:rPr sz="2000" b="0" u="none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spc="-5" dirty="0">
                <a:solidFill>
                  <a:schemeClr val="tx1"/>
                </a:solidFill>
                <a:latin typeface="Calibri"/>
                <a:cs typeface="Calibri"/>
              </a:rPr>
              <a:t>properties:</a:t>
            </a:r>
            <a:r>
              <a:rPr sz="2000" b="0" u="none" spc="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u="none" dirty="0">
                <a:solidFill>
                  <a:schemeClr val="tx1"/>
                </a:solidFill>
                <a:latin typeface="Calibri"/>
                <a:cs typeface="Calibri"/>
              </a:rPr>
              <a:t>dot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u="none" spc="-5" dirty="0">
                <a:solidFill>
                  <a:schemeClr val="tx1"/>
                </a:solidFill>
                <a:latin typeface="Calibri"/>
                <a:cs typeface="Calibri"/>
              </a:rPr>
              <a:t>notation</a:t>
            </a:r>
            <a:r>
              <a:rPr sz="2000" u="none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b="0" u="none" dirty="0">
                <a:solidFill>
                  <a:schemeClr val="tx1"/>
                </a:solidFill>
                <a:latin typeface="Calibri"/>
                <a:cs typeface="Calibri"/>
              </a:rPr>
              <a:t>and </a:t>
            </a:r>
            <a:r>
              <a:rPr sz="2000" u="none" spc="-15" dirty="0">
                <a:solidFill>
                  <a:schemeClr val="tx1"/>
                </a:solidFill>
                <a:latin typeface="Calibri"/>
                <a:cs typeface="Calibri"/>
              </a:rPr>
              <a:t>bracket</a:t>
            </a:r>
            <a:r>
              <a:rPr sz="2000" u="none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u="none" spc="-5" dirty="0">
                <a:solidFill>
                  <a:schemeClr val="tx1"/>
                </a:solidFill>
                <a:latin typeface="Calibri"/>
                <a:cs typeface="Calibri"/>
              </a:rPr>
              <a:t>notation.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8763" y="1424939"/>
            <a:ext cx="10634980" cy="3365500"/>
          </a:xfrm>
          <a:prstGeom prst="rect">
            <a:avLst/>
          </a:prstGeom>
          <a:solidFill>
            <a:srgbClr val="F8F8F8"/>
          </a:solidFill>
        </p:spPr>
        <p:txBody>
          <a:bodyPr vert="horz" wrap="square" lIns="0" tIns="1028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10"/>
              </a:spcBef>
            </a:pPr>
            <a:r>
              <a:rPr b="1" dirty="0">
                <a:solidFill>
                  <a:schemeClr val="bg1"/>
                </a:solidFill>
                <a:latin typeface="Calibri"/>
                <a:cs typeface="Calibri"/>
              </a:rPr>
              <a:t>1.</a:t>
            </a:r>
            <a:r>
              <a:rPr b="1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bg1"/>
                </a:solidFill>
                <a:latin typeface="Calibri"/>
                <a:cs typeface="Calibri"/>
              </a:rPr>
              <a:t>Dot</a:t>
            </a:r>
            <a:r>
              <a:rPr b="1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chemeClr val="bg1"/>
                </a:solidFill>
                <a:latin typeface="Calibri"/>
                <a:cs typeface="Calibri"/>
              </a:rPr>
              <a:t>notation</a:t>
            </a:r>
            <a:endParaRPr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ts val="1905"/>
              </a:lnSpc>
              <a:spcBef>
                <a:spcPts val="30"/>
              </a:spcBef>
            </a:pP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Dot</a:t>
            </a:r>
            <a:r>
              <a:rPr sz="1600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notation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is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16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most</a:t>
            </a:r>
            <a:r>
              <a:rPr sz="1600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common</a:t>
            </a:r>
            <a:r>
              <a:rPr sz="1600" spc="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chemeClr val="bg1"/>
                </a:solidFill>
                <a:latin typeface="Calibri"/>
                <a:cs typeface="Calibri"/>
              </a:rPr>
              <a:t>way</a:t>
            </a:r>
            <a:r>
              <a:rPr sz="16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to</a:t>
            </a:r>
            <a:r>
              <a:rPr sz="16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access</a:t>
            </a:r>
            <a:r>
              <a:rPr sz="16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object</a:t>
            </a:r>
            <a:r>
              <a:rPr sz="1600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properties.</a:t>
            </a:r>
            <a:r>
              <a:rPr sz="1600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It</a:t>
            </a:r>
            <a:r>
              <a:rPr sz="16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uses</a:t>
            </a:r>
            <a:r>
              <a:rPr sz="16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 period</a:t>
            </a:r>
            <a:r>
              <a:rPr sz="1600" spc="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(.)</a:t>
            </a:r>
            <a:r>
              <a:rPr sz="16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to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access</a:t>
            </a:r>
            <a:r>
              <a:rPr sz="16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16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value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of</a:t>
            </a:r>
            <a:r>
              <a:rPr sz="1600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property</a:t>
            </a:r>
            <a:r>
              <a:rPr sz="1600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by</a:t>
            </a:r>
            <a:r>
              <a:rPr sz="16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30" dirty="0">
                <a:solidFill>
                  <a:schemeClr val="bg1"/>
                </a:solidFill>
                <a:latin typeface="Calibri"/>
                <a:cs typeface="Calibri"/>
              </a:rPr>
              <a:t>its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chemeClr val="bg1"/>
                </a:solidFill>
                <a:latin typeface="Calibri"/>
                <a:cs typeface="Calibri"/>
              </a:rPr>
              <a:t>key.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ts val="2145"/>
              </a:lnSpc>
            </a:pPr>
            <a:r>
              <a:rPr b="1" spc="-20" dirty="0">
                <a:solidFill>
                  <a:schemeClr val="bg1"/>
                </a:solidFill>
                <a:latin typeface="Calibri"/>
                <a:cs typeface="Calibri"/>
              </a:rPr>
              <a:t>Here’s</a:t>
            </a:r>
            <a:r>
              <a:rPr b="1" spc="-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bg1"/>
                </a:solidFill>
                <a:latin typeface="Calibri"/>
                <a:cs typeface="Calibri"/>
              </a:rPr>
              <a:t>an</a:t>
            </a:r>
            <a:r>
              <a:rPr b="1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chemeClr val="bg1"/>
                </a:solidFill>
                <a:latin typeface="Calibri"/>
                <a:cs typeface="Calibri"/>
              </a:rPr>
              <a:t>example:</a:t>
            </a:r>
            <a:endParaRPr dirty="0">
              <a:solidFill>
                <a:schemeClr val="bg1"/>
              </a:solidFill>
              <a:latin typeface="Calibri"/>
              <a:cs typeface="Calibri"/>
            </a:endParaRPr>
          </a:p>
          <a:p>
            <a:pPr marR="931037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const </a:t>
            </a:r>
            <a:r>
              <a:rPr sz="1600" spc="-15" dirty="0">
                <a:solidFill>
                  <a:schemeClr val="bg1"/>
                </a:solidFill>
                <a:latin typeface="Calibri"/>
                <a:cs typeface="Calibri"/>
              </a:rPr>
              <a:t>person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= { </a:t>
            </a:r>
            <a:r>
              <a:rPr sz="1600" spc="-3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name: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'John',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 age: 30,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address: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{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spc="-15" dirty="0">
                <a:solidFill>
                  <a:schemeClr val="bg1"/>
                </a:solidFill>
                <a:latin typeface="Calibri"/>
                <a:cs typeface="Calibri"/>
              </a:rPr>
              <a:t>street:</a:t>
            </a:r>
            <a:r>
              <a:rPr sz="1600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'123</a:t>
            </a:r>
            <a:r>
              <a:rPr sz="16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Main</a:t>
            </a:r>
            <a:r>
              <a:rPr sz="16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St',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city:</a:t>
            </a:r>
            <a:r>
              <a:rPr sz="16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'New</a:t>
            </a:r>
            <a:r>
              <a:rPr sz="16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chemeClr val="bg1"/>
                </a:solidFill>
                <a:latin typeface="Calibri"/>
                <a:cs typeface="Calibri"/>
              </a:rPr>
              <a:t>York'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}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};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R="6889115">
              <a:lnSpc>
                <a:spcPts val="1930"/>
              </a:lnSpc>
              <a:spcBef>
                <a:spcPts val="55"/>
              </a:spcBef>
            </a:pP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console.log(person.name);</a:t>
            </a:r>
            <a:r>
              <a:rPr sz="1600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//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 John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console.log(person.address.city);</a:t>
            </a:r>
            <a:r>
              <a:rPr sz="1600" spc="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//</a:t>
            </a:r>
            <a:r>
              <a:rPr sz="1600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alibri"/>
                <a:cs typeface="Calibri"/>
              </a:rPr>
              <a:t>New</a:t>
            </a:r>
            <a:r>
              <a:rPr sz="1600" spc="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spc="-40" dirty="0">
                <a:solidFill>
                  <a:schemeClr val="bg1"/>
                </a:solidFill>
                <a:latin typeface="Calibri"/>
                <a:cs typeface="Calibri"/>
              </a:rPr>
              <a:t>York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8113" y="4755642"/>
            <a:ext cx="7792720" cy="1769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Calibri"/>
                <a:cs typeface="Calibri"/>
              </a:rPr>
              <a:t>Bracket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notation,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hand,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square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brackets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[]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access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-5" dirty="0">
                <a:latin typeface="Calibri"/>
                <a:cs typeface="Calibri"/>
              </a:rPr>
              <a:t>value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3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property</a:t>
            </a:r>
            <a:r>
              <a:rPr sz="2000" spc="-5" dirty="0">
                <a:latin typeface="Calibri"/>
                <a:cs typeface="Calibri"/>
              </a:rPr>
              <a:t> by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key.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2155"/>
              </a:lnSpc>
            </a:pPr>
            <a:r>
              <a:rPr sz="2000" b="1" spc="-20" dirty="0">
                <a:latin typeface="Calibri"/>
                <a:cs typeface="Calibri"/>
              </a:rPr>
              <a:t>Here’s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example:</a:t>
            </a:r>
            <a:endParaRPr sz="2000" dirty="0">
              <a:latin typeface="Calibri"/>
              <a:cs typeface="Calibri"/>
            </a:endParaRPr>
          </a:p>
          <a:p>
            <a:pPr marL="12700" marR="3192145">
              <a:lnSpc>
                <a:spcPts val="2160"/>
              </a:lnSpc>
              <a:spcBef>
                <a:spcPts val="65"/>
              </a:spcBef>
            </a:pPr>
            <a:r>
              <a:rPr sz="2000" spc="-5" dirty="0">
                <a:latin typeface="Calibri"/>
                <a:cs typeface="Calibri"/>
              </a:rPr>
              <a:t>console.log(person['name']);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//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John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console.log(person['address']['city']);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//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York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914400"/>
            <a:ext cx="12649200" cy="4414029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3469004">
              <a:lnSpc>
                <a:spcPct val="100000"/>
              </a:lnSpc>
              <a:spcBef>
                <a:spcPts val="1140"/>
              </a:spcBef>
            </a:pPr>
            <a:r>
              <a:rPr sz="1800" spc="-15" dirty="0">
                <a:latin typeface="Times New Roman"/>
                <a:cs typeface="Times New Roman"/>
              </a:rPr>
              <a:t>OBJECT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METHODS</a:t>
            </a:r>
            <a:endParaRPr sz="18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i="1" spc="-5" dirty="0">
                <a:latin typeface="Calibri"/>
                <a:cs typeface="Calibri"/>
              </a:rPr>
              <a:t>Objects can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also</a:t>
            </a:r>
            <a:r>
              <a:rPr sz="1800" b="1" i="1" spc="-5" dirty="0">
                <a:latin typeface="Calibri"/>
                <a:cs typeface="Calibri"/>
              </a:rPr>
              <a:t> have</a:t>
            </a:r>
            <a:r>
              <a:rPr sz="1800" b="1" i="1" spc="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methods.</a:t>
            </a:r>
            <a:endParaRPr sz="1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i="1" spc="-5" dirty="0">
                <a:latin typeface="Calibri"/>
                <a:cs typeface="Calibri"/>
              </a:rPr>
              <a:t>Methods</a:t>
            </a:r>
            <a:r>
              <a:rPr sz="1800" b="1" i="1" dirty="0">
                <a:latin typeface="Calibri"/>
                <a:cs typeface="Calibri"/>
              </a:rPr>
              <a:t> are</a:t>
            </a:r>
            <a:r>
              <a:rPr sz="1800" b="1" i="1" spc="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actions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that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can </a:t>
            </a:r>
            <a:r>
              <a:rPr sz="1800" b="1" i="1" dirty="0">
                <a:latin typeface="Calibri"/>
                <a:cs typeface="Calibri"/>
              </a:rPr>
              <a:t>be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performed</a:t>
            </a:r>
            <a:r>
              <a:rPr sz="1800" b="1" i="1" spc="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on</a:t>
            </a:r>
            <a:r>
              <a:rPr sz="1800" b="1" i="1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objects.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i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</a:t>
            </a:r>
            <a:r>
              <a:rPr sz="1800" b="1" i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METHODS: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Calibri"/>
              <a:cs typeface="Calibri"/>
            </a:endParaRPr>
          </a:p>
          <a:p>
            <a:pPr marL="12700" marR="4544060">
              <a:lnSpc>
                <a:spcPct val="100000"/>
              </a:lnSpc>
            </a:pPr>
            <a:r>
              <a:rPr sz="1800" b="1" i="1" spc="-10" dirty="0">
                <a:latin typeface="Calibri"/>
                <a:cs typeface="Calibri"/>
              </a:rPr>
              <a:t>1.keys </a:t>
            </a:r>
            <a:r>
              <a:rPr lang="en-US" sz="1800" b="1" i="1" spc="-10" dirty="0">
                <a:latin typeface="Calibri"/>
                <a:cs typeface="Calibri"/>
              </a:rPr>
              <a:t>: It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lang="en-US" sz="1800" b="1" i="1" spc="-5" dirty="0">
                <a:latin typeface="Calibri"/>
                <a:cs typeface="Calibri"/>
              </a:rPr>
              <a:t>will return array of keys</a:t>
            </a:r>
          </a:p>
          <a:p>
            <a:pPr marL="12700" marR="4544060">
              <a:lnSpc>
                <a:spcPct val="100000"/>
              </a:lnSpc>
            </a:pPr>
            <a:r>
              <a:rPr sz="1800" b="1" i="1" spc="-25" dirty="0">
                <a:latin typeface="Calibri"/>
                <a:cs typeface="Calibri"/>
              </a:rPr>
              <a:t>2.Values </a:t>
            </a:r>
            <a:r>
              <a:rPr lang="en-US" b="1" i="1" spc="-20" dirty="0">
                <a:latin typeface="Calibri"/>
                <a:cs typeface="Calibri"/>
              </a:rPr>
              <a:t>: </a:t>
            </a:r>
            <a:r>
              <a:rPr lang="en-US" sz="1800" b="1" i="1" spc="-10" dirty="0">
                <a:latin typeface="Calibri"/>
                <a:cs typeface="Calibri"/>
              </a:rPr>
              <a:t>It</a:t>
            </a:r>
            <a:r>
              <a:rPr lang="en-US" sz="1800" b="1" i="1" spc="-5" dirty="0">
                <a:latin typeface="Calibri"/>
                <a:cs typeface="Calibri"/>
              </a:rPr>
              <a:t> will return array of values</a:t>
            </a:r>
            <a:endParaRPr lang="en-US" sz="1800" b="1" i="1" spc="-20" dirty="0">
              <a:latin typeface="Calibri"/>
              <a:cs typeface="Calibri"/>
            </a:endParaRPr>
          </a:p>
          <a:p>
            <a:pPr marL="12700" marR="4544060">
              <a:lnSpc>
                <a:spcPct val="100000"/>
              </a:lnSpc>
            </a:pPr>
            <a:r>
              <a:rPr sz="1800" b="1" i="1" spc="-5" dirty="0">
                <a:latin typeface="Calibri"/>
                <a:cs typeface="Calibri"/>
              </a:rPr>
              <a:t>3.Entries </a:t>
            </a:r>
            <a:r>
              <a:rPr lang="en-US" sz="1800" b="1" i="1" spc="-5" dirty="0">
                <a:latin typeface="Calibri"/>
                <a:cs typeface="Calibri"/>
              </a:rPr>
              <a:t>: </a:t>
            </a:r>
            <a:r>
              <a:rPr lang="en-US" sz="1800" b="1" i="1" spc="-10" dirty="0">
                <a:latin typeface="Calibri"/>
                <a:cs typeface="Calibri"/>
              </a:rPr>
              <a:t>It</a:t>
            </a:r>
            <a:r>
              <a:rPr lang="en-US" sz="1800" b="1" i="1" spc="-5" dirty="0">
                <a:latin typeface="Calibri"/>
                <a:cs typeface="Calibri"/>
              </a:rPr>
              <a:t> will return array of keys and values</a:t>
            </a:r>
            <a:endParaRPr lang="en-US" b="1" i="1" spc="-5" dirty="0">
              <a:latin typeface="Calibri"/>
              <a:cs typeface="Calibri"/>
            </a:endParaRPr>
          </a:p>
          <a:p>
            <a:pPr marL="12700" marR="4544060">
              <a:lnSpc>
                <a:spcPct val="100000"/>
              </a:lnSpc>
            </a:pPr>
            <a:r>
              <a:rPr sz="1800" b="1" i="1" dirty="0">
                <a:latin typeface="Calibri"/>
                <a:cs typeface="Calibri"/>
              </a:rPr>
              <a:t> 4.Assign </a:t>
            </a:r>
            <a:r>
              <a:rPr lang="en-US" sz="1800" b="1" i="1" dirty="0">
                <a:latin typeface="Calibri"/>
                <a:cs typeface="Calibri"/>
              </a:rPr>
              <a:t>: It is used to merge two objects</a:t>
            </a:r>
          </a:p>
          <a:p>
            <a:pPr marL="12700" marR="4544060">
              <a:lnSpc>
                <a:spcPct val="100000"/>
              </a:lnSpc>
            </a:pP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5.Seal </a:t>
            </a:r>
            <a:r>
              <a:rPr lang="en-US" sz="1800" b="1" i="1" dirty="0">
                <a:latin typeface="Calibri"/>
                <a:cs typeface="Calibri"/>
              </a:rPr>
              <a:t>: We can only update the properties </a:t>
            </a:r>
          </a:p>
          <a:p>
            <a:pPr marL="12700" marR="4544060">
              <a:lnSpc>
                <a:spcPct val="100000"/>
              </a:lnSpc>
            </a:pP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6.isSealed </a:t>
            </a:r>
            <a:r>
              <a:rPr lang="en-US" sz="1800" b="1" i="1" dirty="0">
                <a:latin typeface="Calibri"/>
                <a:cs typeface="Calibri"/>
              </a:rPr>
              <a:t>: It is used to check whether the particular object  is sealed or not</a:t>
            </a:r>
          </a:p>
          <a:p>
            <a:pPr marL="12700" marR="4544060">
              <a:lnSpc>
                <a:spcPct val="100000"/>
              </a:lnSpc>
            </a:pPr>
            <a:r>
              <a:rPr sz="1800" b="1" i="1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7.Freeze </a:t>
            </a:r>
            <a:r>
              <a:rPr lang="en-US" b="1" i="1" spc="-5" dirty="0">
                <a:latin typeface="Calibri"/>
                <a:cs typeface="Calibri"/>
              </a:rPr>
              <a:t>: We cannot do any modifications in an object</a:t>
            </a:r>
            <a:endParaRPr lang="en-US" sz="1800" b="1" i="1" spc="-5" dirty="0">
              <a:latin typeface="Calibri"/>
              <a:cs typeface="Calibri"/>
            </a:endParaRPr>
          </a:p>
          <a:p>
            <a:pPr marL="12700" marR="4544060">
              <a:lnSpc>
                <a:spcPct val="100000"/>
              </a:lnSpc>
            </a:pPr>
            <a:r>
              <a:rPr sz="1800" b="1" i="1" spc="-10" dirty="0">
                <a:latin typeface="Calibri"/>
                <a:cs typeface="Calibri"/>
              </a:rPr>
              <a:t>8.Isfrozen</a:t>
            </a:r>
            <a:r>
              <a:rPr lang="en-US" sz="1800" b="1" i="1" spc="-10" dirty="0">
                <a:latin typeface="Calibri"/>
                <a:cs typeface="Calibri"/>
              </a:rPr>
              <a:t> : </a:t>
            </a:r>
            <a:r>
              <a:rPr lang="en-US" sz="1800" b="1" i="1" dirty="0">
                <a:latin typeface="Calibri"/>
                <a:cs typeface="Calibri"/>
              </a:rPr>
              <a:t>It is used to check whether the particular object is frozen or not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i="1" spc="-5" dirty="0">
                <a:latin typeface="Calibri"/>
                <a:cs typeface="Calibri"/>
              </a:rPr>
              <a:t>9.hasOwnProperty</a:t>
            </a:r>
            <a:r>
              <a:rPr lang="en-US" sz="1800" b="1" i="1" spc="-5" dirty="0">
                <a:latin typeface="Calibri"/>
                <a:cs typeface="Calibri"/>
              </a:rPr>
              <a:t> : It is used to </a:t>
            </a:r>
            <a:r>
              <a:rPr lang="en-US" sz="1800" b="1" i="1" dirty="0">
                <a:latin typeface="Calibri"/>
                <a:cs typeface="Calibri"/>
              </a:rPr>
              <a:t>check whether the particular property is present in an object or not.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335" y="719073"/>
            <a:ext cx="9928860" cy="5860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nsolas"/>
                <a:cs typeface="Consolas"/>
              </a:rPr>
              <a:t>let</a:t>
            </a:r>
            <a:r>
              <a:rPr sz="2000" spc="-9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obj4={</a:t>
            </a:r>
            <a:endParaRPr sz="20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</a:pPr>
            <a:r>
              <a:rPr sz="2000" spc="-5" dirty="0">
                <a:latin typeface="Consolas"/>
                <a:cs typeface="Consolas"/>
              </a:rPr>
              <a:t>ename:"lavanya",</a:t>
            </a:r>
            <a:endParaRPr sz="20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id:123,</a:t>
            </a:r>
            <a:endParaRPr sz="20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sal:20000</a:t>
            </a:r>
            <a:endParaRPr sz="20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sz="2000" spc="5" dirty="0">
                <a:latin typeface="Consolas"/>
                <a:cs typeface="Consolas"/>
              </a:rPr>
              <a:t>};</a:t>
            </a:r>
            <a:endParaRPr sz="20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sz="2000" spc="-5" dirty="0">
                <a:latin typeface="Consolas"/>
                <a:cs typeface="Consolas"/>
              </a:rPr>
              <a:t>let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obj5={</a:t>
            </a:r>
            <a:endParaRPr sz="2000" dirty="0">
              <a:latin typeface="Consolas"/>
              <a:cs typeface="Consolas"/>
            </a:endParaRPr>
          </a:p>
          <a:p>
            <a:pPr marL="1015365" marR="7025005">
              <a:lnSpc>
                <a:spcPct val="100000"/>
              </a:lnSpc>
            </a:pPr>
            <a:r>
              <a:rPr sz="2000" spc="-5" dirty="0">
                <a:latin typeface="Consolas"/>
                <a:cs typeface="Consolas"/>
              </a:rPr>
              <a:t>ena</a:t>
            </a:r>
            <a:r>
              <a:rPr sz="2000" dirty="0">
                <a:latin typeface="Consolas"/>
                <a:cs typeface="Consolas"/>
              </a:rPr>
              <a:t>m</a:t>
            </a:r>
            <a:r>
              <a:rPr sz="2000" spc="-5" dirty="0">
                <a:latin typeface="Consolas"/>
                <a:cs typeface="Consolas"/>
              </a:rPr>
              <a:t>e</a:t>
            </a:r>
            <a:r>
              <a:rPr sz="2000" spc="-10" dirty="0">
                <a:latin typeface="Consolas"/>
                <a:cs typeface="Consolas"/>
              </a:rPr>
              <a:t>1:</a:t>
            </a:r>
            <a:r>
              <a:rPr sz="2000" spc="-5" dirty="0">
                <a:latin typeface="Consolas"/>
                <a:cs typeface="Consolas"/>
              </a:rPr>
              <a:t>"</a:t>
            </a:r>
            <a:r>
              <a:rPr sz="2000" dirty="0">
                <a:latin typeface="Consolas"/>
                <a:cs typeface="Consolas"/>
              </a:rPr>
              <a:t>b</a:t>
            </a:r>
            <a:r>
              <a:rPr sz="2000" spc="-5" dirty="0">
                <a:latin typeface="Consolas"/>
                <a:cs typeface="Consolas"/>
              </a:rPr>
              <a:t>uj</a:t>
            </a:r>
            <a:r>
              <a:rPr sz="2000" dirty="0">
                <a:latin typeface="Consolas"/>
                <a:cs typeface="Consolas"/>
              </a:rPr>
              <a:t>j</a:t>
            </a:r>
            <a:r>
              <a:rPr sz="2000" spc="-5" dirty="0">
                <a:latin typeface="Consolas"/>
                <a:cs typeface="Consolas"/>
              </a:rPr>
              <a:t>i"</a:t>
            </a:r>
            <a:r>
              <a:rPr sz="2000" dirty="0">
                <a:latin typeface="Consolas"/>
                <a:cs typeface="Consolas"/>
              </a:rPr>
              <a:t>,  </a:t>
            </a:r>
            <a:r>
              <a:rPr sz="2000" spc="-10" dirty="0">
                <a:latin typeface="Consolas"/>
                <a:cs typeface="Consolas"/>
              </a:rPr>
              <a:t>id1:12, </a:t>
            </a:r>
            <a:r>
              <a:rPr sz="2000" spc="-5" dirty="0">
                <a:latin typeface="Consolas"/>
                <a:cs typeface="Consolas"/>
              </a:rPr>
              <a:t> sal1:40000</a:t>
            </a:r>
            <a:endParaRPr sz="20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sz="2000" spc="5" dirty="0">
                <a:latin typeface="Consolas"/>
                <a:cs typeface="Consolas"/>
              </a:rPr>
              <a:t>};</a:t>
            </a:r>
            <a:endParaRPr sz="2000" dirty="0">
              <a:latin typeface="Consolas"/>
              <a:cs typeface="Consolas"/>
            </a:endParaRPr>
          </a:p>
          <a:p>
            <a:pPr marL="512445" marR="5080">
              <a:lnSpc>
                <a:spcPct val="100000"/>
              </a:lnSpc>
            </a:pPr>
            <a:r>
              <a:rPr sz="2000" spc="-5" dirty="0">
                <a:latin typeface="Consolas"/>
                <a:cs typeface="Consolas"/>
              </a:rPr>
              <a:t>console.log(Object.keys(obj4));//array </a:t>
            </a:r>
            <a:r>
              <a:rPr sz="2000" dirty="0">
                <a:latin typeface="Consolas"/>
                <a:cs typeface="Consolas"/>
              </a:rPr>
              <a:t>of </a:t>
            </a:r>
            <a:r>
              <a:rPr sz="2000" spc="-5" dirty="0">
                <a:latin typeface="Consolas"/>
                <a:cs typeface="Consolas"/>
              </a:rPr>
              <a:t>keys </a:t>
            </a:r>
            <a:r>
              <a:rPr sz="200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console.log(Object.values(obj4))//array of values </a:t>
            </a:r>
            <a:r>
              <a:rPr sz="200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console.log(Object.entries(obj4))//array </a:t>
            </a:r>
            <a:r>
              <a:rPr sz="2000" spc="-10" dirty="0">
                <a:latin typeface="Consolas"/>
                <a:cs typeface="Consolas"/>
              </a:rPr>
              <a:t>of </a:t>
            </a:r>
            <a:r>
              <a:rPr sz="2000" spc="-5" dirty="0">
                <a:latin typeface="Consolas"/>
                <a:cs typeface="Consolas"/>
              </a:rPr>
              <a:t>keys and </a:t>
            </a:r>
            <a:r>
              <a:rPr sz="2000" spc="-10" dirty="0">
                <a:latin typeface="Consolas"/>
                <a:cs typeface="Consolas"/>
              </a:rPr>
              <a:t>values </a:t>
            </a:r>
            <a:r>
              <a:rPr sz="2000" spc="-5" dirty="0">
                <a:latin typeface="Consolas"/>
                <a:cs typeface="Consolas"/>
              </a:rPr>
              <a:t> console.log(Object.assign({},obj4,obj5))//merge multiple objects </a:t>
            </a:r>
            <a:r>
              <a:rPr sz="200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console.log(obj4)//stroring </a:t>
            </a:r>
            <a:r>
              <a:rPr sz="2000" spc="-10" dirty="0">
                <a:latin typeface="Consolas"/>
                <a:cs typeface="Consolas"/>
              </a:rPr>
              <a:t>all </a:t>
            </a:r>
            <a:r>
              <a:rPr sz="2000" spc="-5" dirty="0">
                <a:latin typeface="Consolas"/>
                <a:cs typeface="Consolas"/>
              </a:rPr>
              <a:t>properites </a:t>
            </a:r>
            <a:r>
              <a:rPr sz="2000" dirty="0">
                <a:latin typeface="Consolas"/>
                <a:cs typeface="Consolas"/>
              </a:rPr>
              <a:t>of </a:t>
            </a:r>
            <a:r>
              <a:rPr sz="2000" spc="-5" dirty="0">
                <a:latin typeface="Consolas"/>
                <a:cs typeface="Consolas"/>
              </a:rPr>
              <a:t>obj5 into obj4 </a:t>
            </a:r>
            <a:r>
              <a:rPr sz="200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Object.seal(obj4);//In </a:t>
            </a:r>
            <a:r>
              <a:rPr sz="2000" dirty="0">
                <a:latin typeface="Consolas"/>
                <a:cs typeface="Consolas"/>
              </a:rPr>
              <a:t>seal </a:t>
            </a:r>
            <a:r>
              <a:rPr sz="2000" spc="-5" dirty="0">
                <a:latin typeface="Consolas"/>
                <a:cs typeface="Consolas"/>
              </a:rPr>
              <a:t>method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i </a:t>
            </a:r>
            <a:r>
              <a:rPr sz="2000" spc="-5" dirty="0">
                <a:latin typeface="Consolas"/>
                <a:cs typeface="Consolas"/>
              </a:rPr>
              <a:t>can</a:t>
            </a:r>
            <a:r>
              <a:rPr sz="2000" spc="1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update </a:t>
            </a:r>
            <a:r>
              <a:rPr sz="2000" dirty="0">
                <a:latin typeface="Consolas"/>
                <a:cs typeface="Consolas"/>
              </a:rPr>
              <a:t>can’t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add,i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cant</a:t>
            </a:r>
            <a:r>
              <a:rPr sz="200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remove,can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fetch</a:t>
            </a:r>
            <a:endParaRPr sz="20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sz="2000" spc="-5" dirty="0">
                <a:latin typeface="Consolas"/>
                <a:cs typeface="Consolas"/>
              </a:rPr>
              <a:t>console.log(Object.isSealed(obj4));//true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339" y="695325"/>
            <a:ext cx="9301480" cy="50244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2445" marR="6647815" indent="-5003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nsolas"/>
                <a:cs typeface="Consolas"/>
              </a:rPr>
              <a:t>delete obj4.ename; </a:t>
            </a:r>
            <a:r>
              <a:rPr sz="1800" dirty="0">
                <a:latin typeface="Consolas"/>
                <a:cs typeface="Consolas"/>
              </a:rPr>
              <a:t> c</a:t>
            </a:r>
            <a:r>
              <a:rPr sz="1800" spc="-5" dirty="0">
                <a:latin typeface="Consolas"/>
                <a:cs typeface="Consolas"/>
              </a:rPr>
              <a:t>on</a:t>
            </a:r>
            <a:r>
              <a:rPr sz="1800" dirty="0">
                <a:latin typeface="Consolas"/>
                <a:cs typeface="Consolas"/>
              </a:rPr>
              <a:t>s</a:t>
            </a:r>
            <a:r>
              <a:rPr sz="1800" spc="-5" dirty="0">
                <a:latin typeface="Consolas"/>
                <a:cs typeface="Consolas"/>
              </a:rPr>
              <a:t>ole</a:t>
            </a:r>
            <a:r>
              <a:rPr sz="1800" spc="5" dirty="0">
                <a:latin typeface="Consolas"/>
                <a:cs typeface="Consolas"/>
              </a:rPr>
              <a:t>.</a:t>
            </a:r>
            <a:r>
              <a:rPr sz="1800" spc="-10" dirty="0">
                <a:latin typeface="Consolas"/>
                <a:cs typeface="Consolas"/>
              </a:rPr>
              <a:t>log(</a:t>
            </a:r>
            <a:r>
              <a:rPr sz="1800" spc="5" dirty="0">
                <a:latin typeface="Consolas"/>
                <a:cs typeface="Consolas"/>
              </a:rPr>
              <a:t>o</a:t>
            </a:r>
            <a:r>
              <a:rPr sz="1800" dirty="0">
                <a:latin typeface="Consolas"/>
                <a:cs typeface="Consolas"/>
              </a:rPr>
              <a:t>b</a:t>
            </a:r>
            <a:r>
              <a:rPr sz="1800" spc="-10" dirty="0">
                <a:latin typeface="Consolas"/>
                <a:cs typeface="Consolas"/>
              </a:rPr>
              <a:t>j</a:t>
            </a:r>
            <a:r>
              <a:rPr sz="1800" dirty="0">
                <a:latin typeface="Consolas"/>
                <a:cs typeface="Consolas"/>
              </a:rPr>
              <a:t>4)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 dirty="0">
              <a:latin typeface="Consolas"/>
              <a:cs typeface="Consolas"/>
            </a:endParaRPr>
          </a:p>
          <a:p>
            <a:pPr marL="512445" marR="6021705">
              <a:lnSpc>
                <a:spcPct val="100000"/>
              </a:lnSpc>
            </a:pPr>
            <a:r>
              <a:rPr sz="1800" spc="-5" dirty="0">
                <a:latin typeface="Consolas"/>
                <a:cs typeface="Consolas"/>
              </a:rPr>
              <a:t>obj4.sal=12000; </a:t>
            </a:r>
            <a:r>
              <a:rPr sz="18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console.log(obj4); </a:t>
            </a:r>
            <a:r>
              <a:rPr sz="1800" dirty="0">
                <a:latin typeface="Consolas"/>
                <a:cs typeface="Consolas"/>
              </a:rPr>
              <a:t> c</a:t>
            </a:r>
            <a:r>
              <a:rPr sz="1800" spc="-5" dirty="0">
                <a:latin typeface="Consolas"/>
                <a:cs typeface="Consolas"/>
              </a:rPr>
              <a:t>on</a:t>
            </a:r>
            <a:r>
              <a:rPr sz="1800" dirty="0">
                <a:latin typeface="Consolas"/>
                <a:cs typeface="Consolas"/>
              </a:rPr>
              <a:t>s</a:t>
            </a:r>
            <a:r>
              <a:rPr sz="1800" spc="-5" dirty="0">
                <a:latin typeface="Consolas"/>
                <a:cs typeface="Consolas"/>
              </a:rPr>
              <a:t>ole</a:t>
            </a:r>
            <a:r>
              <a:rPr sz="1800" spc="5" dirty="0">
                <a:latin typeface="Consolas"/>
                <a:cs typeface="Consolas"/>
              </a:rPr>
              <a:t>.</a:t>
            </a:r>
            <a:r>
              <a:rPr sz="1800" spc="-10" dirty="0">
                <a:latin typeface="Consolas"/>
                <a:cs typeface="Consolas"/>
              </a:rPr>
              <a:t>log(</a:t>
            </a:r>
            <a:r>
              <a:rPr sz="1800" spc="5" dirty="0">
                <a:latin typeface="Consolas"/>
                <a:cs typeface="Consolas"/>
              </a:rPr>
              <a:t>o</a:t>
            </a:r>
            <a:r>
              <a:rPr sz="1800" dirty="0">
                <a:latin typeface="Consolas"/>
                <a:cs typeface="Consolas"/>
              </a:rPr>
              <a:t>b</a:t>
            </a:r>
            <a:r>
              <a:rPr sz="1800" spc="-10" dirty="0">
                <a:latin typeface="Consolas"/>
                <a:cs typeface="Consolas"/>
              </a:rPr>
              <a:t>j</a:t>
            </a:r>
            <a:r>
              <a:rPr sz="1800" dirty="0">
                <a:latin typeface="Consolas"/>
                <a:cs typeface="Consolas"/>
              </a:rPr>
              <a:t>4</a:t>
            </a:r>
            <a:r>
              <a:rPr sz="1800" spc="-10" dirty="0">
                <a:latin typeface="Consolas"/>
                <a:cs typeface="Consolas"/>
              </a:rPr>
              <a:t>.sa</a:t>
            </a:r>
            <a:r>
              <a:rPr sz="1800" spc="5" dirty="0">
                <a:latin typeface="Consolas"/>
                <a:cs typeface="Consolas"/>
              </a:rPr>
              <a:t>l</a:t>
            </a:r>
            <a:r>
              <a:rPr sz="1800" spc="-10" dirty="0">
                <a:latin typeface="Consolas"/>
                <a:cs typeface="Consolas"/>
              </a:rPr>
              <a:t>);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 dirty="0">
              <a:latin typeface="Consolas"/>
              <a:cs typeface="Consolas"/>
            </a:endParaRPr>
          </a:p>
          <a:p>
            <a:pPr marL="512445" marR="3765550">
              <a:lnSpc>
                <a:spcPct val="100000"/>
              </a:lnSpc>
            </a:pPr>
            <a:r>
              <a:rPr sz="1800" spc="-5" dirty="0">
                <a:latin typeface="Consolas"/>
                <a:cs typeface="Consolas"/>
              </a:rPr>
              <a:t>Object.freeze(obj4); </a:t>
            </a:r>
            <a:r>
              <a:rPr sz="1800" dirty="0">
                <a:latin typeface="Consolas"/>
                <a:cs typeface="Consolas"/>
              </a:rPr>
              <a:t> co</a:t>
            </a:r>
            <a:r>
              <a:rPr sz="1800" spc="-15" dirty="0">
                <a:latin typeface="Consolas"/>
                <a:cs typeface="Consolas"/>
              </a:rPr>
              <a:t>n</a:t>
            </a:r>
            <a:r>
              <a:rPr sz="1800" dirty="0">
                <a:latin typeface="Consolas"/>
                <a:cs typeface="Consolas"/>
              </a:rPr>
              <a:t>so</a:t>
            </a:r>
            <a:r>
              <a:rPr sz="1800" spc="-15" dirty="0">
                <a:latin typeface="Consolas"/>
                <a:cs typeface="Consolas"/>
              </a:rPr>
              <a:t>l</a:t>
            </a:r>
            <a:r>
              <a:rPr sz="1800" spc="-10" dirty="0">
                <a:latin typeface="Consolas"/>
                <a:cs typeface="Consolas"/>
              </a:rPr>
              <a:t>e</a:t>
            </a:r>
            <a:r>
              <a:rPr sz="1800" spc="5" dirty="0">
                <a:latin typeface="Consolas"/>
                <a:cs typeface="Consolas"/>
              </a:rPr>
              <a:t>.</a:t>
            </a:r>
            <a:r>
              <a:rPr sz="1800" spc="-10" dirty="0">
                <a:latin typeface="Consolas"/>
                <a:cs typeface="Consolas"/>
              </a:rPr>
              <a:t>log(</a:t>
            </a:r>
            <a:r>
              <a:rPr sz="1800" spc="5" dirty="0">
                <a:latin typeface="Consolas"/>
                <a:cs typeface="Consolas"/>
              </a:rPr>
              <a:t>O</a:t>
            </a:r>
            <a:r>
              <a:rPr sz="1800" dirty="0">
                <a:latin typeface="Consolas"/>
                <a:cs typeface="Consolas"/>
              </a:rPr>
              <a:t>b</a:t>
            </a:r>
            <a:r>
              <a:rPr sz="1800" spc="-10" dirty="0">
                <a:latin typeface="Consolas"/>
                <a:cs typeface="Consolas"/>
              </a:rPr>
              <a:t>j</a:t>
            </a:r>
            <a:r>
              <a:rPr sz="1800" spc="5" dirty="0">
                <a:latin typeface="Consolas"/>
                <a:cs typeface="Consolas"/>
              </a:rPr>
              <a:t>e</a:t>
            </a:r>
            <a:r>
              <a:rPr sz="1800" dirty="0">
                <a:latin typeface="Consolas"/>
                <a:cs typeface="Consolas"/>
              </a:rPr>
              <a:t>c</a:t>
            </a:r>
            <a:r>
              <a:rPr sz="1800" spc="-20" dirty="0">
                <a:latin typeface="Consolas"/>
                <a:cs typeface="Consolas"/>
              </a:rPr>
              <a:t>t</a:t>
            </a:r>
            <a:r>
              <a:rPr sz="1800" spc="-10" dirty="0">
                <a:latin typeface="Consolas"/>
                <a:cs typeface="Consolas"/>
              </a:rPr>
              <a:t>.</a:t>
            </a:r>
            <a:r>
              <a:rPr sz="1800" dirty="0">
                <a:latin typeface="Consolas"/>
                <a:cs typeface="Consolas"/>
              </a:rPr>
              <a:t>is</a:t>
            </a:r>
            <a:r>
              <a:rPr sz="1800" spc="-15" dirty="0">
                <a:latin typeface="Consolas"/>
                <a:cs typeface="Consolas"/>
              </a:rPr>
              <a:t>F</a:t>
            </a:r>
            <a:r>
              <a:rPr sz="1800" spc="-10" dirty="0">
                <a:latin typeface="Consolas"/>
                <a:cs typeface="Consolas"/>
              </a:rPr>
              <a:t>ro</a:t>
            </a:r>
            <a:r>
              <a:rPr sz="1800" dirty="0">
                <a:latin typeface="Consolas"/>
                <a:cs typeface="Consolas"/>
              </a:rPr>
              <a:t>ze</a:t>
            </a:r>
            <a:r>
              <a:rPr sz="1800" spc="-10" dirty="0">
                <a:latin typeface="Consolas"/>
                <a:cs typeface="Consolas"/>
              </a:rPr>
              <a:t>n</a:t>
            </a:r>
            <a:r>
              <a:rPr sz="1800" spc="5" dirty="0">
                <a:latin typeface="Consolas"/>
                <a:cs typeface="Consolas"/>
              </a:rPr>
              <a:t>(</a:t>
            </a:r>
            <a:r>
              <a:rPr sz="1800" spc="-10" dirty="0">
                <a:latin typeface="Consolas"/>
                <a:cs typeface="Consolas"/>
              </a:rPr>
              <a:t>obj</a:t>
            </a:r>
            <a:r>
              <a:rPr sz="1800" spc="5" dirty="0">
                <a:latin typeface="Consolas"/>
                <a:cs typeface="Consolas"/>
              </a:rPr>
              <a:t>4</a:t>
            </a:r>
            <a:r>
              <a:rPr sz="1800" spc="-10" dirty="0">
                <a:latin typeface="Consolas"/>
                <a:cs typeface="Consolas"/>
              </a:rPr>
              <a:t>))//</a:t>
            </a:r>
            <a:r>
              <a:rPr sz="1800" dirty="0">
                <a:latin typeface="Consolas"/>
                <a:cs typeface="Consolas"/>
              </a:rPr>
              <a:t>tr</a:t>
            </a:r>
            <a:r>
              <a:rPr sz="1800" spc="-15" dirty="0">
                <a:latin typeface="Consolas"/>
                <a:cs typeface="Consolas"/>
              </a:rPr>
              <a:t>u</a:t>
            </a:r>
            <a:r>
              <a:rPr sz="1800" dirty="0">
                <a:latin typeface="Consolas"/>
                <a:cs typeface="Consolas"/>
              </a:rPr>
              <a:t>e  </a:t>
            </a:r>
            <a:r>
              <a:rPr sz="1800" spc="-5" dirty="0">
                <a:latin typeface="Consolas"/>
                <a:cs typeface="Consolas"/>
              </a:rPr>
              <a:t>obj4.skills="html";</a:t>
            </a:r>
            <a:endParaRPr sz="1800" dirty="0">
              <a:latin typeface="Consolas"/>
              <a:cs typeface="Consolas"/>
            </a:endParaRPr>
          </a:p>
          <a:p>
            <a:pPr marL="512445" marR="664781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onsolas"/>
                <a:cs typeface="Consolas"/>
              </a:rPr>
              <a:t>obj4.sal=300; 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c</a:t>
            </a:r>
            <a:r>
              <a:rPr sz="1800" spc="-5" dirty="0">
                <a:latin typeface="Consolas"/>
                <a:cs typeface="Consolas"/>
              </a:rPr>
              <a:t>on</a:t>
            </a:r>
            <a:r>
              <a:rPr sz="1800" dirty="0">
                <a:latin typeface="Consolas"/>
                <a:cs typeface="Consolas"/>
              </a:rPr>
              <a:t>s</a:t>
            </a:r>
            <a:r>
              <a:rPr sz="1800" spc="-5" dirty="0">
                <a:latin typeface="Consolas"/>
                <a:cs typeface="Consolas"/>
              </a:rPr>
              <a:t>ole</a:t>
            </a:r>
            <a:r>
              <a:rPr sz="1800" spc="5" dirty="0">
                <a:latin typeface="Consolas"/>
                <a:cs typeface="Consolas"/>
              </a:rPr>
              <a:t>.</a:t>
            </a:r>
            <a:r>
              <a:rPr sz="1800" spc="-10" dirty="0">
                <a:latin typeface="Consolas"/>
                <a:cs typeface="Consolas"/>
              </a:rPr>
              <a:t>log(</a:t>
            </a:r>
            <a:r>
              <a:rPr sz="1800" spc="5" dirty="0">
                <a:latin typeface="Consolas"/>
                <a:cs typeface="Consolas"/>
              </a:rPr>
              <a:t>o</a:t>
            </a:r>
            <a:r>
              <a:rPr sz="1800" dirty="0">
                <a:latin typeface="Consolas"/>
                <a:cs typeface="Consolas"/>
              </a:rPr>
              <a:t>b</a:t>
            </a:r>
            <a:r>
              <a:rPr sz="1800" spc="-10" dirty="0">
                <a:latin typeface="Consolas"/>
                <a:cs typeface="Consolas"/>
              </a:rPr>
              <a:t>j</a:t>
            </a:r>
            <a:r>
              <a:rPr sz="1800" dirty="0">
                <a:latin typeface="Consolas"/>
                <a:cs typeface="Consolas"/>
              </a:rPr>
              <a:t>4)</a:t>
            </a:r>
          </a:p>
          <a:p>
            <a:pPr marL="12700" marR="380365" indent="499745">
              <a:lnSpc>
                <a:spcPct val="100000"/>
              </a:lnSpc>
            </a:pPr>
            <a:r>
              <a:rPr sz="1800" spc="-5" dirty="0">
                <a:latin typeface="Consolas"/>
                <a:cs typeface="Consolas"/>
              </a:rPr>
              <a:t>console.log(obj4)//freeze object we cant add,we cant update,we cant </a:t>
            </a:r>
            <a:r>
              <a:rPr sz="1800" spc="-97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delete,we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can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fetch</a:t>
            </a:r>
            <a:endParaRPr sz="18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sz="1800" spc="-5" dirty="0">
                <a:latin typeface="Consolas"/>
                <a:cs typeface="Consolas"/>
              </a:rPr>
              <a:t>delete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obj4.id</a:t>
            </a:r>
            <a:endParaRPr sz="18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sz="1800" spc="-5" dirty="0">
                <a:latin typeface="Consolas"/>
                <a:cs typeface="Consolas"/>
              </a:rPr>
              <a:t>console.log(obj4);</a:t>
            </a:r>
            <a:endParaRPr sz="1800" dirty="0">
              <a:latin typeface="Consolas"/>
              <a:cs typeface="Consolas"/>
            </a:endParaRPr>
          </a:p>
          <a:p>
            <a:pPr marL="12700" marR="5080" indent="499745">
              <a:lnSpc>
                <a:spcPct val="100000"/>
              </a:lnSpc>
            </a:pPr>
            <a:r>
              <a:rPr sz="1800" spc="-5" dirty="0">
                <a:latin typeface="Consolas"/>
                <a:cs typeface="Consolas"/>
              </a:rPr>
              <a:t>console.log(obj4.hasOwnProperty("ename"));//if the property </a:t>
            </a:r>
            <a:r>
              <a:rPr sz="1800" dirty="0">
                <a:latin typeface="Consolas"/>
                <a:cs typeface="Consolas"/>
              </a:rPr>
              <a:t>is </a:t>
            </a:r>
            <a:r>
              <a:rPr sz="1800" spc="-5" dirty="0">
                <a:latin typeface="Consolas"/>
                <a:cs typeface="Consolas"/>
              </a:rPr>
              <a:t>present </a:t>
            </a:r>
            <a:r>
              <a:rPr sz="1800" spc="-97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means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it will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return true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else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false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4363" y="1032764"/>
            <a:ext cx="2516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5" dirty="0">
                <a:uFill>
                  <a:solidFill>
                    <a:srgbClr val="000000"/>
                  </a:solidFill>
                </a:uFill>
              </a:rPr>
              <a:t>LOOPS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1800" u="sng" spc="110" dirty="0">
                <a:uFill>
                  <a:solidFill>
                    <a:srgbClr val="000000"/>
                  </a:solidFill>
                </a:uFill>
              </a:rPr>
              <a:t>IN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1800" u="sng" spc="-100" dirty="0">
                <a:uFill>
                  <a:solidFill>
                    <a:srgbClr val="000000"/>
                  </a:solidFill>
                </a:uFill>
              </a:rPr>
              <a:t>JAVASCRIPT</a:t>
            </a:r>
            <a:endParaRPr sz="1800" dirty="0"/>
          </a:p>
        </p:txBody>
      </p:sp>
      <p:sp>
        <p:nvSpPr>
          <p:cNvPr id="3" name="object 3"/>
          <p:cNvSpPr/>
          <p:nvPr/>
        </p:nvSpPr>
        <p:spPr>
          <a:xfrm>
            <a:off x="904875" y="2057719"/>
            <a:ext cx="7548042" cy="1845945"/>
          </a:xfrm>
          <a:custGeom>
            <a:avLst/>
            <a:gdLst/>
            <a:ahLst/>
            <a:cxnLst/>
            <a:rect l="l" t="t" r="r" b="b"/>
            <a:pathLst>
              <a:path w="9084945" h="1845945">
                <a:moveTo>
                  <a:pt x="9084564" y="0"/>
                </a:moveTo>
                <a:lnTo>
                  <a:pt x="0" y="0"/>
                </a:lnTo>
                <a:lnTo>
                  <a:pt x="0" y="1845564"/>
                </a:lnTo>
                <a:lnTo>
                  <a:pt x="9084564" y="1845564"/>
                </a:lnTo>
                <a:lnTo>
                  <a:pt x="90845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6116" y="1657857"/>
            <a:ext cx="8536509" cy="44916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Loops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execute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number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times</a:t>
            </a:r>
            <a:r>
              <a:rPr sz="1800" dirty="0">
                <a:latin typeface="Calibri"/>
                <a:cs typeface="Calibri"/>
              </a:rPr>
              <a:t>.</a:t>
            </a:r>
          </a:p>
          <a:p>
            <a:pPr marL="81280">
              <a:lnSpc>
                <a:spcPct val="100000"/>
              </a:lnSpc>
            </a:pPr>
            <a:endParaRPr sz="15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93675" lvl="1" indent="-113030">
              <a:lnSpc>
                <a:spcPct val="100000"/>
              </a:lnSpc>
              <a:spcBef>
                <a:spcPts val="5"/>
              </a:spcBef>
              <a:buSzPct val="93750"/>
              <a:buChar char="•"/>
              <a:tabLst>
                <a:tab pos="194310" algn="l"/>
              </a:tabLst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for</a:t>
            </a:r>
            <a:r>
              <a:rPr lang="en-US" sz="1600" spc="-10" dirty="0">
                <a:solidFill>
                  <a:schemeClr val="bg1"/>
                </a:solidFill>
                <a:latin typeface="Consolas"/>
                <a:cs typeface="Consolas"/>
              </a:rPr>
              <a:t>each</a:t>
            </a:r>
            <a:r>
              <a:rPr sz="1600" spc="-320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-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loops</a:t>
            </a:r>
            <a:r>
              <a:rPr sz="1600" spc="2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through</a:t>
            </a:r>
            <a:r>
              <a:rPr sz="1600" spc="3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block</a:t>
            </a:r>
            <a:r>
              <a:rPr sz="1600" spc="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of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code</a:t>
            </a:r>
            <a:r>
              <a:rPr sz="1600" spc="1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number</a:t>
            </a:r>
            <a:r>
              <a:rPr sz="1600" spc="4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of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times</a:t>
            </a:r>
            <a:endParaRPr sz="16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93675" lvl="1" indent="-113030">
              <a:lnSpc>
                <a:spcPct val="100000"/>
              </a:lnSpc>
              <a:buSzPct val="93750"/>
              <a:buChar char="•"/>
              <a:tabLst>
                <a:tab pos="194310" algn="l"/>
              </a:tabLst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for/in</a:t>
            </a:r>
            <a:r>
              <a:rPr sz="1600" spc="-330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-</a:t>
            </a:r>
            <a:r>
              <a:rPr sz="1600" spc="1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loops</a:t>
            </a:r>
            <a:r>
              <a:rPr sz="1600" spc="2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through</a:t>
            </a:r>
            <a:r>
              <a:rPr sz="1600" spc="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the properties</a:t>
            </a:r>
            <a:r>
              <a:rPr sz="1600" spc="3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of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an</a:t>
            </a:r>
            <a:r>
              <a:rPr sz="1600" spc="1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object</a:t>
            </a:r>
            <a:endParaRPr sz="16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93675" lvl="1" indent="-113030">
              <a:lnSpc>
                <a:spcPct val="100000"/>
              </a:lnSpc>
              <a:buSzPct val="93750"/>
              <a:buChar char="•"/>
              <a:tabLst>
                <a:tab pos="194310" algn="l"/>
              </a:tabLst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for/of</a:t>
            </a:r>
            <a:r>
              <a:rPr sz="1600" spc="-330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-</a:t>
            </a:r>
            <a:r>
              <a:rPr sz="1600" spc="1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loops</a:t>
            </a:r>
            <a:r>
              <a:rPr sz="1600" spc="2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through</a:t>
            </a:r>
            <a:r>
              <a:rPr sz="1600" spc="3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the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 values</a:t>
            </a:r>
            <a:r>
              <a:rPr sz="1600" spc="3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of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an</a:t>
            </a:r>
            <a:r>
              <a:rPr sz="1600" spc="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iterable</a:t>
            </a:r>
            <a:r>
              <a:rPr sz="1600" spc="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object</a:t>
            </a:r>
            <a:endParaRPr sz="16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589915" algn="l"/>
              </a:tabLst>
            </a:pPr>
            <a:r>
              <a:rPr sz="2700" u="sng" spc="-44" baseline="4629" dirty="0">
                <a:solidFill>
                  <a:schemeClr val="bg1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lang="en-US" sz="2700" u="sng" spc="-44" baseline="4629" dirty="0">
                <a:solidFill>
                  <a:schemeClr val="bg1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each()</a:t>
            </a:r>
            <a:r>
              <a:rPr sz="2700" u="sng" spc="-44" baseline="4629" dirty="0">
                <a:solidFill>
                  <a:schemeClr val="bg1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:-</a:t>
            </a:r>
            <a:endParaRPr lang="en-US" sz="2700" u="sng" spc="-44" baseline="4629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forEach()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 method calls a function for each element in an array.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forEach()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 method is not executed for empty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u="sng" dirty="0">
                <a:latin typeface="Verdana" panose="020B0604030504040204" pitchFamily="34" charset="0"/>
              </a:rPr>
              <a:t>Example:</a:t>
            </a:r>
            <a:endParaRPr kumimoji="0" lang="en-US" altLang="en-US" sz="1200" b="0" i="0" u="sng" strike="noStrike" cap="none" normalizeH="0" baseline="0" dirty="0">
              <a:ln>
                <a:noFill/>
              </a:ln>
              <a:effectLst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589915" algn="l"/>
              </a:tabLst>
            </a:pPr>
            <a:r>
              <a:rPr lang="en-US" sz="3200" spc="-44" baseline="4629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const array1 = ['a', 'b', 'c’];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589915" algn="l"/>
              </a:tabLst>
            </a:pPr>
            <a:r>
              <a:rPr lang="en-US" sz="3200" spc="-44" baseline="4629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array1.forEach((element) =&gt; console.log(element));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589915" algn="l"/>
              </a:tabLst>
            </a:pPr>
            <a:endParaRPr lang="en-US" sz="2700" u="sng" spc="-44" baseline="4629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589915" algn="l"/>
              </a:tabLst>
            </a:pPr>
            <a:endParaRPr lang="en-US" sz="16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861" y="622172"/>
            <a:ext cx="7658100" cy="4614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spc="-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pc="-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Output:-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2</a:t>
            </a: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3</a:t>
            </a: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4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latin typeface="Times New Roman"/>
                <a:cs typeface="Times New Roman"/>
              </a:rPr>
              <a:t>5</a:t>
            </a: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sz="2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000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000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loop:-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40"/>
              </a:spcBef>
            </a:pPr>
            <a:r>
              <a:rPr spc="-5" dirty="0">
                <a:latin typeface="Verdana"/>
                <a:cs typeface="Verdana"/>
              </a:rPr>
              <a:t>Iterable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objects</a:t>
            </a:r>
            <a:r>
              <a:rPr spc="3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are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objects</a:t>
            </a:r>
            <a:r>
              <a:rPr spc="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that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can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be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iterated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over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with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DC133B"/>
                </a:solidFill>
                <a:latin typeface="Consolas"/>
                <a:cs typeface="Consolas"/>
              </a:rPr>
              <a:t>for..of</a:t>
            </a:r>
            <a:r>
              <a:rPr spc="-10" dirty="0">
                <a:latin typeface="Verdana"/>
                <a:cs typeface="Verdana"/>
              </a:rPr>
              <a:t>.</a:t>
            </a:r>
            <a:r>
              <a:rPr spc="-175" dirty="0">
                <a:latin typeface="Verdana"/>
                <a:cs typeface="Verdana"/>
              </a:rPr>
              <a:t> </a:t>
            </a:r>
            <a:r>
              <a:rPr sz="2000" spc="-5" dirty="0">
                <a:latin typeface="Calibri"/>
                <a:cs typeface="Calibri"/>
              </a:rPr>
              <a:t>&lt;script&gt; </a:t>
            </a:r>
            <a:r>
              <a:rPr sz="2000" spc="-390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Ex:-</a:t>
            </a:r>
            <a:r>
              <a:rPr sz="2000" spc="-10" dirty="0">
                <a:latin typeface="Calibri"/>
                <a:cs typeface="Calibri"/>
              </a:rPr>
              <a:t>const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name</a:t>
            </a:r>
            <a:r>
              <a:rPr sz="2000" dirty="0">
                <a:latin typeface="Calibri"/>
                <a:cs typeface="Calibri"/>
              </a:rPr>
              <a:t> =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"W3Schools";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</a:pPr>
            <a:r>
              <a:rPr sz="2000" spc="-5" dirty="0">
                <a:latin typeface="Calibri"/>
                <a:cs typeface="Calibri"/>
              </a:rPr>
              <a:t>let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text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""</a:t>
            </a:r>
          </a:p>
          <a:p>
            <a:pPr marL="117475" marR="5586095" indent="-10541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(const </a:t>
            </a:r>
            <a:r>
              <a:rPr sz="2000" dirty="0">
                <a:latin typeface="Calibri"/>
                <a:cs typeface="Calibri"/>
              </a:rPr>
              <a:t>x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lang="en-IN" sz="2000" spc="-5" dirty="0">
                <a:latin typeface="Calibri"/>
                <a:cs typeface="Calibri"/>
              </a:rPr>
              <a:t> name)</a:t>
            </a:r>
            <a:r>
              <a:rPr sz="2000" dirty="0">
                <a:latin typeface="Calibri"/>
                <a:cs typeface="Calibri"/>
              </a:rPr>
              <a:t>{ </a:t>
            </a:r>
            <a:r>
              <a:rPr sz="2000" spc="-39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text </a:t>
            </a:r>
            <a:r>
              <a:rPr sz="2000" spc="-5" dirty="0">
                <a:latin typeface="Calibri"/>
                <a:cs typeface="Calibri"/>
              </a:rPr>
              <a:t>+=</a:t>
            </a:r>
            <a:r>
              <a:rPr sz="2000" dirty="0">
                <a:latin typeface="Calibri"/>
                <a:cs typeface="Calibri"/>
              </a:rPr>
              <a:t> x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"&lt;br&gt;";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501637"/>
            <a:ext cx="1146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1800" spc="-40" dirty="0">
                <a:solidFill>
                  <a:srgbClr val="FF0000"/>
                </a:solidFill>
                <a:latin typeface="Times New Roman"/>
                <a:cs typeface="Times New Roman"/>
              </a:rPr>
              <a:t> in 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loop:-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3963" y="801357"/>
            <a:ext cx="5591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u="none" spc="-5" dirty="0">
                <a:latin typeface="Times New Roman"/>
                <a:cs typeface="Times New Roman"/>
              </a:rPr>
              <a:t>The </a:t>
            </a:r>
            <a:r>
              <a:rPr sz="1800" b="0" u="none" spc="-70" dirty="0">
                <a:latin typeface="Times New Roman"/>
                <a:cs typeface="Times New Roman"/>
              </a:rPr>
              <a:t>JavaScript</a:t>
            </a:r>
            <a:r>
              <a:rPr sz="1800" b="0" u="none" spc="15" dirty="0">
                <a:latin typeface="Times New Roman"/>
                <a:cs typeface="Times New Roman"/>
              </a:rPr>
              <a:t> </a:t>
            </a:r>
            <a:r>
              <a:rPr sz="1800" b="0" u="none" spc="-5" dirty="0">
                <a:latin typeface="Times New Roman"/>
                <a:cs typeface="Times New Roman"/>
              </a:rPr>
              <a:t>for </a:t>
            </a:r>
            <a:r>
              <a:rPr sz="1800" b="0" u="none" spc="-40" dirty="0">
                <a:latin typeface="Times New Roman"/>
                <a:cs typeface="Times New Roman"/>
              </a:rPr>
              <a:t>in</a:t>
            </a:r>
            <a:r>
              <a:rPr lang="en-US" sz="1800" b="0" u="none" spc="-40" dirty="0">
                <a:latin typeface="Times New Roman"/>
                <a:cs typeface="Times New Roman"/>
              </a:rPr>
              <a:t> loop</a:t>
            </a:r>
            <a:r>
              <a:rPr sz="1800" b="0" u="none" spc="-5" dirty="0">
                <a:latin typeface="Times New Roman"/>
                <a:cs typeface="Times New Roman"/>
              </a:rPr>
              <a:t> </a:t>
            </a:r>
            <a:r>
              <a:rPr lang="en-US" sz="1800" b="0" u="none" spc="-5" dirty="0">
                <a:latin typeface="Times New Roman"/>
                <a:cs typeface="Times New Roman"/>
              </a:rPr>
              <a:t>iterates over</a:t>
            </a:r>
            <a:r>
              <a:rPr sz="1800" b="0" u="none" spc="-30" dirty="0">
                <a:latin typeface="Times New Roman"/>
                <a:cs typeface="Times New Roman"/>
              </a:rPr>
              <a:t> </a:t>
            </a:r>
            <a:r>
              <a:rPr sz="1800" b="0" u="none" dirty="0">
                <a:latin typeface="Times New Roman"/>
                <a:cs typeface="Times New Roman"/>
              </a:rPr>
              <a:t>the</a:t>
            </a:r>
            <a:r>
              <a:rPr sz="1800" b="0" u="none" spc="-15" dirty="0">
                <a:latin typeface="Times New Roman"/>
                <a:cs typeface="Times New Roman"/>
              </a:rPr>
              <a:t> </a:t>
            </a:r>
            <a:r>
              <a:rPr lang="en-US" sz="1800" b="0" u="none" spc="-15" dirty="0">
                <a:latin typeface="Times New Roman"/>
                <a:cs typeface="Times New Roman"/>
              </a:rPr>
              <a:t>keys</a:t>
            </a:r>
            <a:r>
              <a:rPr sz="1800" b="0" u="none" spc="-15" dirty="0">
                <a:latin typeface="Times New Roman"/>
                <a:cs typeface="Times New Roman"/>
              </a:rPr>
              <a:t> </a:t>
            </a:r>
            <a:r>
              <a:rPr sz="1800" b="0" u="none" spc="-5" dirty="0">
                <a:latin typeface="Times New Roman"/>
                <a:cs typeface="Times New Roman"/>
              </a:rPr>
              <a:t>of</a:t>
            </a:r>
            <a:r>
              <a:rPr sz="1800" b="0" u="none" spc="215" dirty="0">
                <a:latin typeface="Times New Roman"/>
                <a:cs typeface="Times New Roman"/>
              </a:rPr>
              <a:t> </a:t>
            </a:r>
            <a:r>
              <a:rPr sz="1800" b="0" u="none" spc="-30" dirty="0">
                <a:latin typeface="Times New Roman"/>
                <a:cs typeface="Times New Roman"/>
              </a:rPr>
              <a:t>an</a:t>
            </a:r>
            <a:r>
              <a:rPr sz="1800" b="0" u="none" spc="-5" dirty="0">
                <a:latin typeface="Times New Roman"/>
                <a:cs typeface="Times New Roman"/>
              </a:rPr>
              <a:t> </a:t>
            </a:r>
            <a:r>
              <a:rPr sz="1800" b="0" u="none" spc="-25" dirty="0">
                <a:latin typeface="Times New Roman"/>
                <a:cs typeface="Times New Roman"/>
              </a:rPr>
              <a:t>object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0" u="none" spc="-40" dirty="0">
                <a:solidFill>
                  <a:srgbClr val="FF0000"/>
                </a:solidFill>
                <a:latin typeface="Times New Roman"/>
                <a:cs typeface="Times New Roman"/>
              </a:rPr>
              <a:t>Ex:-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963" y="1625346"/>
            <a:ext cx="10344164" cy="47833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87465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const</a:t>
            </a:r>
            <a:r>
              <a:rPr sz="2000" spc="-25" dirty="0">
                <a:latin typeface="Times New Roman"/>
                <a:cs typeface="Times New Roman"/>
              </a:rPr>
              <a:t> object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18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{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a: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1,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b: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2,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c: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3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}; </a:t>
            </a:r>
            <a:r>
              <a:rPr sz="2000" spc="-43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(const </a:t>
            </a:r>
            <a:r>
              <a:rPr sz="2000" spc="-15" dirty="0">
                <a:latin typeface="Times New Roman"/>
                <a:cs typeface="Times New Roman"/>
              </a:rPr>
              <a:t>property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object)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35" dirty="0">
                <a:latin typeface="Times New Roman"/>
                <a:cs typeface="Times New Roman"/>
              </a:rPr>
              <a:t>console.log(`${property}: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${object[property]}`);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395" dirty="0">
                <a:latin typeface="Times New Roman"/>
                <a:cs typeface="Times New Roman"/>
              </a:rPr>
              <a:t>//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Expected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output: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395" dirty="0">
                <a:latin typeface="Times New Roman"/>
                <a:cs typeface="Times New Roman"/>
              </a:rPr>
              <a:t>//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"a: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1“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395" dirty="0">
                <a:latin typeface="Times New Roman"/>
                <a:cs typeface="Times New Roman"/>
              </a:rPr>
              <a:t>//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"b: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2“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395" dirty="0">
                <a:latin typeface="Times New Roman"/>
                <a:cs typeface="Times New Roman"/>
              </a:rPr>
              <a:t>//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"c: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3“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DATE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OBJECT:-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pc="-5" dirty="0">
                <a:latin typeface="Verdana"/>
                <a:cs typeface="Verdana"/>
              </a:rPr>
              <a:t>When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a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date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object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is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created,</a:t>
            </a:r>
            <a:r>
              <a:rPr spc="3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a</a:t>
            </a:r>
            <a:r>
              <a:rPr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number</a:t>
            </a:r>
            <a:r>
              <a:rPr spc="4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of</a:t>
            </a:r>
            <a:r>
              <a:rPr spc="30" dirty="0">
                <a:latin typeface="Verdana"/>
                <a:cs typeface="Verdana"/>
              </a:rPr>
              <a:t> </a:t>
            </a:r>
            <a:r>
              <a:rPr b="1" spc="-5" dirty="0">
                <a:latin typeface="Verdana"/>
                <a:cs typeface="Verdana"/>
              </a:rPr>
              <a:t>methods</a:t>
            </a:r>
            <a:r>
              <a:rPr b="1" spc="3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allow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you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to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operate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on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it.</a:t>
            </a:r>
            <a:endParaRPr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600" dirty="0">
              <a:latin typeface="Verdana"/>
              <a:cs typeface="Verdan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pc="-5" dirty="0">
                <a:latin typeface="Verdana"/>
                <a:cs typeface="Verdana"/>
              </a:rPr>
              <a:t>Date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methods</a:t>
            </a:r>
            <a:r>
              <a:rPr spc="5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allow</a:t>
            </a:r>
            <a:r>
              <a:rPr spc="2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you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to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get</a:t>
            </a:r>
            <a:r>
              <a:rPr spc="-5" dirty="0">
                <a:latin typeface="Verdana"/>
                <a:cs typeface="Verdana"/>
              </a:rPr>
              <a:t> and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set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the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5" dirty="0">
                <a:latin typeface="Verdana"/>
                <a:cs typeface="Verdana"/>
              </a:rPr>
              <a:t>year,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month,</a:t>
            </a:r>
            <a:r>
              <a:rPr spc="35" dirty="0">
                <a:latin typeface="Verdana"/>
                <a:cs typeface="Verdana"/>
              </a:rPr>
              <a:t> </a:t>
            </a:r>
            <a:r>
              <a:rPr spc="-45" dirty="0">
                <a:latin typeface="Verdana"/>
                <a:cs typeface="Verdana"/>
              </a:rPr>
              <a:t>day,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0" dirty="0">
                <a:latin typeface="Verdana"/>
                <a:cs typeface="Verdana"/>
              </a:rPr>
              <a:t>hour,</a:t>
            </a:r>
            <a:r>
              <a:rPr spc="3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minute,</a:t>
            </a:r>
            <a:r>
              <a:rPr spc="3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second,</a:t>
            </a:r>
            <a:r>
              <a:rPr spc="4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and</a:t>
            </a:r>
            <a:endParaRPr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pc="-10" dirty="0">
                <a:latin typeface="Verdana"/>
                <a:cs typeface="Verdana"/>
              </a:rPr>
              <a:t>millisecond</a:t>
            </a:r>
            <a:r>
              <a:rPr spc="6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of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date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objects,</a:t>
            </a:r>
            <a:r>
              <a:rPr spc="3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using</a:t>
            </a:r>
            <a:r>
              <a:rPr spc="4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either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local</a:t>
            </a:r>
            <a:r>
              <a:rPr spc="3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time</a:t>
            </a:r>
            <a:r>
              <a:rPr spc="3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or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15" dirty="0">
                <a:latin typeface="Verdana"/>
                <a:cs typeface="Verdana"/>
              </a:rPr>
              <a:t>UTC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(universal,</a:t>
            </a:r>
            <a:r>
              <a:rPr spc="6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or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GMT)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time.</a:t>
            </a:r>
            <a:endParaRPr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870839"/>
            <a:ext cx="9359265" cy="5238115"/>
          </a:xfrm>
          <a:custGeom>
            <a:avLst/>
            <a:gdLst/>
            <a:ahLst/>
            <a:cxnLst/>
            <a:rect l="l" t="t" r="r" b="b"/>
            <a:pathLst>
              <a:path w="9359265" h="5238115">
                <a:moveTo>
                  <a:pt x="9358884" y="0"/>
                </a:moveTo>
                <a:lnTo>
                  <a:pt x="0" y="0"/>
                </a:lnTo>
                <a:lnTo>
                  <a:pt x="0" y="5237988"/>
                </a:lnTo>
                <a:lnTo>
                  <a:pt x="9358884" y="5237988"/>
                </a:lnTo>
                <a:lnTo>
                  <a:pt x="93588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9288" y="391281"/>
            <a:ext cx="555335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5" dirty="0">
                <a:latin typeface="Segoe UI"/>
                <a:cs typeface="Segoe UI"/>
              </a:rPr>
              <a:t>Creating</a:t>
            </a:r>
            <a:r>
              <a:rPr sz="2400" u="sng" spc="-45" dirty="0">
                <a:latin typeface="Segoe UI"/>
                <a:cs typeface="Segoe UI"/>
              </a:rPr>
              <a:t> </a:t>
            </a:r>
            <a:r>
              <a:rPr sz="2400" u="sng" spc="-10" dirty="0">
                <a:latin typeface="Segoe UI"/>
                <a:cs typeface="Segoe UI"/>
              </a:rPr>
              <a:t>Date</a:t>
            </a:r>
            <a:r>
              <a:rPr sz="2400" u="sng" spc="-25" dirty="0">
                <a:latin typeface="Segoe UI"/>
                <a:cs typeface="Segoe UI"/>
              </a:rPr>
              <a:t> </a:t>
            </a:r>
            <a:r>
              <a:rPr sz="2400" u="sng" spc="-5" dirty="0">
                <a:latin typeface="Segoe UI"/>
                <a:cs typeface="Segoe UI"/>
              </a:rPr>
              <a:t>Objects</a:t>
            </a:r>
            <a:endParaRPr sz="2400" u="sng" dirty="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0845" y="1057507"/>
            <a:ext cx="9591955" cy="58156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1024255">
              <a:lnSpc>
                <a:spcPct val="103099"/>
              </a:lnSpc>
              <a:spcBef>
                <a:spcPts val="35"/>
              </a:spcBef>
            </a:pP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Date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objects</a:t>
            </a:r>
            <a:r>
              <a:rPr sz="1600" spc="3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are</a:t>
            </a:r>
            <a:r>
              <a:rPr sz="1600" spc="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created</a:t>
            </a:r>
            <a:r>
              <a:rPr sz="1600" spc="2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with</a:t>
            </a:r>
            <a:r>
              <a:rPr sz="1600" spc="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the</a:t>
            </a:r>
            <a:r>
              <a:rPr sz="1600" spc="2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nsolas"/>
                <a:cs typeface="Consolas"/>
              </a:rPr>
              <a:t>new</a:t>
            </a:r>
            <a:r>
              <a:rPr sz="1600" spc="-2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nsolas"/>
                <a:cs typeface="Consolas"/>
              </a:rPr>
              <a:t>Date()</a:t>
            </a:r>
            <a:r>
              <a:rPr sz="1600" spc="-320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chemeClr val="bg1"/>
                </a:solidFill>
                <a:latin typeface="Verdana"/>
                <a:cs typeface="Verdana"/>
              </a:rPr>
              <a:t>constructor. </a:t>
            </a:r>
            <a:r>
              <a:rPr sz="1600" spc="-55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There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are</a:t>
            </a:r>
            <a:r>
              <a:rPr sz="1600" spc="1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b="1" spc="-5" dirty="0">
                <a:solidFill>
                  <a:schemeClr val="bg1"/>
                </a:solidFill>
                <a:latin typeface="Verdana"/>
                <a:cs typeface="Verdana"/>
              </a:rPr>
              <a:t>9 ways</a:t>
            </a:r>
            <a:r>
              <a:rPr sz="1600" b="1" spc="3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to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create</a:t>
            </a:r>
            <a:r>
              <a:rPr sz="1600" spc="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a</a:t>
            </a:r>
            <a:r>
              <a:rPr sz="1600" spc="1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new date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object:</a:t>
            </a:r>
            <a:endParaRPr sz="1600" dirty="0">
              <a:solidFill>
                <a:schemeClr val="bg1"/>
              </a:solidFill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onsolas"/>
                <a:cs typeface="Consolas"/>
              </a:rPr>
              <a:t>new</a:t>
            </a:r>
            <a:r>
              <a:rPr sz="1600" spc="-60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Date()</a:t>
            </a:r>
            <a:endParaRPr sz="1600" dirty="0">
              <a:solidFill>
                <a:schemeClr val="bg1"/>
              </a:solidFill>
              <a:latin typeface="Consolas"/>
              <a:cs typeface="Consolas"/>
            </a:endParaRPr>
          </a:p>
          <a:p>
            <a:pPr marL="12700" marR="42291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new</a:t>
            </a:r>
            <a:r>
              <a:rPr sz="1600" spc="3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nsolas"/>
                <a:cs typeface="Consolas"/>
              </a:rPr>
              <a:t>Date(</a:t>
            </a:r>
            <a:r>
              <a:rPr sz="1600" i="1" spc="-5" dirty="0">
                <a:solidFill>
                  <a:schemeClr val="bg1"/>
                </a:solidFill>
                <a:latin typeface="Consolas"/>
                <a:cs typeface="Consolas"/>
              </a:rPr>
              <a:t>date</a:t>
            </a:r>
            <a:r>
              <a:rPr sz="1600" i="1" spc="3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i="1" spc="-10" dirty="0">
                <a:solidFill>
                  <a:schemeClr val="bg1"/>
                </a:solidFill>
                <a:latin typeface="Consolas"/>
                <a:cs typeface="Consolas"/>
              </a:rPr>
              <a:t>string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) </a:t>
            </a:r>
            <a:r>
              <a:rPr sz="1600" spc="-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endParaRPr lang="en-US" sz="1600" spc="-5" dirty="0">
              <a:solidFill>
                <a:schemeClr val="bg1"/>
              </a:solidFill>
              <a:latin typeface="Consolas"/>
              <a:cs typeface="Consolas"/>
            </a:endParaRPr>
          </a:p>
          <a:p>
            <a:pPr marL="12700" marR="4229100">
              <a:lnSpc>
                <a:spcPct val="100000"/>
              </a:lnSpc>
              <a:spcBef>
                <a:spcPts val="5"/>
              </a:spcBef>
            </a:pPr>
            <a:r>
              <a:rPr lang="en-IN" sz="1600" spc="-5" dirty="0">
                <a:solidFill>
                  <a:schemeClr val="bg1"/>
                </a:solidFill>
                <a:latin typeface="Arial MT"/>
                <a:cs typeface="Arial MT"/>
              </a:rPr>
              <a:t>n</a:t>
            </a:r>
            <a:r>
              <a:rPr sz="1600" spc="-5" dirty="0" err="1">
                <a:solidFill>
                  <a:schemeClr val="bg1"/>
                </a:solidFill>
                <a:latin typeface="Consolas"/>
                <a:cs typeface="Consolas"/>
              </a:rPr>
              <a:t>ew</a:t>
            </a:r>
            <a:r>
              <a:rPr lang="en-US" sz="1600" spc="980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Date(</a:t>
            </a:r>
            <a:r>
              <a:rPr sz="1600" i="1" spc="-10" dirty="0">
                <a:solidFill>
                  <a:schemeClr val="bg1"/>
                </a:solidFill>
                <a:latin typeface="Consolas"/>
                <a:cs typeface="Consolas"/>
              </a:rPr>
              <a:t>year,month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) </a:t>
            </a:r>
            <a:r>
              <a:rPr sz="1600" spc="-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endParaRPr lang="en-US" sz="1600" spc="-5" dirty="0">
              <a:solidFill>
                <a:schemeClr val="bg1"/>
              </a:solidFill>
              <a:latin typeface="Consolas"/>
              <a:cs typeface="Consolas"/>
            </a:endParaRPr>
          </a:p>
          <a:p>
            <a:pPr marL="12700" marR="42291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new Date(</a:t>
            </a:r>
            <a:r>
              <a:rPr sz="1600" i="1" spc="-10" dirty="0">
                <a:solidFill>
                  <a:schemeClr val="bg1"/>
                </a:solidFill>
                <a:latin typeface="Consolas"/>
                <a:cs typeface="Consolas"/>
              </a:rPr>
              <a:t>year,month,day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  <a:endParaRPr sz="1600" dirty="0">
              <a:solidFill>
                <a:schemeClr val="bg1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new</a:t>
            </a:r>
            <a:r>
              <a:rPr sz="1600" spc="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Date(</a:t>
            </a:r>
            <a:r>
              <a:rPr sz="1600" i="1" spc="-10" dirty="0">
                <a:solidFill>
                  <a:schemeClr val="bg1"/>
                </a:solidFill>
                <a:latin typeface="Consolas"/>
                <a:cs typeface="Consolas"/>
              </a:rPr>
              <a:t>year,month,day,hours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  <a:endParaRPr sz="1600" dirty="0">
              <a:solidFill>
                <a:schemeClr val="bg1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new</a:t>
            </a:r>
            <a:r>
              <a:rPr sz="1600" spc="3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Date(</a:t>
            </a:r>
            <a:r>
              <a:rPr sz="1600" i="1" spc="-10" dirty="0">
                <a:solidFill>
                  <a:schemeClr val="bg1"/>
                </a:solidFill>
                <a:latin typeface="Consolas"/>
                <a:cs typeface="Consolas"/>
              </a:rPr>
              <a:t>year,month,day,hours,minutes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  <a:endParaRPr sz="1600" dirty="0">
              <a:solidFill>
                <a:schemeClr val="bg1"/>
              </a:solidFill>
              <a:latin typeface="Consolas"/>
              <a:cs typeface="Consolas"/>
            </a:endParaRPr>
          </a:p>
          <a:p>
            <a:pPr marL="12700" marR="1450340">
              <a:lnSpc>
                <a:spcPct val="99700"/>
              </a:lnSpc>
              <a:spcBef>
                <a:spcPts val="5"/>
              </a:spcBef>
            </a:pPr>
            <a:r>
              <a:rPr sz="1600" spc="-5" dirty="0">
                <a:solidFill>
                  <a:schemeClr val="bg1"/>
                </a:solidFill>
                <a:latin typeface="Consolas"/>
                <a:cs typeface="Consolas"/>
              </a:rPr>
              <a:t>new</a:t>
            </a:r>
            <a:r>
              <a:rPr sz="1600" spc="86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Date(</a:t>
            </a:r>
            <a:r>
              <a:rPr sz="1600" i="1" spc="-10" dirty="0">
                <a:solidFill>
                  <a:schemeClr val="bg1"/>
                </a:solidFill>
                <a:latin typeface="Consolas"/>
                <a:cs typeface="Consolas"/>
              </a:rPr>
              <a:t>year,month,day,hours,minutes,seconds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) </a:t>
            </a:r>
            <a:r>
              <a:rPr sz="1600" spc="-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endParaRPr lang="en-US" sz="1600" spc="-5" dirty="0">
              <a:solidFill>
                <a:schemeClr val="bg1"/>
              </a:solidFill>
              <a:latin typeface="Consolas"/>
              <a:cs typeface="Consolas"/>
            </a:endParaRPr>
          </a:p>
          <a:p>
            <a:pPr marL="12700" marR="1450340">
              <a:lnSpc>
                <a:spcPct val="99700"/>
              </a:lnSpc>
              <a:spcBef>
                <a:spcPts val="5"/>
              </a:spcBef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new</a:t>
            </a:r>
            <a:r>
              <a:rPr sz="1600" spc="10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Date(</a:t>
            </a:r>
            <a:r>
              <a:rPr sz="1600" i="1" spc="-10" dirty="0">
                <a:solidFill>
                  <a:schemeClr val="bg1"/>
                </a:solidFill>
                <a:latin typeface="Consolas"/>
                <a:cs typeface="Consolas"/>
              </a:rPr>
              <a:t>year,month,day,hours,minutes,seconds,ms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) </a:t>
            </a:r>
            <a:r>
              <a:rPr sz="1600" spc="-86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endParaRPr lang="en-US" sz="1600" spc="-865" dirty="0">
              <a:solidFill>
                <a:schemeClr val="bg1"/>
              </a:solidFill>
              <a:latin typeface="Consolas"/>
              <a:cs typeface="Consolas"/>
            </a:endParaRPr>
          </a:p>
          <a:p>
            <a:pPr marL="12700" marR="1450340">
              <a:lnSpc>
                <a:spcPct val="99700"/>
              </a:lnSpc>
              <a:spcBef>
                <a:spcPts val="5"/>
              </a:spcBef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new</a:t>
            </a:r>
            <a:r>
              <a:rPr sz="1600" spc="-1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Date(</a:t>
            </a:r>
            <a:r>
              <a:rPr sz="1600" i="1" spc="-10" dirty="0">
                <a:solidFill>
                  <a:schemeClr val="bg1"/>
                </a:solidFill>
                <a:latin typeface="Consolas"/>
                <a:cs typeface="Consolas"/>
              </a:rPr>
              <a:t>milliseconds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  <a:endParaRPr sz="1600" dirty="0">
              <a:solidFill>
                <a:schemeClr val="bg1"/>
              </a:solidFill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solidFill>
                <a:schemeClr val="bg1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600" spc="-15" dirty="0">
                <a:solidFill>
                  <a:schemeClr val="bg1"/>
                </a:solidFill>
                <a:latin typeface="Segoe UI"/>
                <a:cs typeface="Segoe UI"/>
              </a:rPr>
              <a:t>JavaScript </a:t>
            </a:r>
            <a:r>
              <a:rPr sz="3600" dirty="0">
                <a:solidFill>
                  <a:schemeClr val="bg1"/>
                </a:solidFill>
                <a:latin typeface="Segoe UI"/>
                <a:cs typeface="Segoe UI"/>
              </a:rPr>
              <a:t>new</a:t>
            </a:r>
            <a:r>
              <a:rPr sz="3600" spc="-10" dirty="0">
                <a:solidFill>
                  <a:schemeClr val="bg1"/>
                </a:solidFill>
                <a:latin typeface="Segoe UI"/>
                <a:cs typeface="Segoe UI"/>
              </a:rPr>
              <a:t> </a:t>
            </a:r>
            <a:r>
              <a:rPr sz="3600" spc="-5" dirty="0">
                <a:solidFill>
                  <a:schemeClr val="bg1"/>
                </a:solidFill>
                <a:latin typeface="Segoe UI"/>
                <a:cs typeface="Segoe UI"/>
              </a:rPr>
              <a:t>Date():-</a:t>
            </a:r>
            <a:endParaRPr sz="3600" dirty="0">
              <a:solidFill>
                <a:schemeClr val="bg1"/>
              </a:solidFill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new</a:t>
            </a:r>
            <a:r>
              <a:rPr sz="1600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Consolas"/>
                <a:cs typeface="Consolas"/>
              </a:rPr>
              <a:t>Date()</a:t>
            </a:r>
            <a:r>
              <a:rPr sz="1600" spc="-325" dirty="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creates</a:t>
            </a:r>
            <a:r>
              <a:rPr sz="1600" spc="2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a</a:t>
            </a:r>
            <a:r>
              <a:rPr sz="1600" spc="1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date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object</a:t>
            </a:r>
            <a:r>
              <a:rPr sz="1600" spc="2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with</a:t>
            </a:r>
            <a:r>
              <a:rPr sz="1600" spc="1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the</a:t>
            </a:r>
            <a:r>
              <a:rPr sz="1600" spc="1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chemeClr val="bg1"/>
                </a:solidFill>
                <a:latin typeface="Verdana"/>
                <a:cs typeface="Verdana"/>
              </a:rPr>
              <a:t>current</a:t>
            </a:r>
            <a:r>
              <a:rPr sz="1600" b="1" spc="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b="1" spc="-5" dirty="0">
                <a:solidFill>
                  <a:schemeClr val="bg1"/>
                </a:solidFill>
                <a:latin typeface="Verdana"/>
                <a:cs typeface="Verdana"/>
              </a:rPr>
              <a:t>date</a:t>
            </a:r>
            <a:r>
              <a:rPr sz="1600" b="1" spc="1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b="1" spc="-5" dirty="0">
                <a:solidFill>
                  <a:schemeClr val="bg1"/>
                </a:solidFill>
                <a:latin typeface="Verdana"/>
                <a:cs typeface="Verdana"/>
              </a:rPr>
              <a:t>and</a:t>
            </a:r>
            <a:r>
              <a:rPr sz="1600" b="1" spc="2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b="1" spc="-5" dirty="0">
                <a:solidFill>
                  <a:schemeClr val="bg1"/>
                </a:solidFill>
                <a:latin typeface="Verdana"/>
                <a:cs typeface="Verdana"/>
              </a:rPr>
              <a:t>time</a:t>
            </a:r>
            <a:r>
              <a:rPr sz="1600" spc="-5" dirty="0">
                <a:solidFill>
                  <a:schemeClr val="bg1"/>
                </a:solidFill>
                <a:latin typeface="Verdana"/>
                <a:cs typeface="Verdana"/>
              </a:rPr>
              <a:t>:</a:t>
            </a:r>
            <a:endParaRPr lang="en-US" sz="1600" spc="-5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10" dirty="0">
                <a:solidFill>
                  <a:schemeClr val="bg1"/>
                </a:solidFill>
                <a:latin typeface="Times New Roman"/>
                <a:cs typeface="Times New Roman"/>
              </a:rPr>
              <a:t>Const</a:t>
            </a:r>
            <a:r>
              <a:rPr lang="en-IN" sz="2000" spc="-3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IN" sz="2000" spc="90" dirty="0">
                <a:solidFill>
                  <a:schemeClr val="bg1"/>
                </a:solidFill>
                <a:latin typeface="Times New Roman"/>
                <a:cs typeface="Times New Roman"/>
              </a:rPr>
              <a:t>d=</a:t>
            </a:r>
            <a:r>
              <a:rPr lang="en-IN" sz="2000" spc="4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IN" sz="2000" spc="-50" dirty="0">
                <a:solidFill>
                  <a:schemeClr val="bg1"/>
                </a:solidFill>
                <a:latin typeface="Times New Roman"/>
                <a:cs typeface="Times New Roman"/>
              </a:rPr>
              <a:t>new</a:t>
            </a:r>
            <a:r>
              <a:rPr lang="en-IN" sz="2000" spc="-20" dirty="0">
                <a:solidFill>
                  <a:schemeClr val="bg1"/>
                </a:solidFill>
                <a:latin typeface="Times New Roman"/>
                <a:cs typeface="Times New Roman"/>
              </a:rPr>
              <a:t> Date(</a:t>
            </a:r>
            <a:r>
              <a:rPr lang="en-IN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IN" sz="2000" spc="-95" dirty="0">
                <a:solidFill>
                  <a:schemeClr val="bg1"/>
                </a:solidFill>
                <a:latin typeface="Times New Roman"/>
                <a:cs typeface="Times New Roman"/>
              </a:rPr>
              <a:t>);</a:t>
            </a:r>
            <a:endParaRPr lang="en-IN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IN" sz="2000" spc="-50" dirty="0">
                <a:solidFill>
                  <a:schemeClr val="bg1"/>
                </a:solidFill>
                <a:latin typeface="Times New Roman"/>
                <a:cs typeface="Times New Roman"/>
              </a:rPr>
              <a:t>console.log(d);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Output:-</a:t>
            </a:r>
            <a:endParaRPr lang="en-US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Sun</a:t>
            </a:r>
            <a:r>
              <a:rPr lang="en-US" sz="2000" spc="-10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Aug</a:t>
            </a:r>
            <a:r>
              <a:rPr lang="en-US" sz="2000" spc="-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27 2023</a:t>
            </a:r>
            <a:r>
              <a:rPr lang="en-US" sz="2000" spc="-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18:42:42</a:t>
            </a:r>
            <a:r>
              <a:rPr lang="en-US" sz="2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GMT+0530</a:t>
            </a:r>
            <a:r>
              <a:rPr lang="en-US" sz="2000" spc="-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(India Standard</a:t>
            </a:r>
            <a:r>
              <a:rPr lang="en-US" sz="2000" spc="-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spc="-15" dirty="0">
                <a:solidFill>
                  <a:schemeClr val="bg1"/>
                </a:solidFill>
                <a:latin typeface="Times New Roman"/>
                <a:cs typeface="Times New Roman"/>
              </a:rPr>
              <a:t>Time)</a:t>
            </a:r>
            <a:endParaRPr lang="en-US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IN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endParaRPr sz="1600" dirty="0">
              <a:solidFill>
                <a:schemeClr val="bg1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4785" y="1081278"/>
            <a:ext cx="18199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heavy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MATH</a:t>
            </a:r>
            <a:r>
              <a:rPr sz="2000" u="heavy" spc="-95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 </a:t>
            </a:r>
            <a:r>
              <a:rPr sz="2000" u="heavy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OBJECT</a:t>
            </a:r>
            <a:endParaRPr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0546" y="1630171"/>
            <a:ext cx="9869805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JavaScript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Math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allows</a:t>
            </a:r>
            <a:r>
              <a:rPr sz="1800" spc="-5" dirty="0">
                <a:latin typeface="Verdana"/>
                <a:cs typeface="Verdana"/>
              </a:rPr>
              <a:t> you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perform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mathematical </a:t>
            </a:r>
            <a:r>
              <a:rPr sz="1800" spc="-5" dirty="0">
                <a:latin typeface="Verdana"/>
                <a:cs typeface="Verdana"/>
              </a:rPr>
              <a:t>tasks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5" dirty="0">
                <a:latin typeface="Verdana"/>
                <a:cs typeface="Verdana"/>
              </a:rPr>
              <a:t> numbers.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1750" dirty="0">
              <a:latin typeface="Verdana"/>
              <a:cs typeface="Verdan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Verdana"/>
                <a:cs typeface="Verdana"/>
              </a:rPr>
              <a:t>Unlike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other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Math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 </a:t>
            </a:r>
            <a:r>
              <a:rPr sz="1800" spc="-25" dirty="0">
                <a:latin typeface="Verdana"/>
                <a:cs typeface="Verdana"/>
              </a:rPr>
              <a:t>constructor.</a:t>
            </a:r>
            <a:endParaRPr sz="1800" dirty="0">
              <a:latin typeface="Verdana"/>
              <a:cs typeface="Verdana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Math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static.</a:t>
            </a:r>
            <a:endParaRPr sz="1800" dirty="0">
              <a:latin typeface="Verdana"/>
              <a:cs typeface="Verdana"/>
            </a:endParaRPr>
          </a:p>
          <a:p>
            <a:pPr marL="299085" indent="-287020">
              <a:lnSpc>
                <a:spcPts val="2105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5" dirty="0">
                <a:latin typeface="Verdana"/>
                <a:cs typeface="Verdana"/>
              </a:rPr>
              <a:t>All</a:t>
            </a:r>
            <a:r>
              <a:rPr sz="1800" spc="-5" dirty="0">
                <a:latin typeface="Verdana"/>
                <a:cs typeface="Verdana"/>
              </a:rPr>
              <a:t> methods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properties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can be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without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creating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Math object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first.</a:t>
            </a:r>
          </a:p>
          <a:p>
            <a:pPr marL="299085" indent="-287020">
              <a:lnSpc>
                <a:spcPts val="2105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Th</a:t>
            </a:r>
            <a:r>
              <a:rPr sz="1800" dirty="0">
                <a:latin typeface="Verdana"/>
                <a:cs typeface="Verdana"/>
              </a:rPr>
              <a:t>e syntax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 a</a:t>
            </a:r>
            <a:r>
              <a:rPr sz="1800" spc="-10" dirty="0">
                <a:latin typeface="Verdana"/>
                <a:cs typeface="Verdana"/>
              </a:rPr>
              <a:t>n</a:t>
            </a:r>
            <a:r>
              <a:rPr sz="1800" dirty="0">
                <a:latin typeface="Verdana"/>
                <a:cs typeface="Verdana"/>
              </a:rPr>
              <a:t>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</a:t>
            </a:r>
            <a:r>
              <a:rPr sz="1800" dirty="0">
                <a:latin typeface="Verdana"/>
                <a:cs typeface="Verdana"/>
              </a:rPr>
              <a:t>ath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ro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y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s :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pc="-10" dirty="0">
                <a:latin typeface="Consolas"/>
                <a:cs typeface="Consolas"/>
              </a:rPr>
              <a:t>Math</a:t>
            </a:r>
            <a:r>
              <a:rPr dirty="0">
                <a:latin typeface="Consolas"/>
                <a:cs typeface="Consolas"/>
              </a:rPr>
              <a:t>.</a:t>
            </a:r>
            <a:r>
              <a:rPr spc="-375" dirty="0">
                <a:latin typeface="Consolas"/>
                <a:cs typeface="Consolas"/>
              </a:rPr>
              <a:t> </a:t>
            </a:r>
            <a:r>
              <a:rPr i="1" spc="-10" dirty="0">
                <a:latin typeface="Consolas"/>
                <a:cs typeface="Consolas"/>
              </a:rPr>
              <a:t>method</a:t>
            </a:r>
            <a:r>
              <a:rPr spc="-5" dirty="0">
                <a:latin typeface="Consolas"/>
                <a:cs typeface="Consolas"/>
              </a:rPr>
              <a:t>(</a:t>
            </a:r>
            <a:r>
              <a:rPr i="1" spc="-10" dirty="0">
                <a:latin typeface="Consolas"/>
                <a:cs typeface="Consolas"/>
              </a:rPr>
              <a:t>number</a:t>
            </a:r>
            <a:r>
              <a:rPr dirty="0">
                <a:latin typeface="Consolas"/>
                <a:cs typeface="Consolas"/>
              </a:rPr>
              <a:t>)</a:t>
            </a:r>
            <a:endParaRPr sz="1800" dirty="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797887"/>
              </p:ext>
            </p:extLst>
          </p:nvPr>
        </p:nvGraphicFramePr>
        <p:xfrm>
          <a:off x="1488439" y="3425825"/>
          <a:ext cx="7990840" cy="25210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5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Math.round(x)</a:t>
                      </a:r>
                      <a:endParaRPr sz="16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rounded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nearest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integer</a:t>
                      </a: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7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6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Math.ceil(x)</a:t>
                      </a: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rounded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nearest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integer</a:t>
                      </a: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8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Math.floor(x)</a:t>
                      </a: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rounded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nearest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integer</a:t>
                      </a: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8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Math.trunc(x)</a:t>
                      </a: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integer</a:t>
                      </a:r>
                      <a:r>
                        <a:rPr sz="16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part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19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7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600" u="sng" spc="-50" dirty="0">
                          <a:solidFill>
                            <a:srgbClr val="58C1BA"/>
                          </a:solidFill>
                          <a:uFill>
                            <a:solidFill>
                              <a:srgbClr val="A8BE4D"/>
                            </a:solidFill>
                          </a:uFill>
                          <a:latin typeface="Times New Roman"/>
                          <a:cs typeface="Times New Roman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new</a:t>
                      </a:r>
                      <a:r>
                        <a:rPr sz="1600" u="sng" spc="-5" dirty="0">
                          <a:solidFill>
                            <a:srgbClr val="58C1BA"/>
                          </a:solidFill>
                          <a:uFill>
                            <a:solidFill>
                              <a:srgbClr val="A8BE4D"/>
                            </a:solidFill>
                          </a:uFill>
                          <a:latin typeface="Times New Roman"/>
                          <a:cs typeface="Times New Roman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600" u="sng" spc="-40" dirty="0">
                          <a:solidFill>
                            <a:srgbClr val="58C1BA"/>
                          </a:solidFill>
                          <a:uFill>
                            <a:solidFill>
                              <a:srgbClr val="A8BE4D"/>
                            </a:solidFill>
                          </a:uFill>
                          <a:latin typeface="Times New Roman"/>
                          <a:cs typeface="Times New Roman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</a:t>
                      </a:r>
                      <a:r>
                        <a:rPr sz="1600" u="sng" spc="-10" dirty="0">
                          <a:solidFill>
                            <a:srgbClr val="58C1BA"/>
                          </a:solidFill>
                          <a:uFill>
                            <a:solidFill>
                              <a:srgbClr val="A8BE4D"/>
                            </a:solidFill>
                          </a:uFill>
                          <a:latin typeface="Times New Roman"/>
                          <a:cs typeface="Times New Roman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600" u="sng" spc="-50" dirty="0">
                          <a:solidFill>
                            <a:schemeClr val="bg1"/>
                          </a:solidFill>
                          <a:uFill>
                            <a:solidFill>
                              <a:srgbClr val="A8BE4D"/>
                            </a:solidFill>
                          </a:uFill>
                          <a:latin typeface="Times New Roman"/>
                          <a:cs typeface="Times New Roman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ES6</a:t>
                      </a:r>
                      <a:r>
                        <a:rPr sz="1600" spc="-5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16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3592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1816" y="751078"/>
            <a:ext cx="2283460" cy="51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u="none" spc="-5" dirty="0">
                <a:latin typeface="Consolas"/>
                <a:cs typeface="Consolas"/>
              </a:rPr>
              <a:t>1.Math.round(</a:t>
            </a:r>
            <a:r>
              <a:rPr sz="1800" b="0" u="none" spc="-5" dirty="0">
                <a:solidFill>
                  <a:srgbClr val="FF0000"/>
                </a:solidFill>
                <a:latin typeface="Consolas"/>
                <a:cs typeface="Consolas"/>
              </a:rPr>
              <a:t>4.6</a:t>
            </a:r>
            <a:r>
              <a:rPr sz="1800" b="0" u="none" spc="-5" dirty="0">
                <a:latin typeface="Consolas"/>
                <a:cs typeface="Consolas"/>
              </a:rPr>
              <a:t>);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b="0" u="none" dirty="0">
                <a:latin typeface="Consolas"/>
                <a:cs typeface="Consolas"/>
              </a:rPr>
              <a:t>OUTPUT:-5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1816" y="1455166"/>
            <a:ext cx="2026920" cy="4598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onsolas"/>
                <a:cs typeface="Consolas"/>
              </a:rPr>
              <a:t>Math.round(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4.5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onsolas"/>
                <a:cs typeface="Consolas"/>
              </a:rPr>
              <a:t>OUTPUT:4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onsolas"/>
                <a:cs typeface="Consolas"/>
              </a:rPr>
              <a:t>Math.round(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4.4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onsolas"/>
                <a:cs typeface="Consolas"/>
              </a:rPr>
              <a:t>OUTPUT:4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Consolas"/>
              <a:cs typeface="Consolas"/>
            </a:endParaRPr>
          </a:p>
          <a:p>
            <a:pPr marL="263525" indent="-251460">
              <a:lnSpc>
                <a:spcPts val="2150"/>
              </a:lnSpc>
              <a:buSzPct val="106250"/>
              <a:buAutoNum type="arabicPeriod" startAt="2"/>
              <a:tabLst>
                <a:tab pos="264160" algn="l"/>
              </a:tabLst>
            </a:pPr>
            <a:r>
              <a:rPr sz="1600" spc="-10" dirty="0">
                <a:latin typeface="Consolas"/>
                <a:cs typeface="Consolas"/>
              </a:rPr>
              <a:t>Math.ceil(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4.9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10"/>
              </a:lnSpc>
            </a:pPr>
            <a:r>
              <a:rPr sz="1600" spc="-10" dirty="0">
                <a:latin typeface="Consolas"/>
                <a:cs typeface="Consolas"/>
              </a:rPr>
              <a:t>Math.ceil(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4.7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Math.ceil(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4.4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14"/>
              </a:lnSpc>
            </a:pPr>
            <a:r>
              <a:rPr sz="1600" spc="-10" dirty="0">
                <a:latin typeface="Consolas"/>
                <a:cs typeface="Consolas"/>
              </a:rPr>
              <a:t>Math.ceil(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4.2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2155"/>
              </a:lnSpc>
            </a:pPr>
            <a:r>
              <a:rPr sz="1800" spc="-20" dirty="0">
                <a:latin typeface="Times New Roman"/>
                <a:cs typeface="Times New Roman"/>
              </a:rPr>
              <a:t>output:-5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235585" indent="-223520">
              <a:lnSpc>
                <a:spcPct val="100000"/>
              </a:lnSpc>
              <a:spcBef>
                <a:spcPts val="1545"/>
              </a:spcBef>
              <a:buSzPct val="93750"/>
              <a:buAutoNum type="arabicPeriod" startAt="3"/>
              <a:tabLst>
                <a:tab pos="236220" algn="l"/>
              </a:tabLst>
            </a:pPr>
            <a:r>
              <a:rPr sz="1600" spc="-10" dirty="0">
                <a:latin typeface="Consolas"/>
                <a:cs typeface="Consolas"/>
              </a:rPr>
              <a:t>Math.floor(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4.9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Math.floor(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4.7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Math.floor(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4.4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600" spc="-10" dirty="0">
                <a:latin typeface="Consolas"/>
                <a:cs typeface="Consolas"/>
              </a:rPr>
              <a:t>Math.floor(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4.2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Output:4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5628" y="923035"/>
            <a:ext cx="2283460" cy="140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nsolas"/>
                <a:cs typeface="Consolas"/>
              </a:rPr>
              <a:t>4.Math.trunc(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4.9</a:t>
            </a:r>
            <a:r>
              <a:rPr sz="1800" spc="-5" dirty="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nsolas"/>
                <a:cs typeface="Consolas"/>
              </a:rPr>
              <a:t>Math.trunc(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4.7</a:t>
            </a:r>
            <a:r>
              <a:rPr sz="1800" spc="-5" dirty="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nsolas"/>
                <a:cs typeface="Consolas"/>
              </a:rPr>
              <a:t>Math.trunc(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4.4</a:t>
            </a:r>
            <a:r>
              <a:rPr sz="1800" spc="-5" dirty="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nsolas"/>
                <a:cs typeface="Consolas"/>
              </a:rPr>
              <a:t>Math.trunc(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4.2</a:t>
            </a:r>
            <a:r>
              <a:rPr sz="1800" spc="-5" dirty="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spc="-10" dirty="0">
                <a:latin typeface="Consolas"/>
                <a:cs typeface="Consolas"/>
              </a:rPr>
              <a:t>Math.trunc(-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4.2</a:t>
            </a:r>
            <a:r>
              <a:rPr sz="1800" spc="-10" dirty="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5628" y="2569209"/>
            <a:ext cx="1028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nsolas"/>
                <a:cs typeface="Consolas"/>
              </a:rPr>
              <a:t>Outp</a:t>
            </a:r>
            <a:r>
              <a:rPr sz="1800" dirty="0">
                <a:latin typeface="Consolas"/>
                <a:cs typeface="Consolas"/>
              </a:rPr>
              <a:t>u</a:t>
            </a:r>
            <a:r>
              <a:rPr sz="1800" spc="-5" dirty="0">
                <a:latin typeface="Consolas"/>
                <a:cs typeface="Consolas"/>
              </a:rPr>
              <a:t>t:</a:t>
            </a:r>
            <a:r>
              <a:rPr sz="1800" dirty="0">
                <a:latin typeface="Consolas"/>
                <a:cs typeface="Consolas"/>
              </a:rPr>
              <a:t>4</a:t>
            </a:r>
            <a:endParaRPr sz="18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0499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1620" y="1024890"/>
            <a:ext cx="56202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sng" spc="5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STRING</a:t>
            </a:r>
            <a:r>
              <a:rPr sz="2000" b="1" u="sng" spc="-15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25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CONCEPT</a:t>
            </a:r>
            <a:r>
              <a:rPr sz="2000" b="1" u="sng" spc="-5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114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000" b="1" u="sng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0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JAVASCRIPT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1777" y="1689862"/>
            <a:ext cx="78517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0" u="none" spc="-30" dirty="0">
                <a:latin typeface="Times New Roman"/>
                <a:cs typeface="Times New Roman"/>
              </a:rPr>
              <a:t>STRING:-</a:t>
            </a:r>
            <a:r>
              <a:rPr sz="2000" b="0" u="none" spc="-30" dirty="0">
                <a:latin typeface="Times New Roman"/>
                <a:cs typeface="Times New Roman"/>
              </a:rPr>
              <a:t>Collection</a:t>
            </a:r>
            <a:r>
              <a:rPr sz="2000" b="0" u="none" spc="25" dirty="0">
                <a:latin typeface="Times New Roman"/>
                <a:cs typeface="Times New Roman"/>
              </a:rPr>
              <a:t> </a:t>
            </a:r>
            <a:r>
              <a:rPr sz="2000" b="0" u="none" spc="-5" dirty="0">
                <a:latin typeface="Times New Roman"/>
                <a:cs typeface="Times New Roman"/>
              </a:rPr>
              <a:t>of</a:t>
            </a:r>
            <a:r>
              <a:rPr sz="2000" b="0" u="none" spc="270" dirty="0">
                <a:latin typeface="Times New Roman"/>
                <a:cs typeface="Times New Roman"/>
              </a:rPr>
              <a:t> </a:t>
            </a:r>
            <a:r>
              <a:rPr sz="2000" b="0" u="none" spc="-35" dirty="0">
                <a:latin typeface="Times New Roman"/>
                <a:cs typeface="Times New Roman"/>
              </a:rPr>
              <a:t>characters</a:t>
            </a:r>
            <a:r>
              <a:rPr sz="2000" b="0" u="none" spc="-25" dirty="0">
                <a:latin typeface="Times New Roman"/>
                <a:cs typeface="Times New Roman"/>
              </a:rPr>
              <a:t> </a:t>
            </a:r>
            <a:r>
              <a:rPr sz="2000" b="0" u="none" spc="-35" dirty="0">
                <a:latin typeface="Times New Roman"/>
                <a:cs typeface="Times New Roman"/>
              </a:rPr>
              <a:t>(or)</a:t>
            </a:r>
            <a:r>
              <a:rPr sz="2000" b="0" u="none" spc="10" dirty="0">
                <a:latin typeface="Times New Roman"/>
                <a:cs typeface="Times New Roman"/>
              </a:rPr>
              <a:t> </a:t>
            </a:r>
            <a:r>
              <a:rPr sz="2000" b="0" u="none" spc="-10" dirty="0">
                <a:latin typeface="Times New Roman"/>
                <a:cs typeface="Times New Roman"/>
              </a:rPr>
              <a:t>bunch</a:t>
            </a:r>
            <a:r>
              <a:rPr sz="2000" b="0" u="none" spc="5" dirty="0">
                <a:latin typeface="Times New Roman"/>
                <a:cs typeface="Times New Roman"/>
              </a:rPr>
              <a:t> </a:t>
            </a:r>
            <a:r>
              <a:rPr sz="2000" b="0" u="none" spc="-5" dirty="0">
                <a:latin typeface="Times New Roman"/>
                <a:cs typeface="Times New Roman"/>
              </a:rPr>
              <a:t>of</a:t>
            </a:r>
            <a:r>
              <a:rPr sz="2000" b="0" u="none" spc="270" dirty="0">
                <a:latin typeface="Times New Roman"/>
                <a:cs typeface="Times New Roman"/>
              </a:rPr>
              <a:t> </a:t>
            </a:r>
            <a:r>
              <a:rPr sz="2000" b="0" u="none" spc="-35" dirty="0">
                <a:latin typeface="Times New Roman"/>
                <a:cs typeface="Times New Roman"/>
              </a:rPr>
              <a:t>characters</a:t>
            </a:r>
            <a:r>
              <a:rPr sz="2000" b="0" u="none" spc="-40" dirty="0">
                <a:latin typeface="Times New Roman"/>
                <a:cs typeface="Times New Roman"/>
              </a:rPr>
              <a:t> </a:t>
            </a:r>
            <a:r>
              <a:rPr sz="2000" b="0" u="none" spc="-100" dirty="0">
                <a:latin typeface="Times New Roman"/>
                <a:cs typeface="Times New Roman"/>
              </a:rPr>
              <a:t>we</a:t>
            </a:r>
            <a:r>
              <a:rPr sz="2000" b="0" u="none" spc="15" dirty="0">
                <a:latin typeface="Times New Roman"/>
                <a:cs typeface="Times New Roman"/>
              </a:rPr>
              <a:t> </a:t>
            </a:r>
            <a:r>
              <a:rPr sz="2000" b="0" u="none" spc="-65" dirty="0">
                <a:latin typeface="Times New Roman"/>
                <a:cs typeface="Times New Roman"/>
              </a:rPr>
              <a:t>called</a:t>
            </a:r>
            <a:r>
              <a:rPr sz="2000" b="0" u="none" spc="5" dirty="0">
                <a:latin typeface="Times New Roman"/>
                <a:cs typeface="Times New Roman"/>
              </a:rPr>
              <a:t> </a:t>
            </a:r>
            <a:r>
              <a:rPr sz="2000" b="0" u="none" spc="-40" dirty="0">
                <a:latin typeface="Times New Roman"/>
                <a:cs typeface="Times New Roman"/>
              </a:rPr>
              <a:t>it</a:t>
            </a:r>
            <a:r>
              <a:rPr sz="2000" b="0" u="none" spc="5" dirty="0">
                <a:latin typeface="Times New Roman"/>
                <a:cs typeface="Times New Roman"/>
              </a:rPr>
              <a:t> </a:t>
            </a:r>
            <a:r>
              <a:rPr sz="2000" b="0" u="none" spc="-60" dirty="0">
                <a:latin typeface="Times New Roman"/>
                <a:cs typeface="Times New Roman"/>
              </a:rPr>
              <a:t>as</a:t>
            </a:r>
            <a:r>
              <a:rPr sz="2000" b="0" u="none" dirty="0">
                <a:latin typeface="Times New Roman"/>
                <a:cs typeface="Times New Roman"/>
              </a:rPr>
              <a:t> </a:t>
            </a:r>
            <a:r>
              <a:rPr sz="2000" b="0" u="none" spc="-35" dirty="0">
                <a:latin typeface="Times New Roman"/>
                <a:cs typeface="Times New Roman"/>
              </a:rPr>
              <a:t>string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1777" y="2296414"/>
            <a:ext cx="1986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>
                <a:solidFill>
                  <a:srgbClr val="00AFEF"/>
                </a:solidFill>
                <a:latin typeface="Times New Roman"/>
                <a:cs typeface="Times New Roman"/>
              </a:rPr>
              <a:t>String</a:t>
            </a:r>
            <a:r>
              <a:rPr sz="2400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00AFEF"/>
                </a:solidFill>
                <a:latin typeface="Times New Roman"/>
                <a:cs typeface="Times New Roman"/>
              </a:rPr>
              <a:t>methods:-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777" y="3039821"/>
            <a:ext cx="2199005" cy="2220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877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Verdana"/>
                <a:cs typeface="Verdana"/>
              </a:rPr>
              <a:t>String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length </a:t>
            </a:r>
            <a:r>
              <a:rPr sz="1600" spc="-5" dirty="0">
                <a:latin typeface="Verdana"/>
                <a:cs typeface="Verdana"/>
              </a:rPr>
              <a:t> String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slice() </a:t>
            </a:r>
            <a:r>
              <a:rPr sz="1600" spc="-5" dirty="0">
                <a:latin typeface="Verdana"/>
                <a:cs typeface="Verdana"/>
              </a:rPr>
              <a:t> String substring()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String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substr() </a:t>
            </a:r>
            <a:r>
              <a:rPr sz="1600" spc="-5" dirty="0">
                <a:latin typeface="Verdana"/>
                <a:cs typeface="Verdana"/>
              </a:rPr>
              <a:t> String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replace() 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String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replaceAll()</a:t>
            </a:r>
            <a:endParaRPr sz="1600" dirty="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Verdana"/>
                <a:cs typeface="Verdana"/>
              </a:rPr>
              <a:t>String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toUpperCase()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String </a:t>
            </a:r>
            <a:r>
              <a:rPr sz="1600" spc="-10" dirty="0">
                <a:latin typeface="Verdana"/>
                <a:cs typeface="Verdana"/>
              </a:rPr>
              <a:t>toLowerCase()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String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concat()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20841" y="2991357"/>
            <a:ext cx="206883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146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Verdana"/>
                <a:cs typeface="Verdana"/>
              </a:rPr>
              <a:t>String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trim() 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String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trimStart()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String trimEnd() 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String </a:t>
            </a:r>
            <a:r>
              <a:rPr sz="1600" spc="-10" dirty="0">
                <a:latin typeface="Verdana"/>
                <a:cs typeface="Verdana"/>
              </a:rPr>
              <a:t>padStart()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String </a:t>
            </a:r>
            <a:r>
              <a:rPr sz="1600" spc="-10" dirty="0">
                <a:latin typeface="Verdana"/>
                <a:cs typeface="Verdana"/>
              </a:rPr>
              <a:t>padEnd() </a:t>
            </a:r>
            <a:r>
              <a:rPr sz="1600" spc="-5" dirty="0">
                <a:latin typeface="Verdana"/>
                <a:cs typeface="Verdana"/>
              </a:rPr>
              <a:t> String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charAt()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1600" spc="-5" dirty="0">
                <a:latin typeface="Verdana"/>
                <a:cs typeface="Verdana"/>
              </a:rPr>
              <a:t>String </a:t>
            </a:r>
            <a:r>
              <a:rPr sz="1600" spc="-10" dirty="0">
                <a:latin typeface="Verdana"/>
                <a:cs typeface="Verdana"/>
              </a:rPr>
              <a:t>charCodeAt()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String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split()</a:t>
            </a:r>
            <a:endParaRPr sz="16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412364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3813" y="844041"/>
            <a:ext cx="9775825" cy="524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SzPct val="94444"/>
              <a:buFont typeface="Verdana"/>
              <a:buAutoNum type="arabicPeriod"/>
              <a:tabLst>
                <a:tab pos="24193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Consolas"/>
                <a:cs typeface="Consolas"/>
              </a:rPr>
              <a:t>lengt</a:t>
            </a:r>
            <a:r>
              <a:rPr sz="1800" dirty="0">
                <a:latin typeface="Consolas"/>
                <a:cs typeface="Consolas"/>
              </a:rPr>
              <a:t>h</a:t>
            </a:r>
            <a:r>
              <a:rPr sz="1800" spc="-350" dirty="0">
                <a:latin typeface="Consolas"/>
                <a:cs typeface="Consolas"/>
              </a:rPr>
              <a:t>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ro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y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-5" dirty="0">
                <a:latin typeface="Verdana"/>
                <a:cs typeface="Verdana"/>
              </a:rPr>
              <a:t>eturn</a:t>
            </a:r>
            <a:r>
              <a:rPr sz="1800" dirty="0">
                <a:latin typeface="Verdana"/>
                <a:cs typeface="Verdana"/>
              </a:rPr>
              <a:t>s </a:t>
            </a:r>
            <a:r>
              <a:rPr sz="1800" spc="-5" dirty="0">
                <a:latin typeface="Verdana"/>
                <a:cs typeface="Verdana"/>
              </a:rPr>
              <a:t>th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l</a:t>
            </a:r>
            <a:r>
              <a:rPr sz="1800" dirty="0">
                <a:latin typeface="Verdana"/>
                <a:cs typeface="Verdana"/>
              </a:rPr>
              <a:t>en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h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 a str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ng:</a:t>
            </a:r>
          </a:p>
          <a:p>
            <a:pPr>
              <a:lnSpc>
                <a:spcPct val="100000"/>
              </a:lnSpc>
              <a:spcBef>
                <a:spcPts val="40"/>
              </a:spcBef>
              <a:buAutoNum type="arabicPeriod"/>
            </a:pPr>
            <a:endParaRPr sz="1800" dirty="0">
              <a:latin typeface="Verdana"/>
              <a:cs typeface="Verdana"/>
            </a:endParaRPr>
          </a:p>
          <a:p>
            <a:pPr marL="12700">
              <a:lnSpc>
                <a:spcPts val="2140"/>
              </a:lnSpc>
              <a:spcBef>
                <a:spcPts val="5"/>
              </a:spcBef>
            </a:pPr>
            <a:r>
              <a:rPr sz="1800" spc="-5" dirty="0">
                <a:latin typeface="Verdana"/>
                <a:cs typeface="Verdana"/>
              </a:rPr>
              <a:t>Ex:-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ts val="2140"/>
              </a:lnSpc>
            </a:pPr>
            <a:r>
              <a:rPr sz="1800" spc="-5" dirty="0">
                <a:latin typeface="Arial MT"/>
                <a:cs typeface="Arial MT"/>
              </a:rPr>
              <a:t>let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text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"ABCDEFGHIJKLMNOPQRSTUVWXYZ";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Console.log(text.length)//26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 u="sng" dirty="0">
              <a:latin typeface="Verdana"/>
              <a:cs typeface="Verdana"/>
            </a:endParaRPr>
          </a:p>
          <a:p>
            <a:pPr marL="12700" marR="5080">
              <a:lnSpc>
                <a:spcPct val="101699"/>
              </a:lnSpc>
              <a:buClr>
                <a:srgbClr val="000000"/>
              </a:buClr>
              <a:buFont typeface="Arial MT"/>
              <a:buAutoNum type="arabicPeriod" startAt="2"/>
              <a:tabLst>
                <a:tab pos="328295" algn="l"/>
              </a:tabLst>
            </a:pPr>
            <a:r>
              <a:rPr sz="1800" u="sng" spc="-10" dirty="0">
                <a:latin typeface="Consolas"/>
                <a:cs typeface="Consolas"/>
              </a:rPr>
              <a:t>slice() </a:t>
            </a:r>
            <a:r>
              <a:rPr sz="1800" spc="-5" dirty="0">
                <a:latin typeface="Verdana"/>
                <a:cs typeface="Verdana"/>
              </a:rPr>
              <a:t>extracts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part </a:t>
            </a:r>
            <a:r>
              <a:rPr sz="1800" dirty="0">
                <a:latin typeface="Verdana"/>
                <a:cs typeface="Verdana"/>
              </a:rPr>
              <a:t>of a string and </a:t>
            </a:r>
            <a:r>
              <a:rPr sz="1800" spc="-5" dirty="0">
                <a:latin typeface="Verdana"/>
                <a:cs typeface="Verdana"/>
              </a:rPr>
              <a:t>returns the </a:t>
            </a:r>
            <a:r>
              <a:rPr sz="1800" spc="-10" dirty="0">
                <a:latin typeface="Verdana"/>
                <a:cs typeface="Verdana"/>
              </a:rPr>
              <a:t>extracted </a:t>
            </a:r>
            <a:r>
              <a:rPr sz="1800" spc="-5" dirty="0">
                <a:latin typeface="Verdana"/>
                <a:cs typeface="Verdana"/>
              </a:rPr>
              <a:t>part </a:t>
            </a:r>
            <a:r>
              <a:rPr sz="1800" dirty="0">
                <a:latin typeface="Verdana"/>
                <a:cs typeface="Verdana"/>
              </a:rPr>
              <a:t>in a new string.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method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takes </a:t>
            </a:r>
            <a:r>
              <a:rPr sz="1800" dirty="0">
                <a:latin typeface="Verdana"/>
                <a:cs typeface="Verdana"/>
              </a:rPr>
              <a:t>2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parameters: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start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position,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position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(end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included).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Ex:-</a:t>
            </a:r>
            <a:endParaRPr sz="1800" dirty="0">
              <a:latin typeface="Verdana"/>
              <a:cs typeface="Verdana"/>
            </a:endParaRPr>
          </a:p>
          <a:p>
            <a:pPr marL="12700" marR="5982335">
              <a:lnSpc>
                <a:spcPts val="2400"/>
              </a:lnSpc>
              <a:spcBef>
                <a:spcPts val="40"/>
              </a:spcBef>
            </a:pPr>
            <a:r>
              <a:rPr sz="2000" dirty="0">
                <a:latin typeface="Arial MT"/>
                <a:cs typeface="Arial MT"/>
              </a:rPr>
              <a:t>let </a:t>
            </a:r>
            <a:r>
              <a:rPr sz="2000" spc="-5" dirty="0">
                <a:latin typeface="Arial MT"/>
                <a:cs typeface="Arial MT"/>
              </a:rPr>
              <a:t>text </a:t>
            </a:r>
            <a:r>
              <a:rPr sz="2000" dirty="0">
                <a:latin typeface="Arial MT"/>
                <a:cs typeface="Arial MT"/>
              </a:rPr>
              <a:t>= "Apple, Banana, Kiwi";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5" dirty="0">
                <a:latin typeface="Arial MT"/>
                <a:cs typeface="Arial MT"/>
              </a:rPr>
              <a:t> text.slice(7,13);//banana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u="sng" dirty="0">
              <a:latin typeface="Arial MT"/>
              <a:cs typeface="Arial MT"/>
            </a:endParaRPr>
          </a:p>
          <a:p>
            <a:pPr marL="12700" marR="5767705">
              <a:lnSpc>
                <a:spcPct val="100000"/>
              </a:lnSpc>
              <a:buClr>
                <a:srgbClr val="000000"/>
              </a:buClr>
              <a:buSzPct val="95000"/>
              <a:buAutoNum type="arabicPeriod" startAt="3"/>
              <a:tabLst>
                <a:tab pos="226060" algn="l"/>
              </a:tabLst>
            </a:pPr>
            <a:r>
              <a:rPr sz="2000" u="sng" dirty="0">
                <a:latin typeface="Arial MT"/>
                <a:cs typeface="Arial MT"/>
              </a:rPr>
              <a:t>substring(</a:t>
            </a:r>
            <a:r>
              <a:rPr sz="2000" u="sng" spc="-55" dirty="0">
                <a:latin typeface="Arial MT"/>
                <a:cs typeface="Arial MT"/>
              </a:rPr>
              <a:t> </a:t>
            </a:r>
            <a:r>
              <a:rPr sz="2000" u="sng" dirty="0">
                <a:latin typeface="Arial MT"/>
                <a:cs typeface="Arial MT"/>
              </a:rPr>
              <a:t>):-</a:t>
            </a:r>
            <a:r>
              <a:rPr sz="2000" u="sng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similar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slice(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)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Syntax:-substring(start,end)</a:t>
            </a:r>
            <a:endParaRPr sz="2000" dirty="0">
              <a:latin typeface="Arial MT"/>
              <a:cs typeface="Arial MT"/>
            </a:endParaRPr>
          </a:p>
          <a:p>
            <a:pPr marL="12700" marR="235712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difference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that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substring(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accept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negative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indexes.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Ex:-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let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text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"Apple,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Banana,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Kiwi";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let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 </a:t>
            </a:r>
            <a:r>
              <a:rPr sz="2000" spc="-5" dirty="0">
                <a:latin typeface="Arial MT"/>
                <a:cs typeface="Arial MT"/>
              </a:rPr>
              <a:t>text.substring(7,13);//banana</a:t>
            </a:r>
            <a:endParaRPr sz="2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966197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300" y="291391"/>
            <a:ext cx="3945811" cy="679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30"/>
              </a:lnSpc>
              <a:spcBef>
                <a:spcPts val="105"/>
              </a:spcBef>
            </a:pPr>
            <a:r>
              <a:rPr sz="2000" b="0" u="none" dirty="0">
                <a:solidFill>
                  <a:schemeClr val="tx1"/>
                </a:solidFill>
                <a:latin typeface="Arial MT"/>
                <a:cs typeface="Arial MT"/>
              </a:rPr>
              <a:t>4</a:t>
            </a:r>
            <a:r>
              <a:rPr sz="2000" b="0" u="sng" dirty="0">
                <a:solidFill>
                  <a:schemeClr val="tx1"/>
                </a:solidFill>
                <a:latin typeface="Arial MT"/>
                <a:cs typeface="Arial MT"/>
              </a:rPr>
              <a:t>.substr(</a:t>
            </a:r>
            <a:r>
              <a:rPr sz="2000" b="0" u="sng" spc="-114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b="0" u="sng" spc="-5" dirty="0">
                <a:solidFill>
                  <a:schemeClr val="tx1"/>
                </a:solidFill>
                <a:latin typeface="Arial MT"/>
                <a:cs typeface="Arial MT"/>
              </a:rPr>
              <a:t>):-</a:t>
            </a:r>
            <a:endParaRPr sz="2000" u="sng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>
              <a:lnSpc>
                <a:spcPts val="2810"/>
              </a:lnSpc>
            </a:pPr>
            <a:r>
              <a:rPr sz="2400" b="0" u="none" spc="-50" dirty="0">
                <a:solidFill>
                  <a:schemeClr val="tx1"/>
                </a:solidFill>
                <a:latin typeface="Times New Roman"/>
                <a:cs typeface="Times New Roman"/>
              </a:rPr>
              <a:t>Substr(</a:t>
            </a:r>
            <a:r>
              <a:rPr sz="2400" b="0" u="none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0" u="none" spc="-100" dirty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r>
              <a:rPr sz="2400" b="0" u="none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0" u="none" spc="-90" dirty="0">
                <a:solidFill>
                  <a:schemeClr val="tx1"/>
                </a:solidFill>
                <a:latin typeface="Times New Roman"/>
                <a:cs typeface="Times New Roman"/>
              </a:rPr>
              <a:t>is</a:t>
            </a:r>
            <a:r>
              <a:rPr sz="2400" b="0" u="none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0" u="none" spc="-75" dirty="0">
                <a:solidFill>
                  <a:schemeClr val="tx1"/>
                </a:solidFill>
                <a:latin typeface="Times New Roman"/>
                <a:cs typeface="Times New Roman"/>
              </a:rPr>
              <a:t>similar</a:t>
            </a:r>
            <a:r>
              <a:rPr sz="2400" b="0" u="none"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0" u="none" spc="25" dirty="0">
                <a:solidFill>
                  <a:schemeClr val="tx1"/>
                </a:solidFill>
                <a:latin typeface="Times New Roman"/>
                <a:cs typeface="Times New Roman"/>
              </a:rPr>
              <a:t>to</a:t>
            </a:r>
            <a:r>
              <a:rPr sz="2400" b="0" u="none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0" u="none" spc="-90" dirty="0">
                <a:solidFill>
                  <a:schemeClr val="tx1"/>
                </a:solidFill>
                <a:latin typeface="Times New Roman"/>
                <a:cs typeface="Times New Roman"/>
              </a:rPr>
              <a:t>slice(</a:t>
            </a:r>
            <a:r>
              <a:rPr sz="2400" b="0" u="none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0" u="none" spc="-100" dirty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23088" y="1114085"/>
            <a:ext cx="11088688" cy="54886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0" dirty="0"/>
              <a:t> </a:t>
            </a:r>
            <a:r>
              <a:rPr spc="-5" dirty="0"/>
              <a:t>difference</a:t>
            </a:r>
            <a:r>
              <a:rPr spc="20" dirty="0"/>
              <a:t> </a:t>
            </a:r>
            <a:r>
              <a:rPr spc="-5" dirty="0"/>
              <a:t>is</a:t>
            </a:r>
            <a:r>
              <a:rPr spc="5" dirty="0"/>
              <a:t> </a:t>
            </a:r>
            <a:r>
              <a:rPr dirty="0"/>
              <a:t>that</a:t>
            </a:r>
            <a:r>
              <a:rPr spc="10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second</a:t>
            </a:r>
            <a:r>
              <a:rPr spc="15" dirty="0"/>
              <a:t> </a:t>
            </a:r>
            <a:r>
              <a:rPr spc="-5" dirty="0"/>
              <a:t>parameter</a:t>
            </a:r>
            <a:r>
              <a:rPr spc="15" dirty="0"/>
              <a:t> </a:t>
            </a:r>
            <a:r>
              <a:rPr spc="-5" dirty="0"/>
              <a:t>specifies</a:t>
            </a:r>
            <a:r>
              <a:rPr spc="2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5" dirty="0"/>
              <a:t>length</a:t>
            </a:r>
            <a:r>
              <a:rPr spc="2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5" dirty="0"/>
              <a:t>extracted</a:t>
            </a:r>
            <a:r>
              <a:rPr spc="15" dirty="0"/>
              <a:t> </a:t>
            </a:r>
            <a:r>
              <a:rPr dirty="0"/>
              <a:t>part.</a:t>
            </a:r>
          </a:p>
          <a:p>
            <a:pPr marL="12700">
              <a:lnSpc>
                <a:spcPts val="2110"/>
              </a:lnSpc>
            </a:pPr>
            <a:r>
              <a:rPr spc="-40" dirty="0">
                <a:latin typeface="Times New Roman"/>
                <a:cs typeface="Times New Roman"/>
              </a:rPr>
              <a:t>Ex:-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let text </a:t>
            </a:r>
            <a:r>
              <a:rPr dirty="0"/>
              <a:t>=</a:t>
            </a:r>
            <a:r>
              <a:rPr spc="-10" dirty="0"/>
              <a:t> </a:t>
            </a:r>
            <a:r>
              <a:rPr spc="-5" dirty="0"/>
              <a:t>"Apple,</a:t>
            </a:r>
            <a:r>
              <a:rPr spc="10" dirty="0"/>
              <a:t> </a:t>
            </a:r>
            <a:r>
              <a:rPr spc="-5" dirty="0"/>
              <a:t>Banana,</a:t>
            </a:r>
            <a:r>
              <a:rPr spc="5" dirty="0"/>
              <a:t> </a:t>
            </a:r>
            <a:r>
              <a:rPr spc="-10" dirty="0"/>
              <a:t>Kiwi";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let</a:t>
            </a:r>
            <a:r>
              <a:rPr spc="-20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text.substr(7,6);//banana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 dirty="0"/>
          </a:p>
          <a:p>
            <a:pPr marL="12700" marR="5080">
              <a:lnSpc>
                <a:spcPct val="100000"/>
              </a:lnSpc>
              <a:buSzPct val="95000"/>
              <a:buAutoNum type="arabicPeriod" startAt="5"/>
              <a:tabLst>
                <a:tab pos="226060" algn="l"/>
              </a:tabLst>
            </a:pPr>
            <a:r>
              <a:rPr sz="2000" u="sng" dirty="0"/>
              <a:t>replace(</a:t>
            </a:r>
            <a:r>
              <a:rPr sz="2000" u="sng" spc="-35" dirty="0"/>
              <a:t> </a:t>
            </a:r>
            <a:r>
              <a:rPr sz="2000" u="sng" spc="-5" dirty="0"/>
              <a:t>):-</a:t>
            </a:r>
            <a:r>
              <a:rPr spc="-5" dirty="0"/>
              <a:t>The</a:t>
            </a:r>
            <a:r>
              <a:rPr spc="-25" dirty="0"/>
              <a:t> </a:t>
            </a:r>
            <a:r>
              <a:rPr spc="-5" dirty="0"/>
              <a:t>replace</a:t>
            </a:r>
            <a:r>
              <a:rPr spc="15" dirty="0"/>
              <a:t> </a:t>
            </a:r>
            <a:r>
              <a:rPr spc="-5" dirty="0"/>
              <a:t>method</a:t>
            </a:r>
            <a:r>
              <a:rPr spc="15" dirty="0"/>
              <a:t> </a:t>
            </a:r>
            <a:r>
              <a:rPr spc="-5" dirty="0"/>
              <a:t>replaces</a:t>
            </a:r>
            <a:r>
              <a:rPr spc="15" dirty="0"/>
              <a:t> </a:t>
            </a:r>
            <a:r>
              <a:rPr spc="-5" dirty="0"/>
              <a:t>a</a:t>
            </a:r>
            <a:r>
              <a:rPr spc="10" dirty="0"/>
              <a:t> </a:t>
            </a:r>
            <a:r>
              <a:rPr spc="-5" dirty="0"/>
              <a:t>specified</a:t>
            </a:r>
            <a:r>
              <a:rPr spc="15" dirty="0"/>
              <a:t> </a:t>
            </a:r>
            <a:r>
              <a:rPr spc="-5" dirty="0"/>
              <a:t>value</a:t>
            </a:r>
            <a:r>
              <a:rPr spc="15" dirty="0"/>
              <a:t> </a:t>
            </a:r>
            <a:r>
              <a:rPr spc="-15" dirty="0"/>
              <a:t>with</a:t>
            </a:r>
            <a:r>
              <a:rPr spc="55" dirty="0"/>
              <a:t> </a:t>
            </a:r>
            <a:r>
              <a:rPr spc="-5" dirty="0"/>
              <a:t>another</a:t>
            </a:r>
            <a:r>
              <a:rPr spc="15" dirty="0"/>
              <a:t> </a:t>
            </a:r>
            <a:r>
              <a:rPr spc="-5" dirty="0"/>
              <a:t>value</a:t>
            </a:r>
            <a:r>
              <a:rPr spc="15" dirty="0"/>
              <a:t> </a:t>
            </a:r>
            <a:r>
              <a:rPr spc="-5" dirty="0"/>
              <a:t>in</a:t>
            </a:r>
            <a:r>
              <a:rPr dirty="0"/>
              <a:t> </a:t>
            </a:r>
            <a:r>
              <a:rPr spc="-5" dirty="0"/>
              <a:t>a</a:t>
            </a:r>
            <a:r>
              <a:rPr spc="10" dirty="0"/>
              <a:t> </a:t>
            </a:r>
            <a:r>
              <a:rPr spc="-5" dirty="0"/>
              <a:t>string </a:t>
            </a:r>
            <a:r>
              <a:rPr spc="-484" dirty="0"/>
              <a:t> </a:t>
            </a:r>
            <a:r>
              <a:rPr dirty="0"/>
              <a:t>By</a:t>
            </a:r>
            <a:r>
              <a:rPr spc="5" dirty="0"/>
              <a:t> </a:t>
            </a:r>
            <a:r>
              <a:rPr spc="-5" dirty="0"/>
              <a:t>default,the</a:t>
            </a:r>
            <a:r>
              <a:rPr dirty="0"/>
              <a:t> </a:t>
            </a:r>
            <a:r>
              <a:rPr spc="-5" dirty="0"/>
              <a:t>replace(</a:t>
            </a:r>
            <a:r>
              <a:rPr spc="25" dirty="0"/>
              <a:t> </a:t>
            </a:r>
            <a:r>
              <a:rPr dirty="0"/>
              <a:t>) </a:t>
            </a:r>
            <a:r>
              <a:rPr spc="-5" dirty="0"/>
              <a:t>method</a:t>
            </a:r>
            <a:r>
              <a:rPr spc="10" dirty="0"/>
              <a:t> </a:t>
            </a:r>
            <a:r>
              <a:rPr spc="-5" dirty="0"/>
              <a:t>replaces</a:t>
            </a:r>
            <a:r>
              <a:rPr spc="15" dirty="0"/>
              <a:t> </a:t>
            </a:r>
            <a:r>
              <a:rPr spc="-5" dirty="0"/>
              <a:t>only</a:t>
            </a:r>
            <a:r>
              <a:rPr spc="1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first match.</a:t>
            </a:r>
            <a:endParaRPr sz="2000" dirty="0"/>
          </a:p>
          <a:p>
            <a:pPr marL="12700">
              <a:lnSpc>
                <a:spcPts val="2120"/>
              </a:lnSpc>
              <a:spcBef>
                <a:spcPts val="10"/>
              </a:spcBef>
            </a:pPr>
            <a:r>
              <a:rPr spc="-5" dirty="0"/>
              <a:t>Ex:-</a:t>
            </a:r>
          </a:p>
          <a:p>
            <a:pPr marL="12700">
              <a:lnSpc>
                <a:spcPts val="2120"/>
              </a:lnSpc>
            </a:pPr>
            <a:r>
              <a:rPr spc="-5" dirty="0">
                <a:latin typeface="Consolas"/>
                <a:cs typeface="Consolas"/>
              </a:rPr>
              <a:t>let</a:t>
            </a:r>
            <a:r>
              <a:rPr spc="-3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text</a:t>
            </a:r>
            <a:r>
              <a:rPr spc="-10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-25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"Please</a:t>
            </a:r>
            <a:r>
              <a:rPr spc="-2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visit</a:t>
            </a:r>
            <a:r>
              <a:rPr spc="-1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Microsoft!";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>
                <a:latin typeface="Consolas"/>
                <a:cs typeface="Consolas"/>
              </a:rPr>
              <a:t>let</a:t>
            </a:r>
            <a:r>
              <a:rPr spc="5" dirty="0">
                <a:latin typeface="Consolas"/>
                <a:cs typeface="Consolas"/>
              </a:rPr>
              <a:t> </a:t>
            </a:r>
            <a:r>
              <a:rPr spc="-10" dirty="0">
                <a:latin typeface="Consolas"/>
                <a:cs typeface="Consolas"/>
              </a:rPr>
              <a:t>newText</a:t>
            </a:r>
            <a:r>
              <a:rPr spc="25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5" dirty="0">
                <a:latin typeface="Consolas"/>
                <a:cs typeface="Consolas"/>
              </a:rPr>
              <a:t> </a:t>
            </a:r>
            <a:r>
              <a:rPr spc="-10" dirty="0">
                <a:latin typeface="Consolas"/>
                <a:cs typeface="Consolas"/>
              </a:rPr>
              <a:t>text.replace("Microsoft",</a:t>
            </a:r>
            <a:r>
              <a:rPr spc="75" dirty="0">
                <a:latin typeface="Consolas"/>
                <a:cs typeface="Consolas"/>
              </a:rPr>
              <a:t> </a:t>
            </a:r>
            <a:r>
              <a:rPr spc="-10" dirty="0">
                <a:latin typeface="Consolas"/>
                <a:cs typeface="Consolas"/>
              </a:rPr>
              <a:t>“js");</a:t>
            </a:r>
            <a:r>
              <a:rPr spc="-10" dirty="0"/>
              <a:t>//”please</a:t>
            </a:r>
            <a:r>
              <a:rPr spc="30" dirty="0"/>
              <a:t> </a:t>
            </a:r>
            <a:r>
              <a:rPr spc="-5" dirty="0"/>
              <a:t>visit</a:t>
            </a:r>
            <a:r>
              <a:rPr spc="10" dirty="0"/>
              <a:t> </a:t>
            </a:r>
            <a:r>
              <a:rPr spc="-5" dirty="0"/>
              <a:t>js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 dirty="0"/>
          </a:p>
          <a:p>
            <a:pPr marL="225425" indent="-213360">
              <a:lnSpc>
                <a:spcPct val="100000"/>
              </a:lnSpc>
              <a:buSzPct val="95000"/>
              <a:buAutoNum type="arabicPeriod" startAt="6"/>
              <a:tabLst>
                <a:tab pos="226060" algn="l"/>
              </a:tabLst>
            </a:pPr>
            <a:r>
              <a:rPr sz="2000" u="sng" dirty="0"/>
              <a:t>trim(</a:t>
            </a:r>
            <a:r>
              <a:rPr sz="2000" u="sng" spc="-65" dirty="0"/>
              <a:t> </a:t>
            </a:r>
            <a:r>
              <a:rPr sz="2000" u="sng" spc="-5" dirty="0"/>
              <a:t>):-</a:t>
            </a:r>
            <a:endParaRPr sz="2000" u="sng" dirty="0"/>
          </a:p>
          <a:p>
            <a:pPr marL="12700" marR="2343150">
              <a:lnSpc>
                <a:spcPct val="100000"/>
              </a:lnSpc>
              <a:spcBef>
                <a:spcPts val="10"/>
              </a:spcBef>
            </a:pPr>
            <a:r>
              <a:rPr dirty="0"/>
              <a:t>The</a:t>
            </a:r>
            <a:r>
              <a:rPr spc="-10" dirty="0"/>
              <a:t> </a:t>
            </a:r>
            <a:r>
              <a:rPr dirty="0"/>
              <a:t>trim(</a:t>
            </a:r>
            <a:r>
              <a:rPr spc="10" dirty="0"/>
              <a:t> </a:t>
            </a:r>
            <a:r>
              <a:rPr dirty="0"/>
              <a:t>)</a:t>
            </a:r>
            <a:r>
              <a:rPr spc="5" dirty="0"/>
              <a:t> </a:t>
            </a:r>
            <a:r>
              <a:rPr spc="-5" dirty="0"/>
              <a:t>method</a:t>
            </a:r>
            <a:r>
              <a:rPr spc="20" dirty="0"/>
              <a:t> </a:t>
            </a:r>
            <a:r>
              <a:rPr spc="-5" dirty="0"/>
              <a:t>removes</a:t>
            </a:r>
            <a:r>
              <a:rPr spc="25" dirty="0"/>
              <a:t> </a:t>
            </a:r>
            <a:r>
              <a:rPr spc="-10" dirty="0"/>
              <a:t>whitespace</a:t>
            </a:r>
            <a:r>
              <a:rPr spc="55" dirty="0"/>
              <a:t> </a:t>
            </a:r>
            <a:r>
              <a:rPr dirty="0"/>
              <a:t>from</a:t>
            </a:r>
            <a:r>
              <a:rPr spc="5" dirty="0"/>
              <a:t> </a:t>
            </a:r>
            <a:r>
              <a:rPr spc="-5" dirty="0"/>
              <a:t>both</a:t>
            </a:r>
            <a:r>
              <a:rPr spc="10" dirty="0"/>
              <a:t> </a:t>
            </a:r>
            <a:r>
              <a:rPr spc="-5" dirty="0"/>
              <a:t>sides</a:t>
            </a:r>
            <a:r>
              <a:rPr spc="2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5" dirty="0"/>
              <a:t>a</a:t>
            </a:r>
            <a:r>
              <a:rPr spc="10" dirty="0"/>
              <a:t> </a:t>
            </a:r>
            <a:r>
              <a:rPr spc="-5" dirty="0"/>
              <a:t>string. </a:t>
            </a:r>
            <a:r>
              <a:rPr spc="-484" dirty="0"/>
              <a:t> </a:t>
            </a:r>
            <a:r>
              <a:rPr spc="-5" dirty="0"/>
              <a:t>Ex:-</a:t>
            </a:r>
          </a:p>
          <a:p>
            <a:pPr marL="12700">
              <a:lnSpc>
                <a:spcPts val="2080"/>
              </a:lnSpc>
              <a:tabLst>
                <a:tab pos="2393315" algn="l"/>
                <a:tab pos="4650740" algn="l"/>
              </a:tabLst>
            </a:pPr>
            <a:r>
              <a:rPr spc="-5" dirty="0">
                <a:latin typeface="Consolas"/>
                <a:cs typeface="Consolas"/>
              </a:rPr>
              <a:t>let</a:t>
            </a:r>
            <a:r>
              <a:rPr spc="-15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text1</a:t>
            </a:r>
            <a:r>
              <a:rPr spc="-10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5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"	</a:t>
            </a:r>
            <a:r>
              <a:rPr spc="-5" dirty="0">
                <a:latin typeface="Consolas"/>
                <a:cs typeface="Consolas"/>
              </a:rPr>
              <a:t>Hello</a:t>
            </a:r>
            <a:r>
              <a:rPr spc="25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World!	";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>
                <a:latin typeface="Consolas"/>
                <a:cs typeface="Consolas"/>
              </a:rPr>
              <a:t>let</a:t>
            </a:r>
            <a:r>
              <a:rPr spc="-25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text2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-3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text1.trim();</a:t>
            </a:r>
            <a:r>
              <a:rPr spc="-5" dirty="0"/>
              <a:t>//hello</a:t>
            </a:r>
            <a:r>
              <a:rPr spc="45" dirty="0"/>
              <a:t> </a:t>
            </a:r>
            <a:r>
              <a:rPr spc="-10" dirty="0"/>
              <a:t>world!</a:t>
            </a:r>
          </a:p>
        </p:txBody>
      </p:sp>
    </p:spTree>
    <p:extLst>
      <p:ext uri="{BB962C8B-B14F-4D97-AF65-F5344CB8AC3E}">
        <p14:creationId xmlns:p14="http://schemas.microsoft.com/office/powerpoint/2010/main" val="3245380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839" y="313724"/>
            <a:ext cx="11027614" cy="62305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95000"/>
              <a:tabLst>
                <a:tab pos="188595" algn="l"/>
              </a:tabLst>
            </a:pPr>
            <a:r>
              <a:rPr lang="en-US" sz="2400" spc="-35" dirty="0">
                <a:latin typeface="Times New Roman"/>
                <a:cs typeface="Times New Roman"/>
              </a:rPr>
              <a:t>7.</a:t>
            </a:r>
            <a:r>
              <a:rPr sz="2400" u="sng" spc="-35" dirty="0">
                <a:latin typeface="Times New Roman"/>
                <a:cs typeface="Times New Roman"/>
              </a:rPr>
              <a:t>inde</a:t>
            </a:r>
            <a:r>
              <a:rPr sz="2400" u="sng" spc="-85" dirty="0">
                <a:latin typeface="Times New Roman"/>
                <a:cs typeface="Times New Roman"/>
              </a:rPr>
              <a:t>x</a:t>
            </a:r>
            <a:r>
              <a:rPr sz="2400" u="sng" dirty="0">
                <a:latin typeface="Times New Roman"/>
                <a:cs typeface="Times New Roman"/>
              </a:rPr>
              <a:t>Of(</a:t>
            </a:r>
            <a:r>
              <a:rPr sz="2400" u="sng" spc="-10" dirty="0">
                <a:latin typeface="Times New Roman"/>
                <a:cs typeface="Times New Roman"/>
              </a:rPr>
              <a:t> </a:t>
            </a:r>
            <a:r>
              <a:rPr sz="2400" u="sng" spc="-110" dirty="0">
                <a:latin typeface="Times New Roman"/>
                <a:cs typeface="Times New Roman"/>
              </a:rPr>
              <a:t>)</a:t>
            </a:r>
            <a:r>
              <a:rPr sz="2400" u="sng" spc="-80" dirty="0">
                <a:latin typeface="Times New Roman"/>
                <a:cs typeface="Times New Roman"/>
              </a:rPr>
              <a:t>:</a:t>
            </a:r>
            <a:r>
              <a:rPr sz="2400" u="sng" spc="-40" dirty="0">
                <a:latin typeface="Times New Roman"/>
                <a:cs typeface="Times New Roman"/>
              </a:rPr>
              <a:t>-</a:t>
            </a:r>
            <a:endParaRPr sz="2400" u="sng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 err="1">
                <a:latin typeface="Times New Roman"/>
                <a:cs typeface="Times New Roman"/>
              </a:rPr>
              <a:t>indexOf</a:t>
            </a:r>
            <a:r>
              <a:rPr sz="2400" spc="-25" dirty="0">
                <a:latin typeface="Times New Roman"/>
                <a:cs typeface="Times New Roman"/>
              </a:rPr>
              <a:t>(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 </a:t>
            </a:r>
            <a:r>
              <a:rPr sz="2400" spc="-5" dirty="0">
                <a:latin typeface="Times New Roman"/>
                <a:cs typeface="Times New Roman"/>
              </a:rPr>
              <a:t>returns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index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position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first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occurrence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specified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in </a:t>
            </a:r>
            <a:r>
              <a:rPr sz="2400" spc="-484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string.</a:t>
            </a:r>
            <a:endParaRPr sz="2400" dirty="0">
              <a:latin typeface="Times New Roman"/>
              <a:cs typeface="Times New Roman"/>
            </a:endParaRPr>
          </a:p>
          <a:p>
            <a:pPr marL="12700" marR="5658485">
              <a:lnSpc>
                <a:spcPct val="100000"/>
              </a:lnSpc>
            </a:pPr>
            <a:r>
              <a:rPr sz="2400" spc="-25" dirty="0" err="1">
                <a:latin typeface="Times New Roman"/>
                <a:cs typeface="Times New Roman"/>
              </a:rPr>
              <a:t>indexOf</a:t>
            </a:r>
            <a:r>
              <a:rPr sz="2400" spc="-25" dirty="0">
                <a:latin typeface="Times New Roman"/>
                <a:cs typeface="Times New Roman"/>
              </a:rPr>
              <a:t>(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return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-1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if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not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found. </a:t>
            </a:r>
            <a:r>
              <a:rPr sz="2400" spc="-484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Ex:-</a:t>
            </a:r>
            <a:endParaRPr sz="2400" dirty="0">
              <a:latin typeface="Times New Roman"/>
              <a:cs typeface="Times New Roman"/>
            </a:endParaRPr>
          </a:p>
          <a:p>
            <a:pPr marL="12700" marR="5483860">
              <a:lnSpc>
                <a:spcPct val="100000"/>
              </a:lnSpc>
            </a:pPr>
            <a:r>
              <a:rPr sz="2400" spc="-35" dirty="0">
                <a:latin typeface="Times New Roman"/>
                <a:cs typeface="Times New Roman"/>
              </a:rPr>
              <a:t>Let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str=“please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locate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where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‘locate’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occurs!”; </a:t>
            </a:r>
            <a:r>
              <a:rPr sz="2400" spc="-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str.indexOf(“locate”);//7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Str.indexOf(“locate”);//-1</a:t>
            </a:r>
            <a:endParaRPr sz="2400" dirty="0">
              <a:latin typeface="Times New Roman"/>
              <a:cs typeface="Times New Roman"/>
            </a:endParaRPr>
          </a:p>
          <a:p>
            <a:pPr marL="187960" indent="-175895">
              <a:lnSpc>
                <a:spcPct val="100000"/>
              </a:lnSpc>
              <a:buSzPct val="95000"/>
              <a:buAutoNum type="arabicPeriod" startAt="8"/>
              <a:tabLst>
                <a:tab pos="188595" algn="l"/>
              </a:tabLst>
            </a:pPr>
            <a:r>
              <a:rPr sz="2400" u="sng" spc="-20" dirty="0">
                <a:latin typeface="Times New Roman"/>
                <a:cs typeface="Times New Roman"/>
              </a:rPr>
              <a:t>lastIndexOf(</a:t>
            </a:r>
            <a:r>
              <a:rPr sz="2400" u="sng" spc="-65" dirty="0">
                <a:latin typeface="Times New Roman"/>
                <a:cs typeface="Times New Roman"/>
              </a:rPr>
              <a:t> </a:t>
            </a:r>
            <a:r>
              <a:rPr sz="2400" u="sng" spc="-80" dirty="0">
                <a:latin typeface="Times New Roman"/>
                <a:cs typeface="Times New Roman"/>
              </a:rPr>
              <a:t>):-</a:t>
            </a:r>
            <a:endParaRPr sz="2400" u="sng" dirty="0">
              <a:latin typeface="Times New Roman"/>
              <a:cs typeface="Times New Roman"/>
            </a:endParaRPr>
          </a:p>
          <a:p>
            <a:pPr marL="12700" marR="280035" algn="just">
              <a:lnSpc>
                <a:spcPct val="100000"/>
              </a:lnSpc>
              <a:spcBef>
                <a:spcPts val="35"/>
              </a:spcBef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b="1" spc="-5" dirty="0">
                <a:latin typeface="Calibri"/>
                <a:cs typeface="Calibri"/>
              </a:rPr>
              <a:t>lastIndexOf() </a:t>
            </a:r>
            <a:r>
              <a:rPr sz="2400" spc="-5" dirty="0">
                <a:latin typeface="Calibri"/>
                <a:cs typeface="Calibri"/>
              </a:rPr>
              <a:t>method of </a:t>
            </a:r>
            <a:r>
              <a:rPr sz="2400" u="heavy" dirty="0">
                <a:solidFill>
                  <a:srgbClr val="58C1BA"/>
                </a:solidFill>
                <a:uFill>
                  <a:solidFill>
                    <a:srgbClr val="363636"/>
                  </a:solidFill>
                </a:uFill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</a:t>
            </a:r>
            <a:r>
              <a:rPr sz="2400" dirty="0"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2400" spc="-5" dirty="0">
                <a:latin typeface="Calibri"/>
                <a:cs typeface="Calibri"/>
              </a:rPr>
              <a:t>values searches </a:t>
            </a: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string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index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last </a:t>
            </a:r>
            <a:r>
              <a:rPr sz="2400" spc="-4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occurrence </a:t>
            </a:r>
            <a:r>
              <a:rPr sz="2400" dirty="0">
                <a:latin typeface="Calibri"/>
                <a:cs typeface="Calibri"/>
              </a:rPr>
              <a:t>of the </a:t>
            </a:r>
            <a:r>
              <a:rPr sz="2400" spc="-5" dirty="0">
                <a:latin typeface="Calibri"/>
                <a:cs typeface="Calibri"/>
              </a:rPr>
              <a:t>specified substring. It </a:t>
            </a:r>
            <a:r>
              <a:rPr sz="2400" spc="-20" dirty="0">
                <a:latin typeface="Calibri"/>
                <a:cs typeface="Calibri"/>
              </a:rPr>
              <a:t>takes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optional </a:t>
            </a:r>
            <a:r>
              <a:rPr sz="2400" spc="-10" dirty="0">
                <a:latin typeface="Calibri"/>
                <a:cs typeface="Calibri"/>
              </a:rPr>
              <a:t>starting </a:t>
            </a:r>
            <a:r>
              <a:rPr sz="2400" spc="-5" dirty="0">
                <a:latin typeface="Calibri"/>
                <a:cs typeface="Calibri"/>
              </a:rPr>
              <a:t>position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last </a:t>
            </a:r>
            <a:r>
              <a:rPr sz="2400" spc="-4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occurrence 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specified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substring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index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less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specified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number.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365"/>
              </a:lnSpc>
            </a:pPr>
            <a:r>
              <a:rPr sz="2400" spc="-35" dirty="0">
                <a:latin typeface="Times New Roman"/>
                <a:cs typeface="Times New Roman"/>
              </a:rPr>
              <a:t>Ex:-</a:t>
            </a:r>
            <a:endParaRPr sz="2400" dirty="0">
              <a:latin typeface="Times New Roman"/>
              <a:cs typeface="Times New Roman"/>
            </a:endParaRPr>
          </a:p>
          <a:p>
            <a:pPr marL="12700" marR="5483860">
              <a:lnSpc>
                <a:spcPct val="100000"/>
              </a:lnSpc>
            </a:pPr>
            <a:r>
              <a:rPr sz="2400" spc="-35" dirty="0">
                <a:latin typeface="Times New Roman"/>
                <a:cs typeface="Times New Roman"/>
              </a:rPr>
              <a:t>Let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str=“please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locate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where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‘locate’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occurs!”; </a:t>
            </a:r>
            <a:r>
              <a:rPr sz="2400" spc="-48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str.indexOf(“locate”);//21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Str.indexOf(“locate”);//-1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51063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188" y="795020"/>
            <a:ext cx="8575040" cy="4678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94444"/>
              <a:tabLst>
                <a:tab pos="241935" algn="l"/>
              </a:tabLst>
            </a:pPr>
            <a:r>
              <a:rPr lang="en-US" spc="-5" dirty="0">
                <a:latin typeface="Verdana"/>
                <a:cs typeface="Verdana"/>
              </a:rPr>
              <a:t>9.</a:t>
            </a:r>
            <a:r>
              <a:rPr u="sng" spc="-5" dirty="0">
                <a:latin typeface="Verdana"/>
                <a:cs typeface="Verdana"/>
              </a:rPr>
              <a:t>Includes(</a:t>
            </a:r>
            <a:r>
              <a:rPr u="sng" spc="-50" dirty="0">
                <a:latin typeface="Verdana"/>
                <a:cs typeface="Verdana"/>
              </a:rPr>
              <a:t> </a:t>
            </a:r>
            <a:r>
              <a:rPr u="sng" spc="-5" dirty="0">
                <a:latin typeface="Verdana"/>
                <a:cs typeface="Verdana"/>
              </a:rPr>
              <a:t>):-</a:t>
            </a:r>
            <a:endParaRPr u="sng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AutoNum type="arabicPeriod" startAt="9"/>
            </a:pP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-5" dirty="0">
                <a:latin typeface="Verdana"/>
                <a:cs typeface="Verdana"/>
              </a:rPr>
              <a:t>The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Consolas"/>
                <a:cs typeface="Consolas"/>
              </a:rPr>
              <a:t>includes()</a:t>
            </a:r>
            <a:r>
              <a:rPr spc="-320" dirty="0">
                <a:latin typeface="Consolas"/>
                <a:cs typeface="Consolas"/>
              </a:rPr>
              <a:t> </a:t>
            </a:r>
            <a:r>
              <a:rPr spc="-5" dirty="0">
                <a:latin typeface="Verdana"/>
                <a:cs typeface="Verdana"/>
              </a:rPr>
              <a:t>method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returns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Consolas"/>
                <a:cs typeface="Consolas"/>
              </a:rPr>
              <a:t>true</a:t>
            </a:r>
            <a:r>
              <a:rPr spc="-330" dirty="0">
                <a:latin typeface="Consolas"/>
                <a:cs typeface="Consolas"/>
              </a:rPr>
              <a:t> </a:t>
            </a:r>
            <a:r>
              <a:rPr dirty="0">
                <a:latin typeface="Verdana"/>
                <a:cs typeface="Verdana"/>
              </a:rPr>
              <a:t>if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string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contains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specified</a:t>
            </a:r>
            <a:r>
              <a:rPr spc="3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string.</a:t>
            </a:r>
            <a:endParaRPr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-5" dirty="0">
                <a:latin typeface="Verdana"/>
                <a:cs typeface="Verdana"/>
              </a:rPr>
              <a:t>Otherwise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spc="5" dirty="0">
                <a:latin typeface="Verdana"/>
                <a:cs typeface="Verdana"/>
              </a:rPr>
              <a:t>it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returns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10" dirty="0">
                <a:latin typeface="Consolas"/>
                <a:cs typeface="Consolas"/>
              </a:rPr>
              <a:t>false</a:t>
            </a:r>
            <a:r>
              <a:rPr spc="-10" dirty="0">
                <a:latin typeface="Verdana"/>
                <a:cs typeface="Verdana"/>
              </a:rPr>
              <a:t>.</a:t>
            </a:r>
            <a:endParaRPr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>
                <a:latin typeface="Verdana"/>
                <a:cs typeface="Verdana"/>
              </a:rPr>
              <a:t>Th</a:t>
            </a:r>
            <a:r>
              <a:rPr dirty="0">
                <a:latin typeface="Verdana"/>
                <a:cs typeface="Verdana"/>
              </a:rPr>
              <a:t>e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Consolas"/>
                <a:cs typeface="Consolas"/>
              </a:rPr>
              <a:t>includes(</a:t>
            </a:r>
            <a:r>
              <a:rPr dirty="0">
                <a:latin typeface="Consolas"/>
                <a:cs typeface="Consolas"/>
              </a:rPr>
              <a:t>)</a:t>
            </a:r>
            <a:r>
              <a:rPr spc="-325" dirty="0">
                <a:latin typeface="Consolas"/>
                <a:cs typeface="Consolas"/>
              </a:rPr>
              <a:t> </a:t>
            </a:r>
            <a:r>
              <a:rPr dirty="0">
                <a:latin typeface="Verdana"/>
                <a:cs typeface="Verdana"/>
              </a:rPr>
              <a:t>me</a:t>
            </a:r>
            <a:r>
              <a:rPr spc="-5" dirty="0">
                <a:latin typeface="Verdana"/>
                <a:cs typeface="Verdana"/>
              </a:rPr>
              <a:t>t</a:t>
            </a:r>
            <a:r>
              <a:rPr dirty="0">
                <a:latin typeface="Verdana"/>
                <a:cs typeface="Verdana"/>
              </a:rPr>
              <a:t>hod</a:t>
            </a:r>
            <a:r>
              <a:rPr spc="5" dirty="0">
                <a:latin typeface="Verdana"/>
                <a:cs typeface="Verdana"/>
              </a:rPr>
              <a:t> i</a:t>
            </a:r>
            <a:r>
              <a:rPr dirty="0">
                <a:latin typeface="Verdana"/>
                <a:cs typeface="Verdana"/>
              </a:rPr>
              <a:t>s case s</a:t>
            </a:r>
            <a:r>
              <a:rPr spc="-10" dirty="0">
                <a:latin typeface="Verdana"/>
                <a:cs typeface="Verdana"/>
              </a:rPr>
              <a:t>e</a:t>
            </a:r>
            <a:r>
              <a:rPr dirty="0">
                <a:latin typeface="Verdana"/>
                <a:cs typeface="Verdana"/>
              </a:rPr>
              <a:t>ns</a:t>
            </a:r>
            <a:r>
              <a:rPr spc="10" dirty="0">
                <a:latin typeface="Verdana"/>
                <a:cs typeface="Verdana"/>
              </a:rPr>
              <a:t>i</a:t>
            </a:r>
            <a:r>
              <a:rPr spc="-5" dirty="0">
                <a:latin typeface="Verdana"/>
                <a:cs typeface="Verdana"/>
              </a:rPr>
              <a:t>t</a:t>
            </a:r>
            <a:r>
              <a:rPr spc="10" dirty="0">
                <a:latin typeface="Verdana"/>
                <a:cs typeface="Verdana"/>
              </a:rPr>
              <a:t>i</a:t>
            </a:r>
            <a:r>
              <a:rPr spc="-10" dirty="0">
                <a:latin typeface="Verdana"/>
                <a:cs typeface="Verdana"/>
              </a:rPr>
              <a:t>v</a:t>
            </a:r>
            <a:r>
              <a:rPr dirty="0">
                <a:latin typeface="Verdana"/>
                <a:cs typeface="Verdana"/>
              </a:rPr>
              <a:t>e.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-10" dirty="0">
                <a:latin typeface="Verdana"/>
                <a:cs typeface="Verdana"/>
              </a:rPr>
              <a:t>Syntax:-</a:t>
            </a:r>
            <a:r>
              <a:rPr i="1" spc="-10" dirty="0">
                <a:latin typeface="Consolas"/>
                <a:cs typeface="Consolas"/>
              </a:rPr>
              <a:t>string</a:t>
            </a:r>
            <a:r>
              <a:rPr spc="-10" dirty="0">
                <a:latin typeface="Consolas"/>
                <a:cs typeface="Consolas"/>
              </a:rPr>
              <a:t>.includes(</a:t>
            </a:r>
            <a:r>
              <a:rPr i="1" spc="-10" dirty="0">
                <a:latin typeface="Consolas"/>
                <a:cs typeface="Consolas"/>
              </a:rPr>
              <a:t>searchvalue</a:t>
            </a:r>
            <a:r>
              <a:rPr spc="-10" dirty="0">
                <a:latin typeface="Consolas"/>
                <a:cs typeface="Consolas"/>
              </a:rPr>
              <a:t>,</a:t>
            </a:r>
            <a:r>
              <a:rPr spc="50" dirty="0">
                <a:latin typeface="Consolas"/>
                <a:cs typeface="Consolas"/>
              </a:rPr>
              <a:t> </a:t>
            </a:r>
            <a:r>
              <a:rPr i="1" spc="-10" dirty="0">
                <a:latin typeface="Consolas"/>
                <a:cs typeface="Consolas"/>
              </a:rPr>
              <a:t>start</a:t>
            </a:r>
            <a:r>
              <a:rPr spc="-10" dirty="0">
                <a:latin typeface="Consolas"/>
                <a:cs typeface="Consolas"/>
              </a:rPr>
              <a:t>)</a:t>
            </a:r>
            <a:endParaRPr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dirty="0">
              <a:latin typeface="Consolas"/>
              <a:cs typeface="Consolas"/>
            </a:endParaRPr>
          </a:p>
          <a:p>
            <a:pPr marL="12700">
              <a:lnSpc>
                <a:spcPts val="2100"/>
              </a:lnSpc>
            </a:pPr>
            <a:r>
              <a:rPr dirty="0">
                <a:latin typeface="Verdana"/>
                <a:cs typeface="Verdana"/>
              </a:rPr>
              <a:t>Ex:-</a:t>
            </a:r>
          </a:p>
          <a:p>
            <a:pPr marL="12700">
              <a:lnSpc>
                <a:spcPts val="2100"/>
              </a:lnSpc>
            </a:pPr>
            <a:r>
              <a:rPr spc="-10" dirty="0">
                <a:latin typeface="Consolas"/>
                <a:cs typeface="Consolas"/>
              </a:rPr>
              <a:t>let</a:t>
            </a:r>
            <a:r>
              <a:rPr spc="-2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text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-1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"Hello world,</a:t>
            </a:r>
            <a:r>
              <a:rPr spc="-1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welcome to the</a:t>
            </a:r>
            <a:r>
              <a:rPr spc="-15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universe.";</a:t>
            </a:r>
            <a:endParaRPr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>
                <a:latin typeface="Consolas"/>
                <a:cs typeface="Consolas"/>
              </a:rPr>
              <a:t>let</a:t>
            </a:r>
            <a:r>
              <a:rPr spc="-25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result</a:t>
            </a:r>
            <a:r>
              <a:rPr spc="-25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-1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text.includes("world");//true</a:t>
            </a:r>
            <a:endParaRPr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dirty="0">
              <a:latin typeface="Consolas"/>
              <a:cs typeface="Consolas"/>
            </a:endParaRPr>
          </a:p>
          <a:p>
            <a:pPr marL="388620" indent="-376555">
              <a:lnSpc>
                <a:spcPts val="2155"/>
              </a:lnSpc>
              <a:buSzPct val="94444"/>
              <a:buAutoNum type="arabicPeriod" startAt="10"/>
              <a:tabLst>
                <a:tab pos="389255" algn="l"/>
              </a:tabLst>
            </a:pPr>
            <a:r>
              <a:rPr u="sng" spc="-5" dirty="0">
                <a:latin typeface="Consolas"/>
                <a:cs typeface="Consolas"/>
              </a:rPr>
              <a:t>repeat(</a:t>
            </a:r>
            <a:r>
              <a:rPr u="sng" spc="-65" dirty="0">
                <a:latin typeface="Consolas"/>
                <a:cs typeface="Consolas"/>
              </a:rPr>
              <a:t> </a:t>
            </a:r>
            <a:r>
              <a:rPr u="sng" spc="-5" dirty="0">
                <a:latin typeface="Consolas"/>
                <a:cs typeface="Consolas"/>
              </a:rPr>
              <a:t>):-</a:t>
            </a:r>
            <a:endParaRPr u="sng" dirty="0">
              <a:latin typeface="Consolas"/>
              <a:cs typeface="Consolas"/>
            </a:endParaRPr>
          </a:p>
          <a:p>
            <a:pPr marL="12700" marR="34290">
              <a:lnSpc>
                <a:spcPts val="2160"/>
              </a:lnSpc>
              <a:spcBef>
                <a:spcPts val="70"/>
              </a:spcBef>
            </a:pPr>
            <a:r>
              <a:rPr spc="-5" dirty="0">
                <a:latin typeface="Verdana"/>
                <a:cs typeface="Verdana"/>
              </a:rPr>
              <a:t>Th</a:t>
            </a:r>
            <a:r>
              <a:rPr dirty="0">
                <a:latin typeface="Verdana"/>
                <a:cs typeface="Verdana"/>
              </a:rPr>
              <a:t>e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Consolas"/>
                <a:cs typeface="Consolas"/>
              </a:rPr>
              <a:t>repeat(</a:t>
            </a:r>
            <a:r>
              <a:rPr dirty="0">
                <a:latin typeface="Consolas"/>
                <a:cs typeface="Consolas"/>
              </a:rPr>
              <a:t>)</a:t>
            </a:r>
            <a:r>
              <a:rPr spc="-325" dirty="0">
                <a:latin typeface="Consolas"/>
                <a:cs typeface="Consolas"/>
              </a:rPr>
              <a:t> </a:t>
            </a:r>
            <a:r>
              <a:rPr dirty="0">
                <a:latin typeface="Verdana"/>
                <a:cs typeface="Verdana"/>
              </a:rPr>
              <a:t>me</a:t>
            </a:r>
            <a:r>
              <a:rPr spc="-5" dirty="0">
                <a:latin typeface="Verdana"/>
                <a:cs typeface="Verdana"/>
              </a:rPr>
              <a:t>t</a:t>
            </a:r>
            <a:r>
              <a:rPr dirty="0">
                <a:latin typeface="Verdana"/>
                <a:cs typeface="Verdana"/>
              </a:rPr>
              <a:t>hod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r</a:t>
            </a:r>
            <a:r>
              <a:rPr spc="-5" dirty="0">
                <a:latin typeface="Verdana"/>
                <a:cs typeface="Verdana"/>
              </a:rPr>
              <a:t>eturn</a:t>
            </a:r>
            <a:r>
              <a:rPr dirty="0">
                <a:latin typeface="Verdana"/>
                <a:cs typeface="Verdana"/>
              </a:rPr>
              <a:t>s a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str</a:t>
            </a:r>
            <a:r>
              <a:rPr spc="5" dirty="0">
                <a:latin typeface="Verdana"/>
                <a:cs typeface="Verdana"/>
              </a:rPr>
              <a:t>i</a:t>
            </a:r>
            <a:r>
              <a:rPr dirty="0">
                <a:latin typeface="Verdana"/>
                <a:cs typeface="Verdana"/>
              </a:rPr>
              <a:t>ng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w</a:t>
            </a:r>
            <a:r>
              <a:rPr spc="15" dirty="0">
                <a:latin typeface="Verdana"/>
                <a:cs typeface="Verdana"/>
              </a:rPr>
              <a:t>i</a:t>
            </a:r>
            <a:r>
              <a:rPr spc="-5" dirty="0">
                <a:latin typeface="Verdana"/>
                <a:cs typeface="Verdana"/>
              </a:rPr>
              <a:t>t</a:t>
            </a:r>
            <a:r>
              <a:rPr dirty="0">
                <a:latin typeface="Verdana"/>
                <a:cs typeface="Verdana"/>
              </a:rPr>
              <a:t>h a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numb</a:t>
            </a:r>
            <a:r>
              <a:rPr spc="-10" dirty="0">
                <a:latin typeface="Verdana"/>
                <a:cs typeface="Verdana"/>
              </a:rPr>
              <a:t>e</a:t>
            </a:r>
            <a:r>
              <a:rPr dirty="0">
                <a:latin typeface="Verdana"/>
                <a:cs typeface="Verdana"/>
              </a:rPr>
              <a:t>r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of cop</a:t>
            </a:r>
            <a:r>
              <a:rPr spc="5" dirty="0">
                <a:latin typeface="Verdana"/>
                <a:cs typeface="Verdana"/>
              </a:rPr>
              <a:t>i</a:t>
            </a:r>
            <a:r>
              <a:rPr dirty="0">
                <a:latin typeface="Verdana"/>
                <a:cs typeface="Verdana"/>
              </a:rPr>
              <a:t>es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of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 str</a:t>
            </a:r>
            <a:r>
              <a:rPr spc="5" dirty="0">
                <a:latin typeface="Verdana"/>
                <a:cs typeface="Verdana"/>
              </a:rPr>
              <a:t>i</a:t>
            </a:r>
            <a:r>
              <a:rPr dirty="0">
                <a:latin typeface="Verdana"/>
                <a:cs typeface="Verdana"/>
              </a:rPr>
              <a:t>ng.  </a:t>
            </a:r>
            <a:r>
              <a:rPr spc="-5" dirty="0">
                <a:latin typeface="Verdana"/>
                <a:cs typeface="Verdana"/>
              </a:rPr>
              <a:t>Th</a:t>
            </a:r>
            <a:r>
              <a:rPr dirty="0">
                <a:latin typeface="Verdana"/>
                <a:cs typeface="Verdana"/>
              </a:rPr>
              <a:t>e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Consolas"/>
                <a:cs typeface="Consolas"/>
              </a:rPr>
              <a:t>repeat(</a:t>
            </a:r>
            <a:r>
              <a:rPr dirty="0">
                <a:latin typeface="Consolas"/>
                <a:cs typeface="Consolas"/>
              </a:rPr>
              <a:t>)</a:t>
            </a:r>
            <a:r>
              <a:rPr spc="-325" dirty="0">
                <a:latin typeface="Consolas"/>
                <a:cs typeface="Consolas"/>
              </a:rPr>
              <a:t> </a:t>
            </a:r>
            <a:r>
              <a:rPr dirty="0">
                <a:latin typeface="Verdana"/>
                <a:cs typeface="Verdana"/>
              </a:rPr>
              <a:t>me</a:t>
            </a:r>
            <a:r>
              <a:rPr spc="-5" dirty="0">
                <a:latin typeface="Verdana"/>
                <a:cs typeface="Verdana"/>
              </a:rPr>
              <a:t>t</a:t>
            </a:r>
            <a:r>
              <a:rPr dirty="0">
                <a:latin typeface="Verdana"/>
                <a:cs typeface="Verdana"/>
              </a:rPr>
              <a:t>hod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r</a:t>
            </a:r>
            <a:r>
              <a:rPr spc="-5" dirty="0">
                <a:latin typeface="Verdana"/>
                <a:cs typeface="Verdana"/>
              </a:rPr>
              <a:t>eturn</a:t>
            </a:r>
            <a:r>
              <a:rPr dirty="0">
                <a:latin typeface="Verdana"/>
                <a:cs typeface="Verdana"/>
              </a:rPr>
              <a:t>s a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new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str</a:t>
            </a:r>
            <a:r>
              <a:rPr spc="5" dirty="0">
                <a:latin typeface="Verdana"/>
                <a:cs typeface="Verdana"/>
              </a:rPr>
              <a:t>i</a:t>
            </a:r>
            <a:r>
              <a:rPr dirty="0">
                <a:latin typeface="Verdana"/>
                <a:cs typeface="Verdana"/>
              </a:rPr>
              <a:t>ng.</a:t>
            </a:r>
          </a:p>
          <a:p>
            <a:pPr marL="12700">
              <a:lnSpc>
                <a:spcPts val="2125"/>
              </a:lnSpc>
            </a:pPr>
            <a:r>
              <a:rPr spc="-5" dirty="0">
                <a:latin typeface="Verdana"/>
                <a:cs typeface="Verdana"/>
              </a:rPr>
              <a:t>Th</a:t>
            </a:r>
            <a:r>
              <a:rPr dirty="0">
                <a:latin typeface="Verdana"/>
                <a:cs typeface="Verdana"/>
              </a:rPr>
              <a:t>e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Consolas"/>
                <a:cs typeface="Consolas"/>
              </a:rPr>
              <a:t>repeat(</a:t>
            </a:r>
            <a:r>
              <a:rPr dirty="0">
                <a:latin typeface="Consolas"/>
                <a:cs typeface="Consolas"/>
              </a:rPr>
              <a:t>)</a:t>
            </a:r>
            <a:r>
              <a:rPr spc="-325" dirty="0">
                <a:latin typeface="Consolas"/>
                <a:cs typeface="Consolas"/>
              </a:rPr>
              <a:t> </a:t>
            </a:r>
            <a:r>
              <a:rPr dirty="0">
                <a:latin typeface="Verdana"/>
                <a:cs typeface="Verdana"/>
              </a:rPr>
              <a:t>me</a:t>
            </a:r>
            <a:r>
              <a:rPr spc="-5" dirty="0">
                <a:latin typeface="Verdana"/>
                <a:cs typeface="Verdana"/>
              </a:rPr>
              <a:t>t</a:t>
            </a:r>
            <a:r>
              <a:rPr dirty="0">
                <a:latin typeface="Verdana"/>
                <a:cs typeface="Verdana"/>
              </a:rPr>
              <a:t>hod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d</a:t>
            </a:r>
            <a:r>
              <a:rPr dirty="0">
                <a:latin typeface="Verdana"/>
                <a:cs typeface="Verdana"/>
              </a:rPr>
              <a:t>o</a:t>
            </a:r>
            <a:r>
              <a:rPr spc="-10" dirty="0">
                <a:latin typeface="Verdana"/>
                <a:cs typeface="Verdana"/>
              </a:rPr>
              <a:t>e</a:t>
            </a:r>
            <a:r>
              <a:rPr dirty="0">
                <a:latin typeface="Verdana"/>
                <a:cs typeface="Verdana"/>
              </a:rPr>
              <a:t>s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not chan</a:t>
            </a:r>
            <a:r>
              <a:rPr spc="-10" dirty="0">
                <a:latin typeface="Verdana"/>
                <a:cs typeface="Verdana"/>
              </a:rPr>
              <a:t>g</a:t>
            </a:r>
            <a:r>
              <a:rPr dirty="0">
                <a:latin typeface="Verdana"/>
                <a:cs typeface="Verdana"/>
              </a:rPr>
              <a:t>e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th</a:t>
            </a:r>
            <a:r>
              <a:rPr dirty="0">
                <a:latin typeface="Verdana"/>
                <a:cs typeface="Verdana"/>
              </a:rPr>
              <a:t>e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or</a:t>
            </a:r>
            <a:r>
              <a:rPr spc="10" dirty="0">
                <a:latin typeface="Verdana"/>
                <a:cs typeface="Verdana"/>
              </a:rPr>
              <a:t>i</a:t>
            </a:r>
            <a:r>
              <a:rPr spc="-10" dirty="0">
                <a:latin typeface="Verdana"/>
                <a:cs typeface="Verdana"/>
              </a:rPr>
              <a:t>g</a:t>
            </a:r>
            <a:r>
              <a:rPr spc="5" dirty="0">
                <a:latin typeface="Verdana"/>
                <a:cs typeface="Verdana"/>
              </a:rPr>
              <a:t>i</a:t>
            </a:r>
            <a:r>
              <a:rPr dirty="0">
                <a:latin typeface="Verdana"/>
                <a:cs typeface="Verdana"/>
              </a:rPr>
              <a:t>nal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str</a:t>
            </a:r>
            <a:r>
              <a:rPr spc="5" dirty="0">
                <a:latin typeface="Verdana"/>
                <a:cs typeface="Verdana"/>
              </a:rPr>
              <a:t>i</a:t>
            </a:r>
            <a:r>
              <a:rPr dirty="0">
                <a:latin typeface="Verdana"/>
                <a:cs typeface="Verdana"/>
              </a:rPr>
              <a:t>n</a:t>
            </a:r>
            <a:r>
              <a:rPr lang="en-US" dirty="0">
                <a:latin typeface="Verdana"/>
                <a:cs typeface="Verdana"/>
              </a:rPr>
              <a:t>g</a:t>
            </a:r>
            <a:endParaRPr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439891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918" y="477801"/>
            <a:ext cx="10517603" cy="59246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nsolas"/>
                <a:cs typeface="Consolas"/>
              </a:rPr>
              <a:t>let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text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"Hi";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000" spc="-10" dirty="0">
                <a:latin typeface="Consolas"/>
                <a:cs typeface="Consolas"/>
              </a:rPr>
              <a:t>let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result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text.repeat(2);//hi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hi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u="sng" dirty="0">
              <a:latin typeface="Consolas"/>
              <a:cs typeface="Consolas"/>
            </a:endParaRPr>
          </a:p>
          <a:p>
            <a:pPr marL="388620" indent="-376555">
              <a:lnSpc>
                <a:spcPct val="100000"/>
              </a:lnSpc>
              <a:buSzPct val="94444"/>
              <a:buAutoNum type="arabicPeriod" startAt="11"/>
              <a:tabLst>
                <a:tab pos="389255" algn="l"/>
              </a:tabLst>
            </a:pPr>
            <a:r>
              <a:rPr sz="2000" u="sng" spc="-5" dirty="0">
                <a:latin typeface="Consolas"/>
                <a:cs typeface="Consolas"/>
              </a:rPr>
              <a:t>charAt(</a:t>
            </a:r>
            <a:r>
              <a:rPr sz="2000" u="sng" spc="-65" dirty="0">
                <a:latin typeface="Consolas"/>
                <a:cs typeface="Consolas"/>
              </a:rPr>
              <a:t> </a:t>
            </a:r>
            <a:r>
              <a:rPr sz="2000" u="sng" spc="-5" dirty="0">
                <a:latin typeface="Consolas"/>
                <a:cs typeface="Consolas"/>
              </a:rPr>
              <a:t>):-</a:t>
            </a:r>
            <a:endParaRPr sz="2000" u="sng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0000"/>
              </a:buClr>
              <a:buFont typeface="Consolas"/>
              <a:buAutoNum type="arabicPeriod" startAt="11"/>
            </a:pP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nsolas"/>
                <a:cs typeface="Consolas"/>
              </a:rPr>
              <a:t>it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will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return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the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character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of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the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specified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position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Ex:-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nsolas"/>
                <a:cs typeface="Consolas"/>
              </a:rPr>
              <a:t>var</a:t>
            </a:r>
            <a:r>
              <a:rPr sz="2000" spc="-4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str=“hi</a:t>
            </a:r>
            <a:r>
              <a:rPr sz="2000" spc="-3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guys”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nsolas"/>
                <a:cs typeface="Consolas"/>
              </a:rPr>
              <a:t>Console.log(str.charAt(3));//g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onsolas"/>
              <a:cs typeface="Consolas"/>
            </a:endParaRPr>
          </a:p>
          <a:p>
            <a:pPr marL="388620" indent="-376555">
              <a:lnSpc>
                <a:spcPct val="100000"/>
              </a:lnSpc>
              <a:buSzPct val="94444"/>
              <a:buAutoNum type="arabicPeriod" startAt="12"/>
              <a:tabLst>
                <a:tab pos="389255" algn="l"/>
              </a:tabLst>
            </a:pPr>
            <a:r>
              <a:rPr sz="2000" u="sng" spc="-5" dirty="0">
                <a:latin typeface="Consolas"/>
                <a:cs typeface="Consolas"/>
              </a:rPr>
              <a:t>charCodeAt(</a:t>
            </a:r>
            <a:r>
              <a:rPr sz="2000" u="sng" spc="-65" dirty="0">
                <a:latin typeface="Consolas"/>
                <a:cs typeface="Consolas"/>
              </a:rPr>
              <a:t> </a:t>
            </a:r>
            <a:r>
              <a:rPr sz="2000" u="sng" dirty="0">
                <a:latin typeface="Consolas"/>
                <a:cs typeface="Consolas"/>
              </a:rPr>
              <a:t>):-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 dirty="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onsolas"/>
                <a:cs typeface="Consolas"/>
              </a:rPr>
              <a:t>It will return the ASCII value </a:t>
            </a:r>
            <a:r>
              <a:rPr sz="2000" dirty="0">
                <a:latin typeface="Consolas"/>
                <a:cs typeface="Consolas"/>
              </a:rPr>
              <a:t>of </a:t>
            </a:r>
            <a:r>
              <a:rPr sz="2000" spc="-5" dirty="0">
                <a:latin typeface="Consolas"/>
                <a:cs typeface="Consolas"/>
              </a:rPr>
              <a:t>specified index value of that character. </a:t>
            </a:r>
            <a:r>
              <a:rPr sz="2000" spc="-975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Ex:-</a:t>
            </a:r>
            <a:endParaRPr sz="2000" dirty="0">
              <a:latin typeface="Consolas"/>
              <a:cs typeface="Consolas"/>
            </a:endParaRPr>
          </a:p>
          <a:p>
            <a:pPr marL="12700" marR="4893310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Ex:-var </a:t>
            </a:r>
            <a:r>
              <a:rPr sz="2000" spc="-5" dirty="0">
                <a:latin typeface="Consolas"/>
                <a:cs typeface="Consolas"/>
              </a:rPr>
              <a:t>str=“javascript” </a:t>
            </a:r>
            <a:r>
              <a:rPr sz="2000" dirty="0"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Cons</a:t>
            </a:r>
            <a:r>
              <a:rPr sz="2000" dirty="0">
                <a:latin typeface="Consolas"/>
                <a:cs typeface="Consolas"/>
              </a:rPr>
              <a:t>ol</a:t>
            </a:r>
            <a:r>
              <a:rPr sz="2000" spc="-15" dirty="0">
                <a:latin typeface="Consolas"/>
                <a:cs typeface="Consolas"/>
              </a:rPr>
              <a:t>e</a:t>
            </a:r>
            <a:r>
              <a:rPr sz="2000" dirty="0">
                <a:latin typeface="Consolas"/>
                <a:cs typeface="Consolas"/>
              </a:rPr>
              <a:t>.l</a:t>
            </a:r>
            <a:r>
              <a:rPr sz="2000" spc="-15" dirty="0">
                <a:latin typeface="Consolas"/>
                <a:cs typeface="Consolas"/>
              </a:rPr>
              <a:t>o</a:t>
            </a:r>
            <a:r>
              <a:rPr sz="2000" spc="-10" dirty="0">
                <a:latin typeface="Consolas"/>
                <a:cs typeface="Consolas"/>
              </a:rPr>
              <a:t>g</a:t>
            </a:r>
            <a:r>
              <a:rPr sz="2000" dirty="0">
                <a:latin typeface="Consolas"/>
                <a:cs typeface="Consolas"/>
              </a:rPr>
              <a:t>(s</a:t>
            </a:r>
            <a:r>
              <a:rPr sz="2000" spc="-15" dirty="0">
                <a:latin typeface="Consolas"/>
                <a:cs typeface="Consolas"/>
              </a:rPr>
              <a:t>t</a:t>
            </a:r>
            <a:r>
              <a:rPr sz="2000" spc="-10" dirty="0">
                <a:latin typeface="Consolas"/>
                <a:cs typeface="Consolas"/>
              </a:rPr>
              <a:t>r.</a:t>
            </a:r>
            <a:r>
              <a:rPr sz="2000" dirty="0">
                <a:latin typeface="Consolas"/>
                <a:cs typeface="Consolas"/>
              </a:rPr>
              <a:t>ch</a:t>
            </a:r>
            <a:r>
              <a:rPr sz="2000" spc="-15" dirty="0">
                <a:latin typeface="Consolas"/>
                <a:cs typeface="Consolas"/>
              </a:rPr>
              <a:t>a</a:t>
            </a:r>
            <a:r>
              <a:rPr sz="2000" dirty="0">
                <a:latin typeface="Consolas"/>
                <a:cs typeface="Consolas"/>
              </a:rPr>
              <a:t>rC</a:t>
            </a:r>
            <a:r>
              <a:rPr sz="2000" spc="-15" dirty="0">
                <a:latin typeface="Consolas"/>
                <a:cs typeface="Consolas"/>
              </a:rPr>
              <a:t>o</a:t>
            </a:r>
            <a:r>
              <a:rPr sz="2000" spc="-10" dirty="0">
                <a:latin typeface="Consolas"/>
                <a:cs typeface="Consolas"/>
              </a:rPr>
              <a:t>d</a:t>
            </a:r>
            <a:r>
              <a:rPr sz="2000" dirty="0">
                <a:latin typeface="Consolas"/>
                <a:cs typeface="Consolas"/>
              </a:rPr>
              <a:t>eA</a:t>
            </a:r>
            <a:r>
              <a:rPr sz="2000" spc="-15" dirty="0">
                <a:latin typeface="Consolas"/>
                <a:cs typeface="Consolas"/>
              </a:rPr>
              <a:t>t</a:t>
            </a:r>
            <a:r>
              <a:rPr sz="2000" spc="-10" dirty="0">
                <a:latin typeface="Consolas"/>
                <a:cs typeface="Consolas"/>
              </a:rPr>
              <a:t>(1</a:t>
            </a:r>
            <a:r>
              <a:rPr sz="2000" dirty="0">
                <a:latin typeface="Consolas"/>
                <a:cs typeface="Consolas"/>
              </a:rPr>
              <a:t>))</a:t>
            </a:r>
            <a:r>
              <a:rPr sz="2000" spc="-15" dirty="0">
                <a:latin typeface="Consolas"/>
                <a:cs typeface="Consolas"/>
              </a:rPr>
              <a:t>;</a:t>
            </a:r>
            <a:r>
              <a:rPr sz="2000" dirty="0">
                <a:latin typeface="Consolas"/>
                <a:cs typeface="Consolas"/>
              </a:rPr>
              <a:t>//</a:t>
            </a:r>
            <a:r>
              <a:rPr sz="2000" spc="-15" dirty="0">
                <a:latin typeface="Consolas"/>
                <a:cs typeface="Consolas"/>
              </a:rPr>
              <a:t>9</a:t>
            </a:r>
            <a:r>
              <a:rPr sz="2000" dirty="0">
                <a:latin typeface="Consolas"/>
                <a:cs typeface="Consolas"/>
              </a:rPr>
              <a:t>7  </a:t>
            </a:r>
            <a:r>
              <a:rPr sz="2000" spc="-5" dirty="0">
                <a:latin typeface="Consolas"/>
                <a:cs typeface="Consolas"/>
              </a:rPr>
              <a:t>Split(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):-covert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string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to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array.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onsolas"/>
                <a:cs typeface="Consolas"/>
              </a:rPr>
              <a:t>Join(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):-convert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array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to</a:t>
            </a:r>
            <a:r>
              <a:rPr sz="2000" spc="-3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string</a:t>
            </a:r>
            <a:endParaRPr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445828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1602</TotalTime>
  <Words>5268</Words>
  <Application>Microsoft Office PowerPoint</Application>
  <PresentationFormat>Widescreen</PresentationFormat>
  <Paragraphs>672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6" baseType="lpstr">
      <vt:lpstr>Arial</vt:lpstr>
      <vt:lpstr>Arial MT</vt:lpstr>
      <vt:lpstr>Calibri</vt:lpstr>
      <vt:lpstr>Century Gothic</vt:lpstr>
      <vt:lpstr>Consolas</vt:lpstr>
      <vt:lpstr>Lato</vt:lpstr>
      <vt:lpstr>Menlo</vt:lpstr>
      <vt:lpstr>Nunito</vt:lpstr>
      <vt:lpstr>Segoe UI</vt:lpstr>
      <vt:lpstr>Söhne</vt:lpstr>
      <vt:lpstr>Söhne Mono</vt:lpstr>
      <vt:lpstr>Times New Roman</vt:lpstr>
      <vt:lpstr>Verdana</vt:lpstr>
      <vt:lpstr>Wingdings</vt:lpstr>
      <vt:lpstr>Wingdings 3</vt:lpstr>
      <vt:lpstr>Ion</vt:lpstr>
      <vt:lpstr>Java Script</vt:lpstr>
      <vt:lpstr>Javascript</vt:lpstr>
      <vt:lpstr>Characteristics of JavaScript</vt:lpstr>
      <vt:lpstr>Advantages of JS</vt:lpstr>
      <vt:lpstr>Environmental Setup</vt:lpstr>
      <vt:lpstr>How to include JS in HTML</vt:lpstr>
      <vt:lpstr>Output Methods</vt:lpstr>
      <vt:lpstr>Tokens</vt:lpstr>
      <vt:lpstr>Variables</vt:lpstr>
      <vt:lpstr>Var , let and const </vt:lpstr>
      <vt:lpstr>Hoisting</vt:lpstr>
      <vt:lpstr>The let and const Keywords </vt:lpstr>
      <vt:lpstr>Datatypes in JS</vt:lpstr>
      <vt:lpstr>Datatypes</vt:lpstr>
      <vt:lpstr>Operators in JS</vt:lpstr>
      <vt:lpstr>Conditional Statements</vt:lpstr>
      <vt:lpstr>Loops in JS</vt:lpstr>
      <vt:lpstr>Functions In JS</vt:lpstr>
      <vt:lpstr>JavaScript Function Syntax </vt:lpstr>
      <vt:lpstr>Types of Functions in JS</vt:lpstr>
      <vt:lpstr>1.Anonymous function</vt:lpstr>
      <vt:lpstr>2. Named Function</vt:lpstr>
      <vt:lpstr>3 . Function with expression</vt:lpstr>
      <vt:lpstr>Nested function</vt:lpstr>
      <vt:lpstr>Nested function</vt:lpstr>
      <vt:lpstr>JavaScript currying</vt:lpstr>
      <vt:lpstr>Immediate invoking function(IIF) </vt:lpstr>
      <vt:lpstr>Arrow function </vt:lpstr>
      <vt:lpstr>Higher order function(HOF) </vt:lpstr>
      <vt:lpstr>Callback function</vt:lpstr>
      <vt:lpstr>Generator function </vt:lpstr>
      <vt:lpstr>PowerPoint Presentation</vt:lpstr>
      <vt:lpstr>PowerPoint Presentation</vt:lpstr>
      <vt:lpstr>Java script Array methods</vt:lpstr>
      <vt:lpstr>Java script Array methods</vt:lpstr>
      <vt:lpstr>Filter() , map() , reduce()</vt:lpstr>
      <vt:lpstr>Filter() , map() , reduce()</vt:lpstr>
      <vt:lpstr>Filter() , map() , reduce()</vt:lpstr>
      <vt:lpstr>Objects in JS</vt:lpstr>
      <vt:lpstr>OBJECTS IN JAVASCRIPT</vt:lpstr>
      <vt:lpstr>OBJECTS IN JAVASCRIPT</vt:lpstr>
      <vt:lpstr>PowerPoint Presentation</vt:lpstr>
      <vt:lpstr>PowerPoint Presentation</vt:lpstr>
      <vt:lpstr>PowerPoint Presentation</vt:lpstr>
      <vt:lpstr>In JavaScript, there are two main ways to access and manipulate object properties: dot notation and bracket notation.</vt:lpstr>
      <vt:lpstr>PowerPoint Presentation</vt:lpstr>
      <vt:lpstr>PowerPoint Presentation</vt:lpstr>
      <vt:lpstr>PowerPoint Presentation</vt:lpstr>
      <vt:lpstr>LOOPS IN JAVASCRIPT</vt:lpstr>
      <vt:lpstr>PowerPoint Presentation</vt:lpstr>
      <vt:lpstr>The JavaScript for in loop iterates over the keys of an object Ex:-</vt:lpstr>
      <vt:lpstr>Creating Date Objects</vt:lpstr>
      <vt:lpstr>MATH OBJECT</vt:lpstr>
      <vt:lpstr>1.Math.round(4.6); OUTPUT:-5</vt:lpstr>
      <vt:lpstr>STRING:-Collection of characters (or) bunch of characters we called it as string</vt:lpstr>
      <vt:lpstr>PowerPoint Presentation</vt:lpstr>
      <vt:lpstr>4.substr( ):- Substr( ) is similar to slice( 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DELL</dc:creator>
  <cp:lastModifiedBy>DELL</cp:lastModifiedBy>
  <cp:revision>20</cp:revision>
  <dcterms:created xsi:type="dcterms:W3CDTF">2023-09-21T07:21:00Z</dcterms:created>
  <dcterms:modified xsi:type="dcterms:W3CDTF">2023-10-05T15:32:47Z</dcterms:modified>
</cp:coreProperties>
</file>