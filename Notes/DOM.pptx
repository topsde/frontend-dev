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57" r:id="rId3"/>
    <p:sldId id="259" r:id="rId4"/>
    <p:sldId id="261" r:id="rId5"/>
    <p:sldId id="263" r:id="rId6"/>
    <p:sldId id="264" r:id="rId7"/>
    <p:sldId id="265" r:id="rId8"/>
    <p:sldId id="267" r:id="rId9"/>
    <p:sldId id="266"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7" autoAdjust="0"/>
    <p:restoredTop sz="94660"/>
  </p:normalViewPr>
  <p:slideViewPr>
    <p:cSldViewPr snapToGrid="0">
      <p:cViewPr varScale="1">
        <p:scale>
          <a:sx n="67" d="100"/>
          <a:sy n="67" d="100"/>
        </p:scale>
        <p:origin x="72"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A2A121-8D72-4274-A39B-A1438A6E3FD3}" type="datetimeFigureOut">
              <a:rPr lang="en-IN" smtClean="0"/>
              <a:t>29-11-2025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3593421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7A2A121-8D72-4274-A39B-A1438A6E3FD3}" type="datetimeFigureOut">
              <a:rPr lang="en-IN" smtClean="0"/>
              <a:t>29-11-2025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4274151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A2A121-8D72-4274-A39B-A1438A6E3FD3}" type="datetimeFigureOut">
              <a:rPr lang="en-IN" smtClean="0"/>
              <a:t>29-11-2025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3592641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A2A121-8D72-4274-A39B-A1438A6E3FD3}" type="datetimeFigureOut">
              <a:rPr lang="en-IN" smtClean="0"/>
              <a:t>29-11-2025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2215663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A2A121-8D72-4274-A39B-A1438A6E3FD3}" type="datetimeFigureOut">
              <a:rPr lang="en-IN" smtClean="0"/>
              <a:t>29-11-2025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3534903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7A2A121-8D72-4274-A39B-A1438A6E3FD3}" type="datetimeFigureOut">
              <a:rPr lang="en-IN" smtClean="0"/>
              <a:t>29-11-2025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2013800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7A2A121-8D72-4274-A39B-A1438A6E3FD3}" type="datetimeFigureOut">
              <a:rPr lang="en-IN" smtClean="0"/>
              <a:t>29-11-2025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3361874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7A2A121-8D72-4274-A39B-A1438A6E3FD3}" type="datetimeFigureOut">
              <a:rPr lang="en-IN" smtClean="0"/>
              <a:t>29-11-2025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4204764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A2A121-8D72-4274-A39B-A1438A6E3FD3}" type="datetimeFigureOut">
              <a:rPr lang="en-IN" smtClean="0"/>
              <a:t>29-11-2025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2945662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A2A121-8D72-4274-A39B-A1438A6E3FD3}" type="datetimeFigureOut">
              <a:rPr lang="en-IN" smtClean="0"/>
              <a:t>29-11-2025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2443687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7A2A121-8D72-4274-A39B-A1438A6E3FD3}" type="datetimeFigureOut">
              <a:rPr lang="en-IN" smtClean="0"/>
              <a:t>29-11-2025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41101541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7A2A121-8D72-4274-A39B-A1438A6E3FD3}" type="datetimeFigureOut">
              <a:rPr lang="en-IN" smtClean="0"/>
              <a:t>29-11-2025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EE484-98A8-4BEC-A49E-A5D48946B8DE}"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647080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A2A121-8D72-4274-A39B-A1438A6E3FD3}" type="datetimeFigureOut">
              <a:rPr lang="en-IN" smtClean="0"/>
              <a:t>29-11-2025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1411929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7A2A121-8D72-4274-A39B-A1438A6E3FD3}" type="datetimeFigureOut">
              <a:rPr lang="en-IN" smtClean="0"/>
              <a:t>29-11-2025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1098404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7A2A121-8D72-4274-A39B-A1438A6E3FD3}" type="datetimeFigureOut">
              <a:rPr lang="en-IN" smtClean="0"/>
              <a:t>29-11-2025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4302229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A2A121-8D72-4274-A39B-A1438A6E3FD3}" type="datetimeFigureOut">
              <a:rPr lang="en-IN" smtClean="0"/>
              <a:t>29-11-2025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38388662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A2A121-8D72-4274-A39B-A1438A6E3FD3}" type="datetimeFigureOut">
              <a:rPr lang="en-IN" smtClean="0"/>
              <a:t>29-11-2025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DEE484-98A8-4BEC-A49E-A5D48946B8DE}" type="slidenum">
              <a:rPr lang="en-IN" smtClean="0"/>
              <a:t>‹#›</a:t>
            </a:fld>
            <a:endParaRPr lang="en-IN"/>
          </a:p>
        </p:txBody>
      </p:sp>
    </p:spTree>
    <p:extLst>
      <p:ext uri="{BB962C8B-B14F-4D97-AF65-F5344CB8AC3E}">
        <p14:creationId xmlns:p14="http://schemas.microsoft.com/office/powerpoint/2010/main" val="3859462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7A2A121-8D72-4274-A39B-A1438A6E3FD3}" type="datetimeFigureOut">
              <a:rPr lang="en-IN" smtClean="0"/>
              <a:t>29-11-2025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4DEE484-98A8-4BEC-A49E-A5D48946B8DE}" type="slidenum">
              <a:rPr lang="en-IN" smtClean="0"/>
              <a:t>‹#›</a:t>
            </a:fld>
            <a:endParaRPr lang="en-IN"/>
          </a:p>
        </p:txBody>
      </p:sp>
    </p:spTree>
    <p:extLst>
      <p:ext uri="{BB962C8B-B14F-4D97-AF65-F5344CB8AC3E}">
        <p14:creationId xmlns:p14="http://schemas.microsoft.com/office/powerpoint/2010/main" val="4178571420"/>
      </p:ext>
    </p:extLst>
  </p:cSld>
  <p:clrMap bg1="dk1" tx1="lt1" bg2="dk2" tx2="lt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w3schools.com/jsref/dom_obj_event.asp"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F1E88-E4A8-E7DC-DD6A-1C1EEEE4A32D}"/>
              </a:ext>
            </a:extLst>
          </p:cNvPr>
          <p:cNvSpPr>
            <a:spLocks noGrp="1"/>
          </p:cNvSpPr>
          <p:nvPr>
            <p:ph type="ctrTitle"/>
          </p:nvPr>
        </p:nvSpPr>
        <p:spPr/>
        <p:txBody>
          <a:bodyPr/>
          <a:lstStyle/>
          <a:p>
            <a:r>
              <a:rPr lang="en-US" dirty="0"/>
              <a:t>BOM and DOM</a:t>
            </a:r>
            <a:endParaRPr lang="en-IN" dirty="0"/>
          </a:p>
        </p:txBody>
      </p:sp>
      <p:sp>
        <p:nvSpPr>
          <p:cNvPr id="3" name="Subtitle 2">
            <a:extLst>
              <a:ext uri="{FF2B5EF4-FFF2-40B4-BE49-F238E27FC236}">
                <a16:creationId xmlns:a16="http://schemas.microsoft.com/office/drawing/2014/main" id="{5D6A1BEE-6C85-8B9D-D11B-489620BE28C7}"/>
              </a:ext>
            </a:extLst>
          </p:cNvPr>
          <p:cNvSpPr>
            <a:spLocks noGrp="1"/>
          </p:cNvSpPr>
          <p:nvPr>
            <p:ph type="subTitle" idx="1"/>
          </p:nvPr>
        </p:nvSpPr>
        <p:spPr/>
        <p:txBody>
          <a:bodyPr/>
          <a:lstStyle/>
          <a:p>
            <a:r>
              <a:rPr lang="en-US" dirty="0"/>
              <a:t>BROWSER OBJECT MODEL AND DOCUMENT OBJECT MODEL</a:t>
            </a:r>
            <a:endParaRPr lang="en-IN" dirty="0"/>
          </a:p>
        </p:txBody>
      </p:sp>
    </p:spTree>
    <p:extLst>
      <p:ext uri="{BB962C8B-B14F-4D97-AF65-F5344CB8AC3E}">
        <p14:creationId xmlns:p14="http://schemas.microsoft.com/office/powerpoint/2010/main" val="876039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DB5A-08F9-3168-A499-E407C7CCE0BB}"/>
              </a:ext>
            </a:extLst>
          </p:cNvPr>
          <p:cNvSpPr>
            <a:spLocks noGrp="1"/>
          </p:cNvSpPr>
          <p:nvPr>
            <p:ph type="title"/>
          </p:nvPr>
        </p:nvSpPr>
        <p:spPr>
          <a:xfrm>
            <a:off x="646111" y="452718"/>
            <a:ext cx="9404723" cy="953172"/>
          </a:xfrm>
        </p:spPr>
        <p:txBody>
          <a:bodyPr/>
          <a:lstStyle/>
          <a:p>
            <a:r>
              <a:rPr lang="en-US" dirty="0"/>
              <a:t>BOM(Browser Object Model)</a:t>
            </a:r>
            <a:endParaRPr lang="en-IN" dirty="0"/>
          </a:p>
        </p:txBody>
      </p:sp>
      <p:sp>
        <p:nvSpPr>
          <p:cNvPr id="3" name="Content Placeholder 2">
            <a:extLst>
              <a:ext uri="{FF2B5EF4-FFF2-40B4-BE49-F238E27FC236}">
                <a16:creationId xmlns:a16="http://schemas.microsoft.com/office/drawing/2014/main" id="{1034F708-151B-A733-86C3-78D82262B7D3}"/>
              </a:ext>
            </a:extLst>
          </p:cNvPr>
          <p:cNvSpPr>
            <a:spLocks noGrp="1"/>
          </p:cNvSpPr>
          <p:nvPr>
            <p:ph idx="1"/>
          </p:nvPr>
        </p:nvSpPr>
        <p:spPr>
          <a:xfrm>
            <a:off x="1160462" y="1881467"/>
            <a:ext cx="10251338" cy="4195481"/>
          </a:xfrm>
        </p:spPr>
        <p:txBody>
          <a:bodyPr/>
          <a:lstStyle/>
          <a:p>
            <a:r>
              <a:rPr lang="en-US" b="0" i="0" dirty="0">
                <a:solidFill>
                  <a:srgbClr val="DDDDDD"/>
                </a:solidFill>
                <a:effectLst/>
                <a:latin typeface="Verdana" panose="020B0604030504040204" pitchFamily="34" charset="0"/>
              </a:rPr>
              <a:t>The Browser Object Model (BOM) allows JavaScript to "talk to" the browser.</a:t>
            </a:r>
          </a:p>
          <a:p>
            <a:r>
              <a:rPr lang="en-US" b="0" i="0" dirty="0">
                <a:effectLst/>
              </a:rPr>
              <a:t>"BOM" stands for Browser Object Model. It represents the objects that a browser provides to JavaScript to interact with the browser itself.</a:t>
            </a:r>
          </a:p>
          <a:p>
            <a:r>
              <a:rPr lang="en-US" b="0" i="0" u="sng" dirty="0">
                <a:effectLst/>
              </a:rPr>
              <a:t>The BOM includes objects like:</a:t>
            </a:r>
          </a:p>
          <a:p>
            <a:endParaRPr lang="en-IN" u="sng" dirty="0"/>
          </a:p>
        </p:txBody>
      </p:sp>
      <p:pic>
        <p:nvPicPr>
          <p:cNvPr id="1026" name="Picture 2" descr="JavaScript Browser Object Model In Hindi | LearnHindiTuts">
            <a:extLst>
              <a:ext uri="{FF2B5EF4-FFF2-40B4-BE49-F238E27FC236}">
                <a16:creationId xmlns:a16="http://schemas.microsoft.com/office/drawing/2014/main" id="{24BE592A-2FAD-1987-8AD8-DE3FCACF69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9228" y="3782314"/>
            <a:ext cx="8219122" cy="2294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515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69B68-49CF-0D26-7295-240080D1310A}"/>
              </a:ext>
            </a:extLst>
          </p:cNvPr>
          <p:cNvSpPr>
            <a:spLocks noGrp="1"/>
          </p:cNvSpPr>
          <p:nvPr>
            <p:ph type="title"/>
          </p:nvPr>
        </p:nvSpPr>
        <p:spPr>
          <a:xfrm>
            <a:off x="646111" y="452718"/>
            <a:ext cx="9404723" cy="907452"/>
          </a:xfrm>
        </p:spPr>
        <p:txBody>
          <a:bodyPr/>
          <a:lstStyle/>
          <a:p>
            <a:r>
              <a:rPr lang="en-US" dirty="0"/>
              <a:t>BOM</a:t>
            </a:r>
            <a:endParaRPr lang="en-IN" dirty="0"/>
          </a:p>
        </p:txBody>
      </p:sp>
      <p:sp>
        <p:nvSpPr>
          <p:cNvPr id="3" name="Content Placeholder 2">
            <a:extLst>
              <a:ext uri="{FF2B5EF4-FFF2-40B4-BE49-F238E27FC236}">
                <a16:creationId xmlns:a16="http://schemas.microsoft.com/office/drawing/2014/main" id="{FFA0CDD5-CBEC-A564-7695-FAEF7E50F972}"/>
              </a:ext>
            </a:extLst>
          </p:cNvPr>
          <p:cNvSpPr>
            <a:spLocks noGrp="1"/>
          </p:cNvSpPr>
          <p:nvPr>
            <p:ph idx="1"/>
          </p:nvPr>
        </p:nvSpPr>
        <p:spPr>
          <a:xfrm>
            <a:off x="443865" y="1360170"/>
            <a:ext cx="11304270" cy="5045112"/>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sng" strike="noStrike" cap="none" normalizeH="0" baseline="0" dirty="0">
                <a:ln>
                  <a:noFill/>
                </a:ln>
                <a:effectLst/>
              </a:rPr>
              <a:t>Window</a:t>
            </a:r>
            <a:r>
              <a:rPr kumimoji="0" lang="en-US" altLang="en-US" sz="2000" i="0" u="sng" strike="noStrike" cap="none" normalizeH="0" baseline="0" dirty="0">
                <a:ln>
                  <a:noFill/>
                </a:ln>
                <a:effectLst/>
              </a:rPr>
              <a:t>: </a:t>
            </a:r>
            <a:r>
              <a:rPr kumimoji="0" lang="en-US" altLang="en-US" sz="2000" b="0" i="0" u="none" strike="noStrike" cap="none" normalizeH="0" baseline="0" dirty="0">
                <a:ln>
                  <a:noFill/>
                </a:ln>
                <a:effectLst/>
              </a:rPr>
              <a:t>The global object in a browser's environment. It represents the browser window or tab and contains properties like </a:t>
            </a:r>
            <a:r>
              <a:rPr kumimoji="0" lang="en-US" altLang="en-US" sz="2200" b="1" i="0" u="none" strike="noStrike" cap="none" normalizeH="0" baseline="0" dirty="0">
                <a:ln>
                  <a:noFill/>
                </a:ln>
                <a:effectLst/>
              </a:rPr>
              <a:t>window. location</a:t>
            </a:r>
            <a:r>
              <a:rPr kumimoji="0" lang="en-US" altLang="en-US" sz="1300" b="0" i="0" u="none" strike="noStrike" cap="none" normalizeH="0" baseline="0" dirty="0">
                <a:ln>
                  <a:noFill/>
                </a:ln>
                <a:effectLst/>
              </a:rPr>
              <a:t> </a:t>
            </a:r>
            <a:r>
              <a:rPr kumimoji="0" lang="en-US" altLang="en-US" sz="2000" b="0" i="0" u="none" strike="noStrike" cap="none" normalizeH="0" baseline="0" dirty="0">
                <a:ln>
                  <a:noFill/>
                </a:ln>
                <a:effectLst/>
              </a:rPr>
              <a:t>(which gives information about the current URL), </a:t>
            </a:r>
            <a:r>
              <a:rPr kumimoji="0" lang="en-US" altLang="en-US" sz="2200" b="1" i="0" u="none" strike="noStrike" cap="none" normalizeH="0" baseline="0" dirty="0">
                <a:ln>
                  <a:noFill/>
                </a:ln>
                <a:effectLst/>
              </a:rPr>
              <a:t>window. document</a:t>
            </a:r>
            <a:r>
              <a:rPr kumimoji="0" lang="en-US" altLang="en-US" sz="1300" b="0" i="0" u="none" strike="noStrike" cap="none" normalizeH="0" baseline="0" dirty="0">
                <a:ln>
                  <a:noFill/>
                </a:ln>
                <a:effectLst/>
              </a:rPr>
              <a:t> </a:t>
            </a:r>
            <a:r>
              <a:rPr kumimoji="0" lang="en-US" altLang="en-US" sz="2000" b="0" i="0" u="none" strike="noStrike" cap="none" normalizeH="0" baseline="0" dirty="0">
                <a:ln>
                  <a:noFill/>
                </a:ln>
                <a:effectLst/>
              </a:rPr>
              <a:t>(which refers to the DOM document in the current window), and many others.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effectLst/>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sng" strike="noStrike" cap="none" normalizeH="0" baseline="0" dirty="0">
                <a:ln>
                  <a:noFill/>
                </a:ln>
                <a:effectLst/>
              </a:rPr>
              <a:t>Document</a:t>
            </a:r>
            <a:r>
              <a:rPr kumimoji="0" lang="en-US" altLang="en-US" sz="2000" b="0" i="0" u="sng" strike="noStrike" cap="none" normalizeH="0" baseline="0" dirty="0">
                <a:ln>
                  <a:noFill/>
                </a:ln>
                <a:effectLst/>
              </a:rPr>
              <a:t>: </a:t>
            </a:r>
            <a:r>
              <a:rPr kumimoji="0" lang="en-US" altLang="en-US" sz="2000" b="0" i="0" u="none" strike="noStrike" cap="none" normalizeH="0" baseline="0" dirty="0">
                <a:ln>
                  <a:noFill/>
                </a:ln>
                <a:effectLst/>
              </a:rPr>
              <a:t>Represents the DOM (Document Object Model) of a web page. It provides methods and properties to interact with the contents of the page.</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sng" strike="noStrike" cap="none" normalizeH="0" baseline="0" dirty="0">
                <a:ln>
                  <a:noFill/>
                </a:ln>
                <a:effectLst/>
              </a:rPr>
              <a:t>Location</a:t>
            </a:r>
            <a:r>
              <a:rPr kumimoji="0" lang="en-US" altLang="en-US" sz="2000" b="0" i="0" u="sng" strike="noStrike" cap="none" normalizeH="0" baseline="0" dirty="0">
                <a:ln>
                  <a:noFill/>
                </a:ln>
                <a:effectLst/>
              </a:rPr>
              <a:t>: </a:t>
            </a:r>
            <a:r>
              <a:rPr kumimoji="0" lang="en-US" altLang="en-US" sz="2000" b="0" i="0" u="none" strike="noStrike" cap="none" normalizeH="0" baseline="0" dirty="0">
                <a:ln>
                  <a:noFill/>
                </a:ln>
                <a:effectLst/>
              </a:rPr>
              <a:t>Represents the current URL of the browser and allows you to interact with it.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sng" strike="noStrike" cap="none" normalizeH="0" baseline="0" dirty="0">
                <a:ln>
                  <a:noFill/>
                </a:ln>
                <a:effectLst/>
              </a:rPr>
              <a:t>Navigator</a:t>
            </a:r>
            <a:r>
              <a:rPr kumimoji="0" lang="en-US" altLang="en-US" sz="2000" b="0" i="0" u="sng" strike="noStrike" cap="none" normalizeH="0" baseline="0" dirty="0">
                <a:ln>
                  <a:noFill/>
                </a:ln>
                <a:effectLst/>
              </a:rPr>
              <a:t>: </a:t>
            </a:r>
            <a:r>
              <a:rPr kumimoji="0" lang="en-US" altLang="en-US" sz="2000" b="0" i="0" u="none" strike="noStrike" cap="none" normalizeH="0" baseline="0" dirty="0">
                <a:ln>
                  <a:noFill/>
                </a:ln>
                <a:effectLst/>
              </a:rPr>
              <a:t>Provides information about the browser itself, such as its name, version, and capabilities.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sng" strike="noStrike" cap="none" normalizeH="0" baseline="0" dirty="0">
                <a:ln>
                  <a:noFill/>
                </a:ln>
                <a:effectLst/>
              </a:rPr>
              <a:t>Screen</a:t>
            </a:r>
            <a:r>
              <a:rPr kumimoji="0" lang="en-US" altLang="en-US" sz="2000" b="0" i="0" u="sng" strike="noStrike" cap="none" normalizeH="0" baseline="0" dirty="0">
                <a:ln>
                  <a:noFill/>
                </a:ln>
                <a:effectLst/>
              </a:rPr>
              <a:t>: </a:t>
            </a:r>
            <a:r>
              <a:rPr kumimoji="0" lang="en-US" altLang="en-US" sz="2000" b="0" i="0" u="none" strike="noStrike" cap="none" normalizeH="0" baseline="0" dirty="0">
                <a:ln>
                  <a:noFill/>
                </a:ln>
                <a:effectLst/>
              </a:rPr>
              <a:t>Represents the user's screen. It provides information about the dimensions and pixel depth of the screen.</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sng" strike="noStrike" cap="none" normalizeH="0" baseline="0" dirty="0">
                <a:ln>
                  <a:noFill/>
                </a:ln>
                <a:effectLst/>
              </a:rPr>
              <a:t>History</a:t>
            </a:r>
            <a:r>
              <a:rPr kumimoji="0" lang="en-US" altLang="en-US" sz="2000" b="0" i="0" u="sng" strike="noStrike" cap="none" normalizeH="0" baseline="0" dirty="0">
                <a:ln>
                  <a:noFill/>
                </a:ln>
                <a:effectLst/>
              </a:rPr>
              <a:t>: </a:t>
            </a:r>
            <a:r>
              <a:rPr kumimoji="0" lang="en-US" altLang="en-US" sz="2000" b="0" i="0" u="none" strike="noStrike" cap="none" normalizeH="0" baseline="0" dirty="0">
                <a:ln>
                  <a:noFill/>
                </a:ln>
                <a:effectLst/>
              </a:rPr>
              <a:t>Allows manipulation of the browser's history (back, forward,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effectLst/>
            </a:endParaRPr>
          </a:p>
          <a:p>
            <a:endParaRPr lang="en-IN" dirty="0"/>
          </a:p>
        </p:txBody>
      </p:sp>
    </p:spTree>
    <p:extLst>
      <p:ext uri="{BB962C8B-B14F-4D97-AF65-F5344CB8AC3E}">
        <p14:creationId xmlns:p14="http://schemas.microsoft.com/office/powerpoint/2010/main" val="1270044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6B005-611D-A04C-91D9-B775317A9187}"/>
              </a:ext>
            </a:extLst>
          </p:cNvPr>
          <p:cNvSpPr>
            <a:spLocks noGrp="1"/>
          </p:cNvSpPr>
          <p:nvPr>
            <p:ph type="title"/>
          </p:nvPr>
        </p:nvSpPr>
        <p:spPr/>
        <p:txBody>
          <a:bodyPr/>
          <a:lstStyle/>
          <a:p>
            <a:r>
              <a:rPr lang="en-US" dirty="0"/>
              <a:t>Window. Screen</a:t>
            </a:r>
            <a:endParaRPr lang="en-IN" dirty="0"/>
          </a:p>
        </p:txBody>
      </p:sp>
      <p:sp>
        <p:nvSpPr>
          <p:cNvPr id="3" name="Content Placeholder 2">
            <a:extLst>
              <a:ext uri="{FF2B5EF4-FFF2-40B4-BE49-F238E27FC236}">
                <a16:creationId xmlns:a16="http://schemas.microsoft.com/office/drawing/2014/main" id="{6954C5F0-726A-5A44-7B9A-B5526E3B4922}"/>
              </a:ext>
            </a:extLst>
          </p:cNvPr>
          <p:cNvSpPr>
            <a:spLocks noGrp="1"/>
          </p:cNvSpPr>
          <p:nvPr>
            <p:ph idx="1"/>
          </p:nvPr>
        </p:nvSpPr>
        <p:spPr>
          <a:xfrm>
            <a:off x="1104293" y="1764031"/>
            <a:ext cx="8946541" cy="4195481"/>
          </a:xfrm>
        </p:spPr>
        <p:txBody>
          <a:bodyPr/>
          <a:lstStyle/>
          <a:p>
            <a:r>
              <a:rPr lang="en-US" b="0" i="0" dirty="0">
                <a:solidFill>
                  <a:srgbClr val="DDDDDD"/>
                </a:solidFill>
                <a:effectLst/>
                <a:latin typeface="Verdana" panose="020B0604030504040204" pitchFamily="34" charset="0"/>
              </a:rPr>
              <a:t>The </a:t>
            </a:r>
            <a:r>
              <a:rPr lang="en-US" b="0" i="0" dirty="0" err="1">
                <a:solidFill>
                  <a:srgbClr val="DDDDDD"/>
                </a:solidFill>
                <a:effectLst/>
                <a:latin typeface="Verdana" panose="020B0604030504040204" pitchFamily="34" charset="0"/>
              </a:rPr>
              <a:t>window.screen</a:t>
            </a:r>
            <a:r>
              <a:rPr lang="en-US" b="0" i="0" dirty="0">
                <a:solidFill>
                  <a:srgbClr val="DDDDDD"/>
                </a:solidFill>
                <a:effectLst/>
                <a:latin typeface="Verdana" panose="020B0604030504040204" pitchFamily="34" charset="0"/>
              </a:rPr>
              <a:t> object contains information about the user's screen.</a:t>
            </a:r>
          </a:p>
          <a:p>
            <a:r>
              <a:rPr kumimoji="0" lang="en-US" altLang="en-US" sz="2000" b="0" i="0" u="none" strike="noStrike" cap="none" normalizeH="0" baseline="0" dirty="0">
                <a:ln>
                  <a:noFill/>
                </a:ln>
                <a:solidFill>
                  <a:srgbClr val="DDDDDD"/>
                </a:solidFill>
                <a:effectLst/>
                <a:latin typeface="Verdana" panose="020B0604030504040204" pitchFamily="34" charset="0"/>
              </a:rPr>
              <a:t>The </a:t>
            </a:r>
            <a:r>
              <a:rPr kumimoji="0" lang="en-US" altLang="en-US" sz="2000" b="0" i="0" u="none" strike="noStrike" cap="none" normalizeH="0" baseline="0" dirty="0">
                <a:ln>
                  <a:noFill/>
                </a:ln>
                <a:solidFill>
                  <a:srgbClr val="FF9999"/>
                </a:solidFill>
                <a:effectLst/>
                <a:latin typeface="Consolas" panose="020B0609020204030204" pitchFamily="49" charset="0"/>
              </a:rPr>
              <a:t>window.screen</a:t>
            </a:r>
            <a:r>
              <a:rPr kumimoji="0" lang="en-US" altLang="en-US" sz="2000" b="0" i="0" u="none" strike="noStrike" cap="none" normalizeH="0" baseline="0" dirty="0">
                <a:ln>
                  <a:noFill/>
                </a:ln>
                <a:solidFill>
                  <a:srgbClr val="DDDDDD"/>
                </a:solidFill>
                <a:effectLst/>
                <a:latin typeface="Verdana" panose="020B0604030504040204" pitchFamily="34" charset="0"/>
              </a:rPr>
              <a:t> object can be written without the window prefix</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DDDDDD"/>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DDDDDD"/>
                </a:solidFill>
                <a:effectLst/>
                <a:latin typeface="Verdana" panose="020B0604030504040204" pitchFamily="34" charset="0"/>
              </a:rPr>
              <a:t>Properties:</a:t>
            </a:r>
            <a:endParaRPr kumimoji="0" lang="en-US" altLang="en-US" sz="1200" b="0" i="0" u="none" strike="noStrike" cap="none" normalizeH="0" baseline="0" dirty="0">
              <a:ln>
                <a:noFill/>
              </a:ln>
              <a:solidFill>
                <a:schemeClr val="tx1"/>
              </a:solidFill>
              <a:effectLst/>
            </a:endParaRPr>
          </a:p>
          <a:p>
            <a:pPr marL="400050" lvl="1" indent="0" defTabSz="914400" eaLnBrk="0" fontAlgn="base" hangingPunct="0">
              <a:spcBef>
                <a:spcPct val="0"/>
              </a:spcBef>
              <a:spcAft>
                <a:spcPct val="0"/>
              </a:spcAft>
              <a:buClrTx/>
              <a:buSzTx/>
              <a:buFontTx/>
              <a:buChar char="•"/>
            </a:pPr>
            <a:r>
              <a:rPr kumimoji="0" lang="en-US" altLang="en-US" sz="2000" b="0" i="0" u="none" strike="noStrike" cap="none" normalizeH="0" baseline="0" dirty="0">
                <a:ln>
                  <a:noFill/>
                </a:ln>
                <a:effectLst/>
                <a:latin typeface="Consolas" panose="020B0609020204030204" pitchFamily="49" charset="0"/>
              </a:rPr>
              <a:t>screen.width</a:t>
            </a:r>
            <a:endParaRPr kumimoji="0" lang="en-US" altLang="en-US" sz="2000" b="0" i="0" u="none" strike="noStrike" cap="none" normalizeH="0" baseline="0" dirty="0">
              <a:ln>
                <a:noFill/>
              </a:ln>
              <a:effectLst/>
              <a:latin typeface="Verdana" panose="020B0604030504040204" pitchFamily="34" charset="0"/>
            </a:endParaRPr>
          </a:p>
          <a:p>
            <a:pPr marL="400050" lvl="1" indent="0" defTabSz="914400" eaLnBrk="0" fontAlgn="base" hangingPunct="0">
              <a:spcBef>
                <a:spcPct val="0"/>
              </a:spcBef>
              <a:spcAft>
                <a:spcPct val="0"/>
              </a:spcAft>
              <a:buClrTx/>
              <a:buSzTx/>
              <a:buFontTx/>
              <a:buChar char="•"/>
            </a:pPr>
            <a:r>
              <a:rPr kumimoji="0" lang="en-US" altLang="en-US" sz="2000" b="0" i="0" u="none" strike="noStrike" cap="none" normalizeH="0" baseline="0" dirty="0" err="1">
                <a:ln>
                  <a:noFill/>
                </a:ln>
                <a:effectLst/>
                <a:latin typeface="Consolas" panose="020B0609020204030204" pitchFamily="49" charset="0"/>
              </a:rPr>
              <a:t>screen.height</a:t>
            </a:r>
            <a:endParaRPr kumimoji="0" lang="en-US" altLang="en-US" sz="2000" b="0" i="0" u="none" strike="noStrike" cap="none" normalizeH="0" baseline="0" dirty="0">
              <a:ln>
                <a:noFill/>
              </a:ln>
              <a:effectLst/>
              <a:latin typeface="Verdana" panose="020B0604030504040204" pitchFamily="34" charset="0"/>
            </a:endParaRPr>
          </a:p>
          <a:p>
            <a:pPr marL="400050" lvl="1" indent="0" defTabSz="914400" eaLnBrk="0" fontAlgn="base" hangingPunct="0">
              <a:spcBef>
                <a:spcPct val="0"/>
              </a:spcBef>
              <a:spcAft>
                <a:spcPct val="0"/>
              </a:spcAft>
              <a:buClrTx/>
              <a:buSzTx/>
              <a:buFontTx/>
              <a:buChar char="•"/>
            </a:pPr>
            <a:r>
              <a:rPr kumimoji="0" lang="en-US" altLang="en-US" sz="2000" b="0" i="0" u="none" strike="noStrike" cap="none" normalizeH="0" baseline="0" dirty="0" err="1">
                <a:ln>
                  <a:noFill/>
                </a:ln>
                <a:effectLst/>
                <a:latin typeface="Consolas" panose="020B0609020204030204" pitchFamily="49" charset="0"/>
              </a:rPr>
              <a:t>screen.availWidth</a:t>
            </a:r>
            <a:endParaRPr kumimoji="0" lang="en-US" altLang="en-US" sz="2000" b="0" i="0" u="none" strike="noStrike" cap="none" normalizeH="0" baseline="0" dirty="0">
              <a:ln>
                <a:noFill/>
              </a:ln>
              <a:effectLst/>
              <a:latin typeface="Verdana" panose="020B0604030504040204" pitchFamily="34" charset="0"/>
            </a:endParaRPr>
          </a:p>
          <a:p>
            <a:pPr marL="400050" lvl="1" indent="0" defTabSz="914400" eaLnBrk="0" fontAlgn="base" hangingPunct="0">
              <a:spcBef>
                <a:spcPct val="0"/>
              </a:spcBef>
              <a:spcAft>
                <a:spcPct val="0"/>
              </a:spcAft>
              <a:buClrTx/>
              <a:buSzTx/>
              <a:buFontTx/>
              <a:buChar char="•"/>
            </a:pPr>
            <a:r>
              <a:rPr kumimoji="0" lang="en-US" altLang="en-US" sz="2000" b="0" i="0" u="none" strike="noStrike" cap="none" normalizeH="0" baseline="0" dirty="0" err="1">
                <a:ln>
                  <a:noFill/>
                </a:ln>
                <a:effectLst/>
                <a:latin typeface="Consolas" panose="020B0609020204030204" pitchFamily="49" charset="0"/>
              </a:rPr>
              <a:t>screen.availHeight</a:t>
            </a:r>
            <a:endParaRPr kumimoji="0" lang="en-US" altLang="en-US" sz="2000" b="0" i="0" u="none" strike="noStrike" cap="none" normalizeH="0" baseline="0" dirty="0">
              <a:ln>
                <a:noFill/>
              </a:ln>
              <a:effectLst/>
              <a:latin typeface="Verdana" panose="020B0604030504040204" pitchFamily="34" charset="0"/>
            </a:endParaRPr>
          </a:p>
          <a:p>
            <a:pPr marL="400050" lvl="1" indent="0" defTabSz="914400" eaLnBrk="0" fontAlgn="base" hangingPunct="0">
              <a:spcBef>
                <a:spcPct val="0"/>
              </a:spcBef>
              <a:spcAft>
                <a:spcPct val="0"/>
              </a:spcAft>
              <a:buClrTx/>
              <a:buSzTx/>
              <a:buFontTx/>
              <a:buChar char="•"/>
            </a:pPr>
            <a:r>
              <a:rPr kumimoji="0" lang="en-US" altLang="en-US" sz="2000" b="0" i="0" u="none" strike="noStrike" cap="none" normalizeH="0" baseline="0" dirty="0" err="1">
                <a:ln>
                  <a:noFill/>
                </a:ln>
                <a:effectLst/>
                <a:latin typeface="Consolas" panose="020B0609020204030204" pitchFamily="49" charset="0"/>
              </a:rPr>
              <a:t>screen.colorDepth</a:t>
            </a:r>
            <a:endParaRPr kumimoji="0" lang="en-US" altLang="en-US" sz="2000" b="0" i="0" u="none" strike="noStrike" cap="none" normalizeH="0" baseline="0" dirty="0">
              <a:ln>
                <a:noFill/>
              </a:ln>
              <a:effectLst/>
              <a:latin typeface="Verdana" panose="020B0604030504040204" pitchFamily="34" charset="0"/>
            </a:endParaRPr>
          </a:p>
          <a:p>
            <a:pPr marL="400050" lvl="1" indent="0" defTabSz="914400" eaLnBrk="0" fontAlgn="base" hangingPunct="0">
              <a:spcBef>
                <a:spcPct val="0"/>
              </a:spcBef>
              <a:spcAft>
                <a:spcPct val="0"/>
              </a:spcAft>
              <a:buClrTx/>
              <a:buSzTx/>
              <a:buFontTx/>
              <a:buChar char="•"/>
            </a:pPr>
            <a:r>
              <a:rPr kumimoji="0" lang="en-US" altLang="en-US" sz="2000" b="0" i="0" u="none" strike="noStrike" cap="none" normalizeH="0" baseline="0" dirty="0" err="1">
                <a:ln>
                  <a:noFill/>
                </a:ln>
                <a:effectLst/>
                <a:latin typeface="Consolas" panose="020B0609020204030204" pitchFamily="49" charset="0"/>
              </a:rPr>
              <a:t>screen.pixelDepth</a:t>
            </a:r>
            <a:endParaRPr kumimoji="0" lang="en-US" altLang="en-US" sz="2000" b="0" i="0" u="none" strike="noStrike" cap="none" normalizeH="0" baseline="0" dirty="0">
              <a:ln>
                <a:noFill/>
              </a:ln>
              <a:effectLst/>
              <a:latin typeface="Verdana" panose="020B0604030504040204" pitchFamily="34" charset="0"/>
            </a:endParaRPr>
          </a:p>
          <a:p>
            <a:endParaRPr lang="en-IN" dirty="0"/>
          </a:p>
        </p:txBody>
      </p:sp>
    </p:spTree>
    <p:extLst>
      <p:ext uri="{BB962C8B-B14F-4D97-AF65-F5344CB8AC3E}">
        <p14:creationId xmlns:p14="http://schemas.microsoft.com/office/powerpoint/2010/main" val="833915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46E26-8DF0-2DE0-67B2-4F568910728D}"/>
              </a:ext>
            </a:extLst>
          </p:cNvPr>
          <p:cNvSpPr>
            <a:spLocks noGrp="1"/>
          </p:cNvSpPr>
          <p:nvPr>
            <p:ph type="title"/>
          </p:nvPr>
        </p:nvSpPr>
        <p:spPr/>
        <p:txBody>
          <a:bodyPr/>
          <a:lstStyle/>
          <a:p>
            <a:r>
              <a:rPr lang="en-US" dirty="0" err="1"/>
              <a:t>Window.location</a:t>
            </a:r>
            <a:endParaRPr lang="en-IN" dirty="0"/>
          </a:p>
        </p:txBody>
      </p:sp>
      <p:sp>
        <p:nvSpPr>
          <p:cNvPr id="3" name="Content Placeholder 2">
            <a:extLst>
              <a:ext uri="{FF2B5EF4-FFF2-40B4-BE49-F238E27FC236}">
                <a16:creationId xmlns:a16="http://schemas.microsoft.com/office/drawing/2014/main" id="{E8A175A2-A98D-C88D-6785-E7107C3B6123}"/>
              </a:ext>
            </a:extLst>
          </p:cNvPr>
          <p:cNvSpPr>
            <a:spLocks noGrp="1"/>
          </p:cNvSpPr>
          <p:nvPr>
            <p:ph idx="1"/>
          </p:nvPr>
        </p:nvSpPr>
        <p:spPr>
          <a:xfrm>
            <a:off x="274320" y="2052918"/>
            <a:ext cx="11738610" cy="4195481"/>
          </a:xfrm>
        </p:spPr>
        <p:txBody>
          <a:bodyPr>
            <a:normAutofit/>
          </a:bodyPr>
          <a:lstStyle/>
          <a:p>
            <a:r>
              <a:rPr kumimoji="0" lang="en-US" altLang="en-US" sz="2200" b="0" i="0" u="none" strike="noStrike" cap="none" normalizeH="0" baseline="0" dirty="0">
                <a:ln>
                  <a:noFill/>
                </a:ln>
                <a:solidFill>
                  <a:srgbClr val="DDDDDD"/>
                </a:solidFill>
                <a:effectLst/>
                <a:latin typeface="Verdana" panose="020B0604030504040204" pitchFamily="34" charset="0"/>
              </a:rPr>
              <a:t>The </a:t>
            </a:r>
            <a:r>
              <a:rPr kumimoji="0" lang="en-US" altLang="en-US" sz="2200" b="0" i="0" u="none" strike="noStrike" cap="none" normalizeH="0" baseline="0" dirty="0" err="1">
                <a:ln>
                  <a:noFill/>
                </a:ln>
                <a:solidFill>
                  <a:srgbClr val="FF9999"/>
                </a:solidFill>
                <a:effectLst/>
                <a:latin typeface="Consolas" panose="020B0609020204030204" pitchFamily="49" charset="0"/>
              </a:rPr>
              <a:t>window.location</a:t>
            </a:r>
            <a:r>
              <a:rPr kumimoji="0" lang="en-US" altLang="en-US" sz="2200" b="0" i="0" u="none" strike="noStrike" cap="none" normalizeH="0" baseline="0" dirty="0">
                <a:ln>
                  <a:noFill/>
                </a:ln>
                <a:solidFill>
                  <a:srgbClr val="DDDDDD"/>
                </a:solidFill>
                <a:effectLst/>
                <a:latin typeface="Verdana" panose="020B0604030504040204" pitchFamily="34" charset="0"/>
              </a:rPr>
              <a:t> object can be used to get the current page address (URL) and to redirect the browser to a new page.</a:t>
            </a:r>
            <a:r>
              <a:rPr kumimoji="0" lang="en-US" altLang="en-US" sz="1200" b="0" i="0" u="none" strike="noStrike" cap="none" normalizeH="0" baseline="0" dirty="0">
                <a:ln>
                  <a:noFill/>
                </a:ln>
                <a:solidFill>
                  <a:schemeClr val="tx1"/>
                </a:solidFill>
                <a:effectLst/>
              </a:rPr>
              <a:t> </a:t>
            </a:r>
          </a:p>
          <a:p>
            <a:r>
              <a:rPr kumimoji="0" lang="en-US" altLang="en-US" sz="2200" b="0" i="0" u="none" strike="noStrike" cap="none" normalizeH="0" baseline="0" dirty="0">
                <a:ln>
                  <a:noFill/>
                </a:ln>
                <a:solidFill>
                  <a:schemeClr val="tx1"/>
                </a:solidFill>
                <a:effectLst/>
              </a:rPr>
              <a:t>Some examples:</a:t>
            </a:r>
            <a:endParaRPr kumimoji="0" lang="en-US" altLang="en-US" sz="5800" b="0" i="0" u="none" strike="noStrike" cap="none" normalizeH="0" baseline="0" dirty="0">
              <a:ln>
                <a:noFill/>
              </a:ln>
              <a:solidFill>
                <a:schemeClr val="tx1"/>
              </a:solidFill>
              <a:effectLst/>
            </a:endParaRPr>
          </a:p>
          <a:p>
            <a:pPr marL="400050" lvl="1" indent="0" defTabSz="914400" eaLnBrk="0" fontAlgn="base" hangingPunct="0">
              <a:spcBef>
                <a:spcPct val="0"/>
              </a:spcBef>
              <a:spcAft>
                <a:spcPct val="0"/>
              </a:spcAft>
              <a:buClrTx/>
              <a:buSzTx/>
              <a:buFontTx/>
              <a:buChar char="•"/>
            </a:pPr>
            <a:r>
              <a:rPr kumimoji="0" lang="en-US" altLang="en-US" sz="2200" b="0" i="0" u="none" strike="noStrike" cap="none" normalizeH="0" baseline="0" dirty="0" err="1">
                <a:ln>
                  <a:noFill/>
                </a:ln>
                <a:solidFill>
                  <a:srgbClr val="FF9999"/>
                </a:solidFill>
                <a:effectLst/>
                <a:latin typeface="Consolas" panose="020B0609020204030204" pitchFamily="49" charset="0"/>
              </a:rPr>
              <a:t>window.location.href</a:t>
            </a:r>
            <a:r>
              <a:rPr kumimoji="0" lang="en-US" altLang="en-US" sz="2200" b="0" i="0" u="none" strike="noStrike" cap="none" normalizeH="0" baseline="0" dirty="0">
                <a:ln>
                  <a:noFill/>
                </a:ln>
                <a:solidFill>
                  <a:srgbClr val="DDDDDD"/>
                </a:solidFill>
                <a:effectLst/>
                <a:latin typeface="Verdana" panose="020B0604030504040204" pitchFamily="34" charset="0"/>
              </a:rPr>
              <a:t> returns the </a:t>
            </a:r>
            <a:r>
              <a:rPr kumimoji="0" lang="en-US" altLang="en-US" sz="2200" b="0" i="0" u="none" strike="noStrike" cap="none" normalizeH="0" baseline="0" dirty="0" err="1">
                <a:ln>
                  <a:noFill/>
                </a:ln>
                <a:solidFill>
                  <a:srgbClr val="DDDDDD"/>
                </a:solidFill>
                <a:effectLst/>
                <a:latin typeface="Verdana" panose="020B0604030504040204" pitchFamily="34" charset="0"/>
              </a:rPr>
              <a:t>href</a:t>
            </a:r>
            <a:r>
              <a:rPr kumimoji="0" lang="en-US" altLang="en-US" sz="2200" b="0" i="0" u="none" strike="noStrike" cap="none" normalizeH="0" baseline="0" dirty="0">
                <a:ln>
                  <a:noFill/>
                </a:ln>
                <a:solidFill>
                  <a:srgbClr val="DDDDDD"/>
                </a:solidFill>
                <a:effectLst/>
                <a:latin typeface="Verdana" panose="020B0604030504040204" pitchFamily="34" charset="0"/>
              </a:rPr>
              <a:t> (URL) of the current page</a:t>
            </a:r>
          </a:p>
          <a:p>
            <a:pPr marL="400050" lvl="1" indent="0" defTabSz="914400" eaLnBrk="0" fontAlgn="base" hangingPunct="0">
              <a:spcBef>
                <a:spcPct val="0"/>
              </a:spcBef>
              <a:spcAft>
                <a:spcPct val="0"/>
              </a:spcAft>
              <a:buClrTx/>
              <a:buSzTx/>
              <a:buFontTx/>
              <a:buChar char="•"/>
            </a:pPr>
            <a:r>
              <a:rPr kumimoji="0" lang="en-US" altLang="en-US" sz="2200" b="0" i="0" u="none" strike="noStrike" cap="none" normalizeH="0" baseline="0" dirty="0" err="1">
                <a:ln>
                  <a:noFill/>
                </a:ln>
                <a:solidFill>
                  <a:srgbClr val="FF9999"/>
                </a:solidFill>
                <a:effectLst/>
                <a:latin typeface="Consolas" panose="020B0609020204030204" pitchFamily="49" charset="0"/>
              </a:rPr>
              <a:t>window.location.hostname</a:t>
            </a:r>
            <a:r>
              <a:rPr kumimoji="0" lang="en-US" altLang="en-US" sz="2200" b="0" i="0" u="none" strike="noStrike" cap="none" normalizeH="0" baseline="0" dirty="0">
                <a:ln>
                  <a:noFill/>
                </a:ln>
                <a:solidFill>
                  <a:srgbClr val="DDDDDD"/>
                </a:solidFill>
                <a:effectLst/>
                <a:latin typeface="Verdana" panose="020B0604030504040204" pitchFamily="34" charset="0"/>
              </a:rPr>
              <a:t> returns the domain name of the web host</a:t>
            </a:r>
          </a:p>
          <a:p>
            <a:pPr marL="400050" lvl="1" indent="0" defTabSz="914400" eaLnBrk="0" fontAlgn="base" hangingPunct="0">
              <a:spcBef>
                <a:spcPct val="0"/>
              </a:spcBef>
              <a:spcAft>
                <a:spcPct val="0"/>
              </a:spcAft>
              <a:buClrTx/>
              <a:buSzTx/>
              <a:buFontTx/>
              <a:buChar char="•"/>
            </a:pPr>
            <a:r>
              <a:rPr kumimoji="0" lang="en-US" altLang="en-US" sz="2200" b="0" i="0" u="none" strike="noStrike" cap="none" normalizeH="0" baseline="0" dirty="0" err="1">
                <a:ln>
                  <a:noFill/>
                </a:ln>
                <a:solidFill>
                  <a:srgbClr val="FF9999"/>
                </a:solidFill>
                <a:effectLst/>
                <a:latin typeface="Consolas" panose="020B0609020204030204" pitchFamily="49" charset="0"/>
              </a:rPr>
              <a:t>window.location.pathname</a:t>
            </a:r>
            <a:r>
              <a:rPr kumimoji="0" lang="en-US" altLang="en-US" sz="2200" b="0" i="0" u="none" strike="noStrike" cap="none" normalizeH="0" baseline="0" dirty="0">
                <a:ln>
                  <a:noFill/>
                </a:ln>
                <a:solidFill>
                  <a:srgbClr val="DDDDDD"/>
                </a:solidFill>
                <a:effectLst/>
                <a:latin typeface="Verdana" panose="020B0604030504040204" pitchFamily="34" charset="0"/>
              </a:rPr>
              <a:t> returns the path and filename of the current page</a:t>
            </a:r>
          </a:p>
          <a:p>
            <a:pPr marL="400050" lvl="1" indent="0" defTabSz="914400" eaLnBrk="0" fontAlgn="base" hangingPunct="0">
              <a:spcBef>
                <a:spcPct val="0"/>
              </a:spcBef>
              <a:spcAft>
                <a:spcPct val="0"/>
              </a:spcAft>
              <a:buClrTx/>
              <a:buSzTx/>
              <a:buFontTx/>
              <a:buChar char="•"/>
            </a:pPr>
            <a:r>
              <a:rPr kumimoji="0" lang="en-US" altLang="en-US" sz="2200" b="0" i="0" u="none" strike="noStrike" cap="none" normalizeH="0" baseline="0" dirty="0" err="1">
                <a:ln>
                  <a:noFill/>
                </a:ln>
                <a:solidFill>
                  <a:srgbClr val="FF9999"/>
                </a:solidFill>
                <a:effectLst/>
                <a:latin typeface="Consolas" panose="020B0609020204030204" pitchFamily="49" charset="0"/>
              </a:rPr>
              <a:t>window.location.protocol</a:t>
            </a:r>
            <a:r>
              <a:rPr kumimoji="0" lang="en-US" altLang="en-US" sz="2200" b="0" i="0" u="none" strike="noStrike" cap="none" normalizeH="0" baseline="0" dirty="0">
                <a:ln>
                  <a:noFill/>
                </a:ln>
                <a:solidFill>
                  <a:srgbClr val="DDDDDD"/>
                </a:solidFill>
                <a:effectLst/>
                <a:latin typeface="Verdana" panose="020B0604030504040204" pitchFamily="34" charset="0"/>
              </a:rPr>
              <a:t> returns the web protocol used (http: or https:)</a:t>
            </a:r>
          </a:p>
          <a:p>
            <a:pPr marL="400050" lvl="1" indent="0" defTabSz="914400" eaLnBrk="0" fontAlgn="base" hangingPunct="0">
              <a:spcBef>
                <a:spcPct val="0"/>
              </a:spcBef>
              <a:spcAft>
                <a:spcPct val="0"/>
              </a:spcAft>
              <a:buClrTx/>
              <a:buSzTx/>
              <a:buFontTx/>
              <a:buChar char="•"/>
            </a:pPr>
            <a:r>
              <a:rPr kumimoji="0" lang="en-US" altLang="en-US" sz="2200" b="0" i="0" u="none" strike="noStrike" cap="none" normalizeH="0" baseline="0" dirty="0" err="1">
                <a:ln>
                  <a:noFill/>
                </a:ln>
                <a:solidFill>
                  <a:srgbClr val="FF9999"/>
                </a:solidFill>
                <a:effectLst/>
                <a:latin typeface="Consolas" panose="020B0609020204030204" pitchFamily="49" charset="0"/>
              </a:rPr>
              <a:t>window.location.assign</a:t>
            </a:r>
            <a:r>
              <a:rPr kumimoji="0" lang="en-US" altLang="en-US" sz="2200" b="0" i="0" u="none" strike="noStrike" cap="none" normalizeH="0" baseline="0" dirty="0">
                <a:ln>
                  <a:noFill/>
                </a:ln>
                <a:solidFill>
                  <a:srgbClr val="FF9999"/>
                </a:solidFill>
                <a:effectLst/>
                <a:latin typeface="Consolas" panose="020B0609020204030204" pitchFamily="49" charset="0"/>
              </a:rPr>
              <a:t>()</a:t>
            </a:r>
            <a:r>
              <a:rPr kumimoji="0" lang="en-US" altLang="en-US" sz="2200" b="0" i="0" u="none" strike="noStrike" cap="none" normalizeH="0" baseline="0" dirty="0">
                <a:ln>
                  <a:noFill/>
                </a:ln>
                <a:solidFill>
                  <a:srgbClr val="DDDDDD"/>
                </a:solidFill>
                <a:effectLst/>
                <a:latin typeface="Verdana" panose="020B0604030504040204" pitchFamily="34" charset="0"/>
              </a:rPr>
              <a:t> loads a new document</a:t>
            </a:r>
          </a:p>
          <a:p>
            <a:endParaRPr lang="en-IN" dirty="0"/>
          </a:p>
        </p:txBody>
      </p:sp>
    </p:spTree>
    <p:extLst>
      <p:ext uri="{BB962C8B-B14F-4D97-AF65-F5344CB8AC3E}">
        <p14:creationId xmlns:p14="http://schemas.microsoft.com/office/powerpoint/2010/main" val="1471861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E57F9-3F70-C793-0E29-C809B2D3C753}"/>
              </a:ext>
            </a:extLst>
          </p:cNvPr>
          <p:cNvSpPr>
            <a:spLocks noGrp="1"/>
          </p:cNvSpPr>
          <p:nvPr>
            <p:ph type="title"/>
          </p:nvPr>
        </p:nvSpPr>
        <p:spPr>
          <a:xfrm>
            <a:off x="646111" y="452718"/>
            <a:ext cx="10543859" cy="736002"/>
          </a:xfrm>
        </p:spPr>
        <p:txBody>
          <a:bodyPr/>
          <a:lstStyle/>
          <a:p>
            <a:r>
              <a:rPr lang="en-US" sz="3600" dirty="0"/>
              <a:t>Window.history and window.navigator</a:t>
            </a:r>
            <a:endParaRPr lang="en-IN" sz="3600" dirty="0"/>
          </a:p>
        </p:txBody>
      </p:sp>
      <p:sp>
        <p:nvSpPr>
          <p:cNvPr id="3" name="Content Placeholder 2">
            <a:extLst>
              <a:ext uri="{FF2B5EF4-FFF2-40B4-BE49-F238E27FC236}">
                <a16:creationId xmlns:a16="http://schemas.microsoft.com/office/drawing/2014/main" id="{B74B2C6F-F719-1D22-8F6A-F2C2C2968E09}"/>
              </a:ext>
            </a:extLst>
          </p:cNvPr>
          <p:cNvSpPr>
            <a:spLocks noGrp="1"/>
          </p:cNvSpPr>
          <p:nvPr>
            <p:ph idx="1"/>
          </p:nvPr>
        </p:nvSpPr>
        <p:spPr>
          <a:xfrm>
            <a:off x="0" y="1291590"/>
            <a:ext cx="11738610" cy="4956809"/>
          </a:xfrm>
        </p:spPr>
        <p:txBody>
          <a:bodyPr>
            <a:normAutofit/>
          </a:bodyPr>
          <a:lstStyle/>
          <a:p>
            <a:r>
              <a:rPr lang="en-US" sz="2400" dirty="0"/>
              <a:t>Window.history object contains the browser history.</a:t>
            </a:r>
          </a:p>
          <a:p>
            <a:r>
              <a:rPr lang="en-US" sz="2400" dirty="0"/>
              <a:t>Some methods:</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400050" lvl="1" indent="0" defTabSz="914400" eaLnBrk="0" fontAlgn="base" hangingPunct="0">
              <a:spcBef>
                <a:spcPct val="0"/>
              </a:spcBef>
              <a:spcAft>
                <a:spcPct val="0"/>
              </a:spcAft>
              <a:buClrTx/>
              <a:buSzTx/>
              <a:buFontTx/>
              <a:buChar char="•"/>
            </a:pPr>
            <a:r>
              <a:rPr kumimoji="0" lang="en-US" altLang="en-US" sz="2000" b="0" i="0" u="sng" strike="noStrike" cap="none" normalizeH="0" baseline="0" dirty="0">
                <a:ln>
                  <a:noFill/>
                </a:ln>
                <a:solidFill>
                  <a:srgbClr val="FF9999"/>
                </a:solidFill>
                <a:effectLst/>
                <a:latin typeface="Consolas" panose="020B0609020204030204" pitchFamily="49" charset="0"/>
              </a:rPr>
              <a:t>history.back()</a:t>
            </a:r>
            <a:r>
              <a:rPr kumimoji="0" lang="en-US" altLang="en-US" sz="2000" b="0" i="0" u="sng" strike="noStrike" cap="none" normalizeH="0" baseline="0" dirty="0">
                <a:ln>
                  <a:noFill/>
                </a:ln>
                <a:solidFill>
                  <a:srgbClr val="DDDDDD"/>
                </a:solidFill>
                <a:effectLst/>
                <a:latin typeface="Verdana" panose="020B0604030504040204" pitchFamily="34" charset="0"/>
              </a:rPr>
              <a:t> </a:t>
            </a:r>
            <a:r>
              <a:rPr kumimoji="0" lang="en-US" altLang="en-US" sz="2000" b="0" i="0" u="none" strike="noStrike" cap="none" normalizeH="0" baseline="0" dirty="0">
                <a:ln>
                  <a:noFill/>
                </a:ln>
                <a:solidFill>
                  <a:srgbClr val="DDDDDD"/>
                </a:solidFill>
                <a:effectLst/>
                <a:latin typeface="Verdana" panose="020B0604030504040204" pitchFamily="34" charset="0"/>
              </a:rPr>
              <a:t>- same as clicking back in the browser</a:t>
            </a:r>
          </a:p>
          <a:p>
            <a:pPr marL="400050" lvl="1" indent="0" defTabSz="914400" eaLnBrk="0" fontAlgn="base" hangingPunct="0">
              <a:spcBef>
                <a:spcPct val="0"/>
              </a:spcBef>
              <a:spcAft>
                <a:spcPct val="0"/>
              </a:spcAft>
              <a:buClrTx/>
              <a:buSzTx/>
              <a:buFontTx/>
              <a:buChar char="•"/>
            </a:pPr>
            <a:r>
              <a:rPr kumimoji="0" lang="en-US" altLang="en-US" sz="2000" b="0" i="0" u="sng" strike="noStrike" cap="none" normalizeH="0" baseline="0" dirty="0">
                <a:ln>
                  <a:noFill/>
                </a:ln>
                <a:solidFill>
                  <a:srgbClr val="FF9999"/>
                </a:solidFill>
                <a:effectLst/>
                <a:latin typeface="Consolas" panose="020B0609020204030204" pitchFamily="49" charset="0"/>
              </a:rPr>
              <a:t>history.forward()</a:t>
            </a:r>
            <a:r>
              <a:rPr kumimoji="0" lang="en-US" altLang="en-US" sz="2000" b="0" i="0" u="sng" strike="noStrike" cap="none" normalizeH="0" baseline="0" dirty="0">
                <a:ln>
                  <a:noFill/>
                </a:ln>
                <a:solidFill>
                  <a:srgbClr val="DDDDDD"/>
                </a:solidFill>
                <a:effectLst/>
                <a:latin typeface="Verdana" panose="020B0604030504040204" pitchFamily="34" charset="0"/>
              </a:rPr>
              <a:t> </a:t>
            </a:r>
            <a:r>
              <a:rPr kumimoji="0" lang="en-US" altLang="en-US" sz="2000" b="0" i="0" u="none" strike="noStrike" cap="none" normalizeH="0" baseline="0" dirty="0">
                <a:ln>
                  <a:noFill/>
                </a:ln>
                <a:solidFill>
                  <a:srgbClr val="DDDDDD"/>
                </a:solidFill>
                <a:effectLst/>
                <a:latin typeface="Verdana" panose="020B0604030504040204" pitchFamily="34" charset="0"/>
              </a:rPr>
              <a:t>- same as clicking forward in the browser</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rgbClr val="DDDDDD"/>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DDDDDD"/>
              </a:solidFill>
              <a:effectLst/>
              <a:latin typeface="Verdana" panose="020B060403050404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solidFill>
                  <a:srgbClr val="DDDDDD"/>
                </a:solidFill>
                <a:latin typeface="Verdana" panose="020B0604030504040204" pitchFamily="34" charset="0"/>
              </a:rPr>
              <a:t>Window.navigator object contains information about the visitor’s browser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rgbClr val="DDDDDD"/>
                </a:solidFill>
                <a:effectLst/>
                <a:latin typeface="Verdana" panose="020B0604030504040204" pitchFamily="34" charset="0"/>
              </a:rPr>
              <a:t>Examples:</a:t>
            </a:r>
            <a:endParaRPr kumimoji="0" lang="en-US" altLang="en-US" sz="3600" b="0" i="0" u="none" strike="noStrike" cap="none" normalizeH="0" baseline="0" dirty="0">
              <a:ln>
                <a:noFill/>
              </a:ln>
              <a:effectLst/>
              <a:latin typeface="Arial" panose="020B0604020202020204" pitchFamily="34" charset="0"/>
            </a:endParaRPr>
          </a:p>
          <a:p>
            <a:pPr marL="400050" lvl="1" indent="0" defTabSz="914400" eaLnBrk="0" fontAlgn="base" hangingPunct="0">
              <a:spcBef>
                <a:spcPct val="0"/>
              </a:spcBef>
              <a:spcAft>
                <a:spcPct val="0"/>
              </a:spcAft>
              <a:buClrTx/>
              <a:buSzTx/>
              <a:buFontTx/>
              <a:buChar char="•"/>
            </a:pPr>
            <a:r>
              <a:rPr kumimoji="0" lang="en-US" altLang="en-US" sz="2000" b="0" i="0" u="sng" strike="noStrike" cap="none" normalizeH="0" baseline="0" dirty="0">
                <a:ln>
                  <a:noFill/>
                </a:ln>
                <a:effectLst/>
                <a:latin typeface="Consolas" panose="020B0609020204030204" pitchFamily="49" charset="0"/>
              </a:rPr>
              <a:t>navigator.cookieEnabled </a:t>
            </a:r>
            <a:r>
              <a:rPr kumimoji="0" lang="en-US" altLang="en-US" sz="2000" b="0" i="0" u="none" strike="noStrike" cap="none" normalizeH="0" baseline="0" dirty="0">
                <a:ln>
                  <a:noFill/>
                </a:ln>
                <a:effectLst/>
                <a:latin typeface="Consolas" panose="020B0609020204030204" pitchFamily="49" charset="0"/>
              </a:rPr>
              <a:t>:</a:t>
            </a:r>
            <a:r>
              <a:rPr lang="en-US" sz="2000" b="0" i="0" dirty="0">
                <a:solidFill>
                  <a:srgbClr val="DDDDDD"/>
                </a:solidFill>
                <a:effectLst/>
                <a:latin typeface="Verdana" panose="020B0604030504040204" pitchFamily="34" charset="0"/>
              </a:rPr>
              <a:t> property returns true if cookies are enabled, otherwise false.</a:t>
            </a:r>
            <a:endParaRPr kumimoji="0" lang="en-US" altLang="en-US" sz="2000" b="0" i="0" u="none" strike="noStrike" cap="none" normalizeH="0" baseline="0" dirty="0">
              <a:ln>
                <a:noFill/>
              </a:ln>
              <a:effectLst/>
              <a:latin typeface="Verdana" panose="020B0604030504040204" pitchFamily="34" charset="0"/>
            </a:endParaRPr>
          </a:p>
          <a:p>
            <a:pPr marL="400050" lvl="1" indent="0" defTabSz="914400" eaLnBrk="0" fontAlgn="base" hangingPunct="0">
              <a:spcBef>
                <a:spcPct val="0"/>
              </a:spcBef>
              <a:spcAft>
                <a:spcPct val="0"/>
              </a:spcAft>
              <a:buClrTx/>
              <a:buSzTx/>
              <a:buFontTx/>
              <a:buChar char="•"/>
            </a:pPr>
            <a:r>
              <a:rPr kumimoji="0" lang="en-US" altLang="en-US" sz="2000" b="0" i="0" u="sng" strike="noStrike" cap="none" normalizeH="0" baseline="0" dirty="0">
                <a:ln>
                  <a:noFill/>
                </a:ln>
                <a:effectLst/>
                <a:latin typeface="Consolas" panose="020B0609020204030204" pitchFamily="49" charset="0"/>
              </a:rPr>
              <a:t>navigator.appCodeName </a:t>
            </a:r>
            <a:r>
              <a:rPr kumimoji="0" lang="en-US" altLang="en-US" sz="2000" b="0" i="0" u="none" strike="noStrike" cap="none" normalizeH="0" baseline="0" dirty="0">
                <a:ln>
                  <a:noFill/>
                </a:ln>
                <a:effectLst/>
                <a:latin typeface="Consolas" panose="020B0609020204030204" pitchFamily="49" charset="0"/>
              </a:rPr>
              <a:t>:</a:t>
            </a:r>
            <a:r>
              <a:rPr lang="en-US" sz="2000" b="0" i="0" dirty="0">
                <a:solidFill>
                  <a:srgbClr val="DDDDDD"/>
                </a:solidFill>
                <a:effectLst/>
                <a:latin typeface="Verdana" panose="020B0604030504040204" pitchFamily="34" charset="0"/>
              </a:rPr>
              <a:t>property returns the application code name of the browser.</a:t>
            </a:r>
            <a:endParaRPr kumimoji="0" lang="en-US" altLang="en-US" sz="2000" b="0" i="0" u="none" strike="noStrike" cap="none" normalizeH="0" baseline="0" dirty="0">
              <a:ln>
                <a:noFill/>
              </a:ln>
              <a:effectLst/>
              <a:latin typeface="Verdana" panose="020B0604030504040204" pitchFamily="34" charset="0"/>
            </a:endParaRPr>
          </a:p>
          <a:p>
            <a:pPr marL="400050" lvl="1" indent="0" defTabSz="914400" eaLnBrk="0" fontAlgn="base" hangingPunct="0">
              <a:spcBef>
                <a:spcPct val="0"/>
              </a:spcBef>
              <a:spcAft>
                <a:spcPct val="0"/>
              </a:spcAft>
              <a:buClrTx/>
              <a:buSzTx/>
              <a:buFontTx/>
              <a:buChar char="•"/>
            </a:pPr>
            <a:r>
              <a:rPr kumimoji="0" lang="en-US" altLang="en-US" sz="2000" b="0" i="0" u="sng" strike="noStrike" cap="none" normalizeH="0" baseline="0" dirty="0">
                <a:ln>
                  <a:noFill/>
                </a:ln>
                <a:effectLst/>
                <a:latin typeface="Consolas" panose="020B0609020204030204" pitchFamily="49" charset="0"/>
              </a:rPr>
              <a:t>navigator.platform </a:t>
            </a:r>
            <a:r>
              <a:rPr kumimoji="0" lang="en-US" altLang="en-US" sz="2000" b="0" i="0" u="none" strike="noStrike" cap="none" normalizeH="0" baseline="0" dirty="0">
                <a:ln>
                  <a:noFill/>
                </a:ln>
                <a:effectLst/>
                <a:latin typeface="Consolas" panose="020B0609020204030204" pitchFamily="49" charset="0"/>
              </a:rPr>
              <a:t>: </a:t>
            </a:r>
            <a:r>
              <a:rPr lang="en-US" sz="2000" b="0" i="0" dirty="0">
                <a:solidFill>
                  <a:srgbClr val="DDDDDD"/>
                </a:solidFill>
                <a:effectLst/>
                <a:latin typeface="Verdana" panose="020B0604030504040204" pitchFamily="34" charset="0"/>
              </a:rPr>
              <a:t>property returns the browser platform (operating system).</a:t>
            </a:r>
            <a:endParaRPr kumimoji="0" lang="en-US" altLang="en-US" sz="2000" b="0" i="0" u="none" strike="noStrike" cap="none" normalizeH="0" baseline="0" dirty="0">
              <a:ln>
                <a:noFill/>
              </a:ln>
              <a:effectLst/>
              <a:latin typeface="Verdana" panose="020B060403050404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rgbClr val="DDDDDD"/>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DDDDDD"/>
              </a:solidFill>
              <a:effectLst/>
              <a:latin typeface="Verdana" panose="020B0604030504040204" pitchFamily="34" charset="0"/>
            </a:endParaRPr>
          </a:p>
          <a:p>
            <a:pPr lvl="1"/>
            <a:endParaRPr lang="en-IN" dirty="0"/>
          </a:p>
        </p:txBody>
      </p:sp>
    </p:spTree>
    <p:extLst>
      <p:ext uri="{BB962C8B-B14F-4D97-AF65-F5344CB8AC3E}">
        <p14:creationId xmlns:p14="http://schemas.microsoft.com/office/powerpoint/2010/main" val="4000977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7A513-9648-719D-4938-1EADCD18E5C9}"/>
              </a:ext>
            </a:extLst>
          </p:cNvPr>
          <p:cNvSpPr>
            <a:spLocks noGrp="1"/>
          </p:cNvSpPr>
          <p:nvPr>
            <p:ph type="title"/>
          </p:nvPr>
        </p:nvSpPr>
        <p:spPr>
          <a:xfrm>
            <a:off x="646111" y="452718"/>
            <a:ext cx="9404723" cy="884592"/>
          </a:xfrm>
        </p:spPr>
        <p:txBody>
          <a:bodyPr>
            <a:normAutofit fontScale="90000"/>
          </a:bodyPr>
          <a:lstStyle/>
          <a:p>
            <a:r>
              <a:rPr lang="en-IN" b="0" i="0" dirty="0">
                <a:solidFill>
                  <a:srgbClr val="DDDDDD"/>
                </a:solidFill>
                <a:effectLst/>
                <a:latin typeface="Segoe UI" panose="020B0502040204020203" pitchFamily="34" charset="0"/>
              </a:rPr>
              <a:t>JavaScript Popup Boxes</a:t>
            </a:r>
            <a:br>
              <a:rPr lang="en-IN" b="0" i="0" dirty="0">
                <a:solidFill>
                  <a:srgbClr val="DDDDDD"/>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4DDB7BE8-499D-492F-4EB5-CC68D78AF04B}"/>
              </a:ext>
            </a:extLst>
          </p:cNvPr>
          <p:cNvSpPr>
            <a:spLocks noGrp="1"/>
          </p:cNvSpPr>
          <p:nvPr>
            <p:ph idx="1"/>
          </p:nvPr>
        </p:nvSpPr>
        <p:spPr>
          <a:xfrm>
            <a:off x="434340" y="1703070"/>
            <a:ext cx="11349990" cy="4702212"/>
          </a:xfrm>
        </p:spPr>
        <p:txBody>
          <a:bodyPr>
            <a:normAutofit/>
          </a:bodyPr>
          <a:lstStyle/>
          <a:p>
            <a:r>
              <a:rPr lang="en-US" b="0" i="0" dirty="0">
                <a:solidFill>
                  <a:srgbClr val="DDDDDD"/>
                </a:solidFill>
                <a:effectLst/>
                <a:latin typeface="Verdana" panose="020B0604030504040204" pitchFamily="34" charset="0"/>
              </a:rPr>
              <a:t>JavaScript has three kind of popup boxes: Alert box, Confirm box, and Prompt box.</a:t>
            </a:r>
          </a:p>
          <a:p>
            <a:pPr marL="0" indent="0" algn="l">
              <a:buNone/>
            </a:pPr>
            <a:r>
              <a:rPr lang="en-US" b="1" i="0" u="sng" dirty="0">
                <a:solidFill>
                  <a:srgbClr val="DDDDDD"/>
                </a:solidFill>
                <a:effectLst/>
                <a:latin typeface="Segoe UI" panose="020B0502040204020203" pitchFamily="34" charset="0"/>
              </a:rPr>
              <a:t>Alert Box</a:t>
            </a:r>
          </a:p>
          <a:p>
            <a:pPr algn="l"/>
            <a:r>
              <a:rPr lang="en-US" b="0" i="0" dirty="0">
                <a:solidFill>
                  <a:srgbClr val="DDDDDD"/>
                </a:solidFill>
                <a:effectLst/>
                <a:latin typeface="Verdana" panose="020B0604030504040204" pitchFamily="34" charset="0"/>
              </a:rPr>
              <a:t>An alert box is often used if you want to make sure information comes through to the user.</a:t>
            </a:r>
          </a:p>
          <a:p>
            <a:pPr algn="l"/>
            <a:r>
              <a:rPr lang="en-US" b="0" i="0" dirty="0">
                <a:solidFill>
                  <a:srgbClr val="DDDDDD"/>
                </a:solidFill>
                <a:effectLst/>
                <a:latin typeface="Verdana" panose="020B0604030504040204" pitchFamily="34" charset="0"/>
              </a:rPr>
              <a:t>When an alert box pops up, the user will have to click "OK" to proceed.</a:t>
            </a:r>
          </a:p>
          <a:p>
            <a:pPr algn="l"/>
            <a:endParaRPr lang="en-US" b="0" i="0" dirty="0">
              <a:solidFill>
                <a:srgbClr val="DDDDDD"/>
              </a:solidFill>
              <a:effectLst/>
              <a:latin typeface="Verdana" panose="020B0604030504040204" pitchFamily="34" charset="0"/>
            </a:endParaRPr>
          </a:p>
          <a:p>
            <a:endParaRPr lang="en-IN" dirty="0"/>
          </a:p>
        </p:txBody>
      </p:sp>
      <p:pic>
        <p:nvPicPr>
          <p:cNvPr id="8194" name="Picture 2" descr="Understanding How JavaScript Alerts Work | by Nishān Wickramarathna | Medium">
            <a:extLst>
              <a:ext uri="{FF2B5EF4-FFF2-40B4-BE49-F238E27FC236}">
                <a16:creationId xmlns:a16="http://schemas.microsoft.com/office/drawing/2014/main" id="{485DC9C9-C1CC-E93A-5565-20DE81027E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2833" y="3834765"/>
            <a:ext cx="5601017" cy="2640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900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0A5CD-7476-30E4-6267-1EB2C3ABB4AC}"/>
              </a:ext>
            </a:extLst>
          </p:cNvPr>
          <p:cNvSpPr>
            <a:spLocks noGrp="1"/>
          </p:cNvSpPr>
          <p:nvPr>
            <p:ph type="title"/>
          </p:nvPr>
        </p:nvSpPr>
        <p:spPr>
          <a:xfrm>
            <a:off x="611821" y="258408"/>
            <a:ext cx="9404723" cy="1056042"/>
          </a:xfrm>
        </p:spPr>
        <p:txBody>
          <a:bodyPr/>
          <a:lstStyle/>
          <a:p>
            <a:r>
              <a:rPr lang="en-IN" b="0" i="0" dirty="0">
                <a:solidFill>
                  <a:srgbClr val="DDDDDD"/>
                </a:solidFill>
                <a:effectLst/>
                <a:latin typeface="Segoe UI" panose="020B0502040204020203" pitchFamily="34" charset="0"/>
              </a:rPr>
              <a:t>JavaScript Popup Boxes</a:t>
            </a:r>
            <a:endParaRPr lang="en-IN" dirty="0"/>
          </a:p>
        </p:txBody>
      </p:sp>
      <p:sp>
        <p:nvSpPr>
          <p:cNvPr id="3" name="Content Placeholder 2">
            <a:extLst>
              <a:ext uri="{FF2B5EF4-FFF2-40B4-BE49-F238E27FC236}">
                <a16:creationId xmlns:a16="http://schemas.microsoft.com/office/drawing/2014/main" id="{63114397-D045-17CC-6FA3-388C6856C340}"/>
              </a:ext>
            </a:extLst>
          </p:cNvPr>
          <p:cNvSpPr>
            <a:spLocks noGrp="1"/>
          </p:cNvSpPr>
          <p:nvPr>
            <p:ph idx="1"/>
          </p:nvPr>
        </p:nvSpPr>
        <p:spPr>
          <a:xfrm>
            <a:off x="943292" y="1314450"/>
            <a:ext cx="10338118" cy="5543550"/>
          </a:xfrm>
        </p:spPr>
        <p:txBody>
          <a:bodyPr/>
          <a:lstStyle/>
          <a:p>
            <a:pPr marL="0" indent="0" algn="l">
              <a:buNone/>
            </a:pPr>
            <a:r>
              <a:rPr lang="en-US" b="1" i="0" u="sng" dirty="0">
                <a:solidFill>
                  <a:srgbClr val="DDDDDD"/>
                </a:solidFill>
                <a:effectLst/>
                <a:latin typeface="Segoe UI" panose="020B0502040204020203" pitchFamily="34" charset="0"/>
              </a:rPr>
              <a:t>Confirm Box</a:t>
            </a:r>
          </a:p>
          <a:p>
            <a:pPr algn="l"/>
            <a:r>
              <a:rPr lang="en-US" b="0" i="0" dirty="0">
                <a:solidFill>
                  <a:srgbClr val="DDDDDD"/>
                </a:solidFill>
                <a:effectLst/>
                <a:latin typeface="Verdana" panose="020B0604030504040204" pitchFamily="34" charset="0"/>
              </a:rPr>
              <a:t>A confirm box is often used if you want the user to verify or accept something.</a:t>
            </a:r>
          </a:p>
          <a:p>
            <a:pPr algn="l"/>
            <a:r>
              <a:rPr lang="en-US" b="0" i="0" dirty="0">
                <a:solidFill>
                  <a:srgbClr val="DDDDDD"/>
                </a:solidFill>
                <a:effectLst/>
                <a:latin typeface="Verdana" panose="020B0604030504040204" pitchFamily="34" charset="0"/>
              </a:rPr>
              <a:t>When a confirm box pops up, the user will have to click either "OK" or "Cancel" to proceed.</a:t>
            </a:r>
          </a:p>
          <a:p>
            <a:pPr algn="l"/>
            <a:r>
              <a:rPr lang="en-US" b="0" i="0" dirty="0">
                <a:solidFill>
                  <a:srgbClr val="DDDDDD"/>
                </a:solidFill>
                <a:effectLst/>
                <a:latin typeface="Verdana" panose="020B0604030504040204" pitchFamily="34" charset="0"/>
              </a:rPr>
              <a:t>If the user clicks "OK", the box returns </a:t>
            </a:r>
            <a:r>
              <a:rPr lang="en-US" b="1" i="0" dirty="0">
                <a:solidFill>
                  <a:srgbClr val="DDDDDD"/>
                </a:solidFill>
                <a:effectLst/>
                <a:latin typeface="Verdana" panose="020B0604030504040204" pitchFamily="34" charset="0"/>
              </a:rPr>
              <a:t>true</a:t>
            </a:r>
            <a:r>
              <a:rPr lang="en-US" b="0" i="0" dirty="0">
                <a:solidFill>
                  <a:srgbClr val="DDDDDD"/>
                </a:solidFill>
                <a:effectLst/>
                <a:latin typeface="Verdana" panose="020B0604030504040204" pitchFamily="34" charset="0"/>
              </a:rPr>
              <a:t>. If the user clicks "Cancel", the box returns </a:t>
            </a:r>
            <a:r>
              <a:rPr lang="en-US" b="1" i="0" dirty="0">
                <a:solidFill>
                  <a:srgbClr val="DDDDDD"/>
                </a:solidFill>
                <a:effectLst/>
                <a:latin typeface="Verdana" panose="020B0604030504040204" pitchFamily="34" charset="0"/>
              </a:rPr>
              <a:t>false</a:t>
            </a:r>
            <a:r>
              <a:rPr lang="en-US" b="0" i="0" dirty="0">
                <a:solidFill>
                  <a:srgbClr val="DDDDDD"/>
                </a:solidFill>
                <a:effectLst/>
                <a:latin typeface="Verdana" panose="020B0604030504040204" pitchFamily="34" charset="0"/>
              </a:rPr>
              <a:t>.</a:t>
            </a:r>
          </a:p>
          <a:p>
            <a:pPr algn="l"/>
            <a:endParaRPr lang="en-US" b="0" i="0" dirty="0">
              <a:solidFill>
                <a:srgbClr val="DDDDDD"/>
              </a:solidFill>
              <a:effectLst/>
              <a:latin typeface="Verdana" panose="020B0604030504040204" pitchFamily="34" charset="0"/>
            </a:endParaRPr>
          </a:p>
          <a:p>
            <a:endParaRPr lang="en-IN" dirty="0"/>
          </a:p>
        </p:txBody>
      </p:sp>
      <p:pic>
        <p:nvPicPr>
          <p:cNvPr id="9220" name="Picture 4" descr="Alert, Confirm, Prompt Dialog Box in Javascript | o7planning.org">
            <a:extLst>
              <a:ext uri="{FF2B5EF4-FFF2-40B4-BE49-F238E27FC236}">
                <a16:creationId xmlns:a16="http://schemas.microsoft.com/office/drawing/2014/main" id="{BF8B2CFF-9652-5F78-8F8A-3C87AD3A3B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1495" y="3787140"/>
            <a:ext cx="4857750"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7317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73FDF-75DB-BC31-F74E-4D7CA8D794F5}"/>
              </a:ext>
            </a:extLst>
          </p:cNvPr>
          <p:cNvSpPr>
            <a:spLocks noGrp="1"/>
          </p:cNvSpPr>
          <p:nvPr>
            <p:ph type="title"/>
          </p:nvPr>
        </p:nvSpPr>
        <p:spPr>
          <a:xfrm>
            <a:off x="748981" y="491490"/>
            <a:ext cx="9404723" cy="651509"/>
          </a:xfrm>
        </p:spPr>
        <p:txBody>
          <a:bodyPr/>
          <a:lstStyle/>
          <a:p>
            <a:r>
              <a:rPr lang="en-IN" b="0" i="0" dirty="0">
                <a:solidFill>
                  <a:srgbClr val="DDDDDD"/>
                </a:solidFill>
                <a:effectLst/>
                <a:latin typeface="Segoe UI" panose="020B0502040204020203" pitchFamily="34" charset="0"/>
              </a:rPr>
              <a:t>JavaScript Popup Boxes</a:t>
            </a:r>
            <a:endParaRPr lang="en-IN" dirty="0"/>
          </a:p>
        </p:txBody>
      </p:sp>
      <p:sp>
        <p:nvSpPr>
          <p:cNvPr id="3" name="Content Placeholder 2">
            <a:extLst>
              <a:ext uri="{FF2B5EF4-FFF2-40B4-BE49-F238E27FC236}">
                <a16:creationId xmlns:a16="http://schemas.microsoft.com/office/drawing/2014/main" id="{1C82A3E1-2CB0-7D79-22DA-04E0B98A9DE1}"/>
              </a:ext>
            </a:extLst>
          </p:cNvPr>
          <p:cNvSpPr>
            <a:spLocks noGrp="1"/>
          </p:cNvSpPr>
          <p:nvPr>
            <p:ph idx="1"/>
          </p:nvPr>
        </p:nvSpPr>
        <p:spPr>
          <a:xfrm>
            <a:off x="748982" y="1556456"/>
            <a:ext cx="9300872" cy="4691943"/>
          </a:xfrm>
        </p:spPr>
        <p:txBody>
          <a:bodyPr/>
          <a:lstStyle/>
          <a:p>
            <a:pPr marL="0" indent="0" algn="l">
              <a:buNone/>
            </a:pPr>
            <a:r>
              <a:rPr lang="en-US" sz="2400" b="1" i="0" u="sng" dirty="0">
                <a:solidFill>
                  <a:srgbClr val="DDDDDD"/>
                </a:solidFill>
                <a:effectLst/>
                <a:latin typeface="Segoe UI" panose="020B0502040204020203" pitchFamily="34" charset="0"/>
              </a:rPr>
              <a:t>Prompt Box :</a:t>
            </a:r>
          </a:p>
          <a:p>
            <a:pPr algn="l"/>
            <a:r>
              <a:rPr lang="en-US" b="0" i="0" dirty="0">
                <a:solidFill>
                  <a:srgbClr val="DDDDDD"/>
                </a:solidFill>
                <a:effectLst/>
                <a:latin typeface="Verdana" panose="020B0604030504040204" pitchFamily="34" charset="0"/>
              </a:rPr>
              <a:t>A prompt box is often used if you want the user to input a value before entering a page.</a:t>
            </a:r>
          </a:p>
          <a:p>
            <a:pPr algn="l"/>
            <a:r>
              <a:rPr lang="en-US" b="0" i="0" dirty="0">
                <a:solidFill>
                  <a:srgbClr val="DDDDDD"/>
                </a:solidFill>
                <a:effectLst/>
                <a:latin typeface="Verdana" panose="020B0604030504040204" pitchFamily="34" charset="0"/>
              </a:rPr>
              <a:t>When a prompt box pops up, the user will have to click either "OK" or "Cancel" to proceed after entering an input value.</a:t>
            </a:r>
          </a:p>
          <a:p>
            <a:pPr algn="l"/>
            <a:r>
              <a:rPr lang="en-US" b="0" i="0" dirty="0">
                <a:solidFill>
                  <a:srgbClr val="DDDDDD"/>
                </a:solidFill>
                <a:effectLst/>
                <a:latin typeface="Verdana" panose="020B0604030504040204" pitchFamily="34" charset="0"/>
              </a:rPr>
              <a:t>If the user clicks "OK" the box returns the input value. If the user clicks "Cancel" the box returns null.</a:t>
            </a:r>
          </a:p>
          <a:p>
            <a:pPr algn="l"/>
            <a:endParaRPr lang="en-US" b="0" i="0" dirty="0">
              <a:solidFill>
                <a:srgbClr val="DDDDDD"/>
              </a:solidFill>
              <a:effectLst/>
              <a:latin typeface="Verdana" panose="020B0604030504040204" pitchFamily="34" charset="0"/>
            </a:endParaRPr>
          </a:p>
          <a:p>
            <a:endParaRPr lang="en-IN" dirty="0"/>
          </a:p>
        </p:txBody>
      </p:sp>
      <p:pic>
        <p:nvPicPr>
          <p:cNvPr id="10242" name="Picture 2" descr="Difference between alert box and prompt box in JavaScript - GeeksforGeeks">
            <a:extLst>
              <a:ext uri="{FF2B5EF4-FFF2-40B4-BE49-F238E27FC236}">
                <a16:creationId xmlns:a16="http://schemas.microsoft.com/office/drawing/2014/main" id="{4F51E857-8A0C-72D9-D124-F4E5718484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9937" y="4307276"/>
            <a:ext cx="5572125" cy="2354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4759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2ACB-77C6-C549-19E0-9BE561ABE931}"/>
              </a:ext>
            </a:extLst>
          </p:cNvPr>
          <p:cNvSpPr>
            <a:spLocks noGrp="1"/>
          </p:cNvSpPr>
          <p:nvPr>
            <p:ph type="title"/>
          </p:nvPr>
        </p:nvSpPr>
        <p:spPr>
          <a:xfrm>
            <a:off x="646111" y="452718"/>
            <a:ext cx="9404723" cy="896022"/>
          </a:xfrm>
        </p:spPr>
        <p:txBody>
          <a:bodyPr/>
          <a:lstStyle/>
          <a:p>
            <a:r>
              <a:rPr lang="en-US" dirty="0"/>
              <a:t>DOM(Document Object Model)</a:t>
            </a:r>
            <a:endParaRPr lang="en-IN" dirty="0"/>
          </a:p>
        </p:txBody>
      </p:sp>
      <p:sp>
        <p:nvSpPr>
          <p:cNvPr id="3" name="Content Placeholder 2">
            <a:extLst>
              <a:ext uri="{FF2B5EF4-FFF2-40B4-BE49-F238E27FC236}">
                <a16:creationId xmlns:a16="http://schemas.microsoft.com/office/drawing/2014/main" id="{FAC3A236-BE47-D51C-E71E-6A0A133D3B1B}"/>
              </a:ext>
            </a:extLst>
          </p:cNvPr>
          <p:cNvSpPr>
            <a:spLocks noGrp="1"/>
          </p:cNvSpPr>
          <p:nvPr>
            <p:ph idx="1"/>
          </p:nvPr>
        </p:nvSpPr>
        <p:spPr>
          <a:xfrm>
            <a:off x="645130" y="1348740"/>
            <a:ext cx="10076210" cy="5326380"/>
          </a:xfrm>
        </p:spPr>
        <p:txBody>
          <a:bodyPr/>
          <a:lstStyle/>
          <a:p>
            <a:r>
              <a:rPr lang="en-US" b="0" i="0" dirty="0">
                <a:effectLst/>
              </a:rPr>
              <a:t>In JavaScript, the DOM (Document Object Model) is a programming interface for web documents. It represents the structure of a document as a tree-like model where each node is an object representing a part of the document, such as elements, attributes, and text.</a:t>
            </a:r>
          </a:p>
          <a:p>
            <a:r>
              <a:rPr lang="en-US" b="0" i="0" dirty="0">
                <a:solidFill>
                  <a:srgbClr val="DDDDDD"/>
                </a:solidFill>
                <a:effectLst/>
                <a:latin typeface="Verdana" panose="020B0604030504040204" pitchFamily="34" charset="0"/>
              </a:rPr>
              <a:t>When a web page is loaded, the browser creates a </a:t>
            </a:r>
            <a:r>
              <a:rPr lang="en-US" b="1" i="0" dirty="0">
                <a:solidFill>
                  <a:srgbClr val="DDDDDD"/>
                </a:solidFill>
                <a:effectLst/>
                <a:latin typeface="Verdana" panose="020B0604030504040204" pitchFamily="34" charset="0"/>
              </a:rPr>
              <a:t>D</a:t>
            </a:r>
            <a:r>
              <a:rPr lang="en-US" b="0" i="0" dirty="0">
                <a:solidFill>
                  <a:srgbClr val="DDDDDD"/>
                </a:solidFill>
                <a:effectLst/>
                <a:latin typeface="Verdana" panose="020B0604030504040204" pitchFamily="34" charset="0"/>
              </a:rPr>
              <a:t>ocument </a:t>
            </a:r>
            <a:r>
              <a:rPr lang="en-US" b="1" i="0" dirty="0">
                <a:solidFill>
                  <a:srgbClr val="DDDDDD"/>
                </a:solidFill>
                <a:effectLst/>
                <a:latin typeface="Verdana" panose="020B0604030504040204" pitchFamily="34" charset="0"/>
              </a:rPr>
              <a:t>O</a:t>
            </a:r>
            <a:r>
              <a:rPr lang="en-US" b="0" i="0" dirty="0">
                <a:solidFill>
                  <a:srgbClr val="DDDDDD"/>
                </a:solidFill>
                <a:effectLst/>
                <a:latin typeface="Verdana" panose="020B0604030504040204" pitchFamily="34" charset="0"/>
              </a:rPr>
              <a:t>bject </a:t>
            </a:r>
            <a:r>
              <a:rPr lang="en-US" b="1" i="0" dirty="0">
                <a:solidFill>
                  <a:srgbClr val="DDDDDD"/>
                </a:solidFill>
                <a:effectLst/>
                <a:latin typeface="Verdana" panose="020B0604030504040204" pitchFamily="34" charset="0"/>
              </a:rPr>
              <a:t>M</a:t>
            </a:r>
            <a:r>
              <a:rPr lang="en-US" b="0" i="0" dirty="0">
                <a:solidFill>
                  <a:srgbClr val="DDDDDD"/>
                </a:solidFill>
                <a:effectLst/>
                <a:latin typeface="Verdana" panose="020B0604030504040204" pitchFamily="34" charset="0"/>
              </a:rPr>
              <a:t>odel of the page.</a:t>
            </a:r>
          </a:p>
          <a:p>
            <a:r>
              <a:rPr lang="en-US" b="0" i="0" dirty="0">
                <a:solidFill>
                  <a:srgbClr val="DDDDDD"/>
                </a:solidFill>
                <a:effectLst/>
                <a:latin typeface="Verdana" panose="020B0604030504040204" pitchFamily="34" charset="0"/>
              </a:rPr>
              <a:t>The </a:t>
            </a:r>
            <a:r>
              <a:rPr lang="en-US" b="1" i="0" dirty="0">
                <a:solidFill>
                  <a:srgbClr val="DDDDDD"/>
                </a:solidFill>
                <a:effectLst/>
                <a:latin typeface="Verdana" panose="020B0604030504040204" pitchFamily="34" charset="0"/>
              </a:rPr>
              <a:t>HTML DOM</a:t>
            </a:r>
            <a:r>
              <a:rPr lang="en-US" b="0" i="0" dirty="0">
                <a:solidFill>
                  <a:srgbClr val="DDDDDD"/>
                </a:solidFill>
                <a:effectLst/>
                <a:latin typeface="Verdana" panose="020B0604030504040204" pitchFamily="34" charset="0"/>
              </a:rPr>
              <a:t> model is constructed as a tree of </a:t>
            </a:r>
            <a:r>
              <a:rPr lang="en-US" b="1" i="0" dirty="0">
                <a:solidFill>
                  <a:srgbClr val="DDDDDD"/>
                </a:solidFill>
                <a:effectLst/>
                <a:latin typeface="Verdana" panose="020B0604030504040204" pitchFamily="34" charset="0"/>
              </a:rPr>
              <a:t>Objects</a:t>
            </a:r>
            <a:r>
              <a:rPr lang="en-US" b="0" i="0" dirty="0">
                <a:solidFill>
                  <a:srgbClr val="DDDDDD"/>
                </a:solidFill>
                <a:effectLst/>
                <a:latin typeface="Verdana" panose="020B0604030504040204" pitchFamily="34" charset="0"/>
              </a:rPr>
              <a:t>:</a:t>
            </a:r>
            <a:endParaRPr lang="en-IN" dirty="0"/>
          </a:p>
        </p:txBody>
      </p:sp>
      <p:pic>
        <p:nvPicPr>
          <p:cNvPr id="11266" name="Picture 2" descr="DOM HTML tree">
            <a:extLst>
              <a:ext uri="{FF2B5EF4-FFF2-40B4-BE49-F238E27FC236}">
                <a16:creationId xmlns:a16="http://schemas.microsoft.com/office/drawing/2014/main" id="{AB45AC98-B50B-AAE2-94F4-EBA88BCAD6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2784" y="4011930"/>
            <a:ext cx="5534025"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6430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E485A-4477-0F75-7DF2-ABE26DB2945B}"/>
              </a:ext>
            </a:extLst>
          </p:cNvPr>
          <p:cNvSpPr>
            <a:spLocks noGrp="1"/>
          </p:cNvSpPr>
          <p:nvPr>
            <p:ph type="title"/>
          </p:nvPr>
        </p:nvSpPr>
        <p:spPr>
          <a:xfrm>
            <a:off x="646111" y="452718"/>
            <a:ext cx="9404723" cy="1023657"/>
          </a:xfrm>
        </p:spPr>
        <p:txBody>
          <a:bodyPr/>
          <a:lstStyle/>
          <a:p>
            <a:r>
              <a:rPr lang="en-US" dirty="0"/>
              <a:t>DOM Manipulation</a:t>
            </a:r>
            <a:endParaRPr lang="en-IN" dirty="0"/>
          </a:p>
        </p:txBody>
      </p:sp>
      <p:sp>
        <p:nvSpPr>
          <p:cNvPr id="3" name="Content Placeholder 2">
            <a:extLst>
              <a:ext uri="{FF2B5EF4-FFF2-40B4-BE49-F238E27FC236}">
                <a16:creationId xmlns:a16="http://schemas.microsoft.com/office/drawing/2014/main" id="{2458E66F-8B7D-9CF4-D909-F565C3808CB4}"/>
              </a:ext>
            </a:extLst>
          </p:cNvPr>
          <p:cNvSpPr>
            <a:spLocks noGrp="1"/>
          </p:cNvSpPr>
          <p:nvPr>
            <p:ph idx="1"/>
          </p:nvPr>
        </p:nvSpPr>
        <p:spPr/>
        <p:txBody>
          <a:bodyPr/>
          <a:lstStyle/>
          <a:p>
            <a:pPr algn="l">
              <a:buFont typeface="Arial" panose="020B0604020202020204" pitchFamily="34" charset="0"/>
              <a:buChar char="•"/>
            </a:pPr>
            <a:r>
              <a:rPr lang="en-US" b="0" i="0" dirty="0">
                <a:solidFill>
                  <a:srgbClr val="DDDDDD"/>
                </a:solidFill>
                <a:effectLst/>
                <a:latin typeface="Verdana" panose="020B0604030504040204" pitchFamily="34" charset="0"/>
              </a:rPr>
              <a:t>JavaScript can change all the HTML elements in the page</a:t>
            </a:r>
          </a:p>
          <a:p>
            <a:pPr algn="l">
              <a:buFont typeface="Arial" panose="020B0604020202020204" pitchFamily="34" charset="0"/>
              <a:buChar char="•"/>
            </a:pPr>
            <a:r>
              <a:rPr lang="en-US" b="0" i="0" dirty="0">
                <a:solidFill>
                  <a:srgbClr val="DDDDDD"/>
                </a:solidFill>
                <a:effectLst/>
                <a:latin typeface="Verdana" panose="020B0604030504040204" pitchFamily="34" charset="0"/>
              </a:rPr>
              <a:t>JavaScript can change all the HTML attributes in the page</a:t>
            </a:r>
          </a:p>
          <a:p>
            <a:pPr algn="l">
              <a:buFont typeface="Arial" panose="020B0604020202020204" pitchFamily="34" charset="0"/>
              <a:buChar char="•"/>
            </a:pPr>
            <a:r>
              <a:rPr lang="en-US" b="0" i="0" dirty="0">
                <a:solidFill>
                  <a:srgbClr val="DDDDDD"/>
                </a:solidFill>
                <a:effectLst/>
                <a:latin typeface="Verdana" panose="020B0604030504040204" pitchFamily="34" charset="0"/>
              </a:rPr>
              <a:t>JavaScript can change all the CSS styles in the page</a:t>
            </a:r>
          </a:p>
          <a:p>
            <a:pPr algn="l">
              <a:buFont typeface="Arial" panose="020B0604020202020204" pitchFamily="34" charset="0"/>
              <a:buChar char="•"/>
            </a:pPr>
            <a:r>
              <a:rPr lang="en-US" b="0" i="0" dirty="0">
                <a:solidFill>
                  <a:srgbClr val="DDDDDD"/>
                </a:solidFill>
                <a:effectLst/>
                <a:latin typeface="Verdana" panose="020B0604030504040204" pitchFamily="34" charset="0"/>
              </a:rPr>
              <a:t>JavaScript can remove existing HTML elements and attributes</a:t>
            </a:r>
          </a:p>
          <a:p>
            <a:pPr algn="l">
              <a:buFont typeface="Arial" panose="020B0604020202020204" pitchFamily="34" charset="0"/>
              <a:buChar char="•"/>
            </a:pPr>
            <a:r>
              <a:rPr lang="en-US" b="0" i="0" dirty="0">
                <a:solidFill>
                  <a:srgbClr val="DDDDDD"/>
                </a:solidFill>
                <a:effectLst/>
                <a:latin typeface="Verdana" panose="020B0604030504040204" pitchFamily="34" charset="0"/>
              </a:rPr>
              <a:t>JavaScript can add new HTML elements and attributes</a:t>
            </a:r>
          </a:p>
          <a:p>
            <a:pPr algn="l">
              <a:buFont typeface="Arial" panose="020B0604020202020204" pitchFamily="34" charset="0"/>
              <a:buChar char="•"/>
            </a:pPr>
            <a:r>
              <a:rPr lang="en-US" b="0" i="0" dirty="0">
                <a:solidFill>
                  <a:srgbClr val="DDDDDD"/>
                </a:solidFill>
                <a:effectLst/>
                <a:latin typeface="Verdana" panose="020B0604030504040204" pitchFamily="34" charset="0"/>
              </a:rPr>
              <a:t>JavaScript can react to all existing HTML events in the page</a:t>
            </a:r>
          </a:p>
          <a:p>
            <a:pPr algn="l">
              <a:buFont typeface="Arial" panose="020B0604020202020204" pitchFamily="34" charset="0"/>
              <a:buChar char="•"/>
            </a:pPr>
            <a:r>
              <a:rPr lang="en-US" b="0" i="0" dirty="0">
                <a:solidFill>
                  <a:srgbClr val="DDDDDD"/>
                </a:solidFill>
                <a:effectLst/>
                <a:latin typeface="Verdana" panose="020B0604030504040204" pitchFamily="34" charset="0"/>
              </a:rPr>
              <a:t>JavaScript can create new HTML events in the page</a:t>
            </a:r>
            <a:br>
              <a:rPr lang="en-US" dirty="0"/>
            </a:br>
            <a:endParaRPr lang="en-IN" dirty="0"/>
          </a:p>
        </p:txBody>
      </p:sp>
    </p:spTree>
    <p:extLst>
      <p:ext uri="{BB962C8B-B14F-4D97-AF65-F5344CB8AC3E}">
        <p14:creationId xmlns:p14="http://schemas.microsoft.com/office/powerpoint/2010/main" val="1757636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FD843-13B3-52B5-BB19-04F3C9CBF7B4}"/>
              </a:ext>
            </a:extLst>
          </p:cNvPr>
          <p:cNvSpPr>
            <a:spLocks noGrp="1"/>
          </p:cNvSpPr>
          <p:nvPr>
            <p:ph type="title"/>
          </p:nvPr>
        </p:nvSpPr>
        <p:spPr>
          <a:xfrm>
            <a:off x="646111" y="452718"/>
            <a:ext cx="9404723" cy="690282"/>
          </a:xfrm>
        </p:spPr>
        <p:txBody>
          <a:bodyPr/>
          <a:lstStyle/>
          <a:p>
            <a:r>
              <a:rPr lang="en-US" dirty="0"/>
              <a:t>DOM Methods</a:t>
            </a:r>
            <a:endParaRPr lang="en-IN" dirty="0"/>
          </a:p>
        </p:txBody>
      </p:sp>
      <p:sp>
        <p:nvSpPr>
          <p:cNvPr id="3" name="Content Placeholder 2">
            <a:extLst>
              <a:ext uri="{FF2B5EF4-FFF2-40B4-BE49-F238E27FC236}">
                <a16:creationId xmlns:a16="http://schemas.microsoft.com/office/drawing/2014/main" id="{1D32B59A-573A-00EB-8E8A-15D40743B521}"/>
              </a:ext>
            </a:extLst>
          </p:cNvPr>
          <p:cNvSpPr>
            <a:spLocks noGrp="1"/>
          </p:cNvSpPr>
          <p:nvPr>
            <p:ph idx="1"/>
          </p:nvPr>
        </p:nvSpPr>
        <p:spPr>
          <a:xfrm>
            <a:off x="646110" y="1352550"/>
            <a:ext cx="10783889" cy="4895849"/>
          </a:xfrm>
        </p:spPr>
        <p:txBody>
          <a:bodyPr>
            <a:normAutofit lnSpcReduction="10000"/>
          </a:bodyPr>
          <a:lstStyle/>
          <a:p>
            <a:r>
              <a:rPr lang="en-US" sz="2400" b="1" i="0" dirty="0">
                <a:effectLst/>
                <a:latin typeface="Söhne"/>
              </a:rPr>
              <a:t>Methods used to target HTML elements in JavaScript file</a:t>
            </a:r>
          </a:p>
          <a:p>
            <a:endParaRPr lang="en-US" sz="2400" b="1" dirty="0">
              <a:latin typeface="Söhne"/>
            </a:endParaRPr>
          </a:p>
          <a:p>
            <a:r>
              <a:rPr lang="en-US" sz="2400" b="1" i="0" dirty="0" err="1">
                <a:effectLst/>
                <a:latin typeface="Söhne"/>
              </a:rPr>
              <a:t>getElementById</a:t>
            </a:r>
            <a:r>
              <a:rPr lang="en-US" sz="2400" b="1" i="0" dirty="0">
                <a:effectLst/>
                <a:latin typeface="Söhne"/>
              </a:rPr>
              <a:t>(id):</a:t>
            </a:r>
            <a:r>
              <a:rPr lang="en-US" sz="2400" b="0" i="0" dirty="0">
                <a:effectLst/>
                <a:latin typeface="Söhne"/>
              </a:rPr>
              <a:t> This method allows you to retrieve an element from the document by its unique id.</a:t>
            </a:r>
          </a:p>
          <a:p>
            <a:r>
              <a:rPr lang="en-US" sz="2400" b="1" i="0" dirty="0" err="1">
                <a:effectLst/>
                <a:latin typeface="Söhne"/>
              </a:rPr>
              <a:t>getElementsByClassName</a:t>
            </a:r>
            <a:r>
              <a:rPr lang="en-US" sz="2400" b="1" i="0" dirty="0">
                <a:effectLst/>
                <a:latin typeface="Söhne"/>
              </a:rPr>
              <a:t>(</a:t>
            </a:r>
            <a:r>
              <a:rPr lang="en-US" sz="2400" b="1" i="0" dirty="0" err="1">
                <a:effectLst/>
                <a:latin typeface="Söhne"/>
              </a:rPr>
              <a:t>className</a:t>
            </a:r>
            <a:r>
              <a:rPr lang="en-US" sz="2400" b="1" i="0" dirty="0">
                <a:effectLst/>
                <a:latin typeface="Söhne"/>
              </a:rPr>
              <a:t>):</a:t>
            </a:r>
            <a:r>
              <a:rPr lang="en-US" sz="2400" b="0" i="0" dirty="0">
                <a:effectLst/>
                <a:latin typeface="Söhne"/>
              </a:rPr>
              <a:t> This method returns a collection of all elements in the document with a specified class name.</a:t>
            </a:r>
          </a:p>
          <a:p>
            <a:r>
              <a:rPr lang="en-US" sz="2400" b="1" i="0" dirty="0" err="1">
                <a:effectLst/>
                <a:latin typeface="Söhne"/>
              </a:rPr>
              <a:t>getElementsByTagName</a:t>
            </a:r>
            <a:r>
              <a:rPr lang="en-US" sz="2400" b="1" i="0" dirty="0">
                <a:effectLst/>
                <a:latin typeface="Söhne"/>
              </a:rPr>
              <a:t>(</a:t>
            </a:r>
            <a:r>
              <a:rPr lang="en-US" sz="2400" b="1" i="0" dirty="0" err="1">
                <a:effectLst/>
                <a:latin typeface="Söhne"/>
              </a:rPr>
              <a:t>tagName</a:t>
            </a:r>
            <a:r>
              <a:rPr lang="en-US" sz="2400" b="1" i="0" dirty="0">
                <a:effectLst/>
                <a:latin typeface="Söhne"/>
              </a:rPr>
              <a:t>):</a:t>
            </a:r>
            <a:r>
              <a:rPr lang="en-US" sz="2400" b="0" i="0" dirty="0">
                <a:effectLst/>
                <a:latin typeface="Söhne"/>
              </a:rPr>
              <a:t> Returns a collection of elements with the specified tag name.</a:t>
            </a:r>
          </a:p>
          <a:p>
            <a:r>
              <a:rPr lang="en-US" sz="2400" b="1" i="0" dirty="0" err="1">
                <a:effectLst/>
                <a:latin typeface="Söhne"/>
              </a:rPr>
              <a:t>querySelector</a:t>
            </a:r>
            <a:r>
              <a:rPr lang="en-US" sz="2400" b="1" i="0" dirty="0">
                <a:effectLst/>
                <a:latin typeface="Söhne"/>
              </a:rPr>
              <a:t>(selector):</a:t>
            </a:r>
            <a:r>
              <a:rPr lang="en-US" sz="2400" b="0" i="0" dirty="0">
                <a:effectLst/>
                <a:latin typeface="Söhne"/>
              </a:rPr>
              <a:t> Returns the first element that matches a specified CSS selector.</a:t>
            </a:r>
          </a:p>
          <a:p>
            <a:r>
              <a:rPr lang="en-US" sz="2400" b="1" i="0" dirty="0" err="1">
                <a:effectLst/>
                <a:latin typeface="Söhne"/>
              </a:rPr>
              <a:t>querySelectorAll</a:t>
            </a:r>
            <a:r>
              <a:rPr lang="en-US" sz="2400" b="1" i="0" dirty="0">
                <a:effectLst/>
                <a:latin typeface="Söhne"/>
              </a:rPr>
              <a:t>(selector):</a:t>
            </a:r>
            <a:r>
              <a:rPr lang="en-US" sz="2400" b="0" i="0" dirty="0">
                <a:effectLst/>
                <a:latin typeface="Söhne"/>
              </a:rPr>
              <a:t> Returns a </a:t>
            </a:r>
            <a:r>
              <a:rPr lang="en-US" sz="2400" b="0" i="0" dirty="0" err="1">
                <a:effectLst/>
                <a:latin typeface="Söhne"/>
              </a:rPr>
              <a:t>NodeList</a:t>
            </a:r>
            <a:r>
              <a:rPr lang="en-US" sz="2400" b="0" i="0" dirty="0">
                <a:effectLst/>
                <a:latin typeface="Söhne"/>
              </a:rPr>
              <a:t> of all elements that match a specified CSS selector.</a:t>
            </a:r>
          </a:p>
          <a:p>
            <a:endParaRPr lang="en-IN" sz="2400" dirty="0"/>
          </a:p>
        </p:txBody>
      </p:sp>
    </p:spTree>
    <p:extLst>
      <p:ext uri="{BB962C8B-B14F-4D97-AF65-F5344CB8AC3E}">
        <p14:creationId xmlns:p14="http://schemas.microsoft.com/office/powerpoint/2010/main" val="2644265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009F7-DFD2-35D5-73BC-E710B82DB4DB}"/>
              </a:ext>
            </a:extLst>
          </p:cNvPr>
          <p:cNvSpPr>
            <a:spLocks noGrp="1"/>
          </p:cNvSpPr>
          <p:nvPr>
            <p:ph type="title"/>
          </p:nvPr>
        </p:nvSpPr>
        <p:spPr>
          <a:xfrm>
            <a:off x="646111" y="452718"/>
            <a:ext cx="9404723" cy="861732"/>
          </a:xfrm>
        </p:spPr>
        <p:txBody>
          <a:bodyPr/>
          <a:lstStyle/>
          <a:p>
            <a:pPr algn="l"/>
            <a:r>
              <a:rPr lang="en-IN" b="0" i="0" dirty="0">
                <a:solidFill>
                  <a:srgbClr val="DDDDDD"/>
                </a:solidFill>
                <a:effectLst/>
                <a:latin typeface="Segoe UI" panose="020B0502040204020203" pitchFamily="34" charset="0"/>
              </a:rPr>
              <a:t>Changing HTML Elements</a:t>
            </a:r>
          </a:p>
        </p:txBody>
      </p:sp>
      <p:graphicFrame>
        <p:nvGraphicFramePr>
          <p:cNvPr id="4" name="Content Placeholder 3">
            <a:extLst>
              <a:ext uri="{FF2B5EF4-FFF2-40B4-BE49-F238E27FC236}">
                <a16:creationId xmlns:a16="http://schemas.microsoft.com/office/drawing/2014/main" id="{365C60B3-9BF6-7E91-F7F5-A9F272C537B0}"/>
              </a:ext>
            </a:extLst>
          </p:cNvPr>
          <p:cNvGraphicFramePr>
            <a:graphicFrameLocks noGrp="1"/>
          </p:cNvGraphicFramePr>
          <p:nvPr>
            <p:ph idx="1"/>
            <p:extLst>
              <p:ext uri="{D42A27DB-BD31-4B8C-83A1-F6EECF244321}">
                <p14:modId xmlns:p14="http://schemas.microsoft.com/office/powerpoint/2010/main" val="3321793358"/>
              </p:ext>
            </p:extLst>
          </p:nvPr>
        </p:nvGraphicFramePr>
        <p:xfrm>
          <a:off x="762001" y="1533525"/>
          <a:ext cx="9877424" cy="4524375"/>
        </p:xfrm>
        <a:graphic>
          <a:graphicData uri="http://schemas.openxmlformats.org/drawingml/2006/table">
            <a:tbl>
              <a:tblPr/>
              <a:tblGrid>
                <a:gridCol w="4934619">
                  <a:extLst>
                    <a:ext uri="{9D8B030D-6E8A-4147-A177-3AD203B41FA5}">
                      <a16:colId xmlns:a16="http://schemas.microsoft.com/office/drawing/2014/main" val="4079035708"/>
                    </a:ext>
                  </a:extLst>
                </a:gridCol>
                <a:gridCol w="4942805">
                  <a:extLst>
                    <a:ext uri="{9D8B030D-6E8A-4147-A177-3AD203B41FA5}">
                      <a16:colId xmlns:a16="http://schemas.microsoft.com/office/drawing/2014/main" val="2253008183"/>
                    </a:ext>
                  </a:extLst>
                </a:gridCol>
              </a:tblGrid>
              <a:tr h="552481">
                <a:tc>
                  <a:txBody>
                    <a:bodyPr/>
                    <a:lstStyle/>
                    <a:p>
                      <a:pPr algn="l" fontAlgn="t"/>
                      <a:r>
                        <a:rPr lang="en-IN">
                          <a:effectLst/>
                        </a:rPr>
                        <a:t>Property</a:t>
                      </a:r>
                    </a:p>
                  </a:txBody>
                  <a:tcPr marL="1016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1D2A35"/>
                    </a:solidFill>
                  </a:tcPr>
                </a:tc>
                <a:tc>
                  <a:txBody>
                    <a:bodyPr/>
                    <a:lstStyle/>
                    <a:p>
                      <a:pPr algn="l" fontAlgn="t"/>
                      <a:r>
                        <a:rPr lang="en-IN">
                          <a:effectLst/>
                        </a:rPr>
                        <a:t>Description</a:t>
                      </a:r>
                    </a:p>
                  </a:txBody>
                  <a:tcPr marL="508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1D2A35"/>
                    </a:solidFill>
                  </a:tcPr>
                </a:tc>
                <a:extLst>
                  <a:ext uri="{0D108BD9-81ED-4DB2-BD59-A6C34878D82A}">
                    <a16:rowId xmlns:a16="http://schemas.microsoft.com/office/drawing/2014/main" val="3451605234"/>
                  </a:ext>
                </a:extLst>
              </a:tr>
              <a:tr h="955644">
                <a:tc>
                  <a:txBody>
                    <a:bodyPr/>
                    <a:lstStyle/>
                    <a:p>
                      <a:pPr algn="l" fontAlgn="t"/>
                      <a:r>
                        <a:rPr lang="en-US" i="1">
                          <a:effectLst/>
                        </a:rPr>
                        <a:t>element</a:t>
                      </a:r>
                      <a:r>
                        <a:rPr lang="en-US">
                          <a:effectLst/>
                        </a:rPr>
                        <a:t>.innerHTML =  </a:t>
                      </a:r>
                      <a:r>
                        <a:rPr lang="en-US" i="1">
                          <a:effectLst/>
                        </a:rPr>
                        <a:t>new html content</a:t>
                      </a:r>
                      <a:endParaRPr lang="en-US">
                        <a:effectLst/>
                      </a:endParaRPr>
                    </a:p>
                  </a:txBody>
                  <a:tcPr marL="1016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38444D"/>
                    </a:solidFill>
                  </a:tcPr>
                </a:tc>
                <a:tc>
                  <a:txBody>
                    <a:bodyPr/>
                    <a:lstStyle/>
                    <a:p>
                      <a:pPr algn="l" fontAlgn="t"/>
                      <a:r>
                        <a:rPr lang="en-US">
                          <a:effectLst/>
                        </a:rPr>
                        <a:t>Change the inner HTML of an element</a:t>
                      </a:r>
                    </a:p>
                  </a:txBody>
                  <a:tcPr marL="508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38444D"/>
                    </a:solidFill>
                  </a:tcPr>
                </a:tc>
                <a:extLst>
                  <a:ext uri="{0D108BD9-81ED-4DB2-BD59-A6C34878D82A}">
                    <a16:rowId xmlns:a16="http://schemas.microsoft.com/office/drawing/2014/main" val="1119556033"/>
                  </a:ext>
                </a:extLst>
              </a:tr>
              <a:tr h="955644">
                <a:tc>
                  <a:txBody>
                    <a:bodyPr/>
                    <a:lstStyle/>
                    <a:p>
                      <a:pPr algn="l" fontAlgn="t"/>
                      <a:r>
                        <a:rPr lang="en-IN" i="1" dirty="0" err="1">
                          <a:effectLst/>
                        </a:rPr>
                        <a:t>element</a:t>
                      </a:r>
                      <a:r>
                        <a:rPr lang="en-IN" dirty="0" err="1">
                          <a:effectLst/>
                        </a:rPr>
                        <a:t>.</a:t>
                      </a:r>
                      <a:r>
                        <a:rPr lang="en-IN" i="1" dirty="0" err="1">
                          <a:effectLst/>
                        </a:rPr>
                        <a:t>attribute</a:t>
                      </a:r>
                      <a:r>
                        <a:rPr lang="en-IN" i="1" dirty="0">
                          <a:effectLst/>
                        </a:rPr>
                        <a:t> = new value</a:t>
                      </a:r>
                      <a:endParaRPr lang="en-IN" dirty="0">
                        <a:effectLst/>
                      </a:endParaRPr>
                    </a:p>
                  </a:txBody>
                  <a:tcPr marL="1016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1D2A35"/>
                    </a:solidFill>
                  </a:tcPr>
                </a:tc>
                <a:tc>
                  <a:txBody>
                    <a:bodyPr/>
                    <a:lstStyle/>
                    <a:p>
                      <a:pPr algn="l" fontAlgn="t"/>
                      <a:r>
                        <a:rPr lang="en-US" dirty="0">
                          <a:effectLst/>
                        </a:rPr>
                        <a:t>Change the attribute value of an HTML element</a:t>
                      </a:r>
                    </a:p>
                  </a:txBody>
                  <a:tcPr marL="508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1D2A35"/>
                    </a:solidFill>
                  </a:tcPr>
                </a:tc>
                <a:extLst>
                  <a:ext uri="{0D108BD9-81ED-4DB2-BD59-A6C34878D82A}">
                    <a16:rowId xmlns:a16="http://schemas.microsoft.com/office/drawing/2014/main" val="1372114396"/>
                  </a:ext>
                </a:extLst>
              </a:tr>
              <a:tr h="552481">
                <a:tc>
                  <a:txBody>
                    <a:bodyPr/>
                    <a:lstStyle/>
                    <a:p>
                      <a:pPr algn="l" fontAlgn="t"/>
                      <a:r>
                        <a:rPr lang="en-IN" i="1">
                          <a:effectLst/>
                        </a:rPr>
                        <a:t>element</a:t>
                      </a:r>
                      <a:r>
                        <a:rPr lang="en-IN">
                          <a:effectLst/>
                        </a:rPr>
                        <a:t>.style.</a:t>
                      </a:r>
                      <a:r>
                        <a:rPr lang="en-IN" i="1">
                          <a:effectLst/>
                        </a:rPr>
                        <a:t>property = new style</a:t>
                      </a:r>
                      <a:endParaRPr lang="en-IN">
                        <a:effectLst/>
                      </a:endParaRPr>
                    </a:p>
                  </a:txBody>
                  <a:tcPr marL="1016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38444D"/>
                    </a:solidFill>
                  </a:tcPr>
                </a:tc>
                <a:tc>
                  <a:txBody>
                    <a:bodyPr/>
                    <a:lstStyle/>
                    <a:p>
                      <a:pPr algn="l" fontAlgn="t"/>
                      <a:r>
                        <a:rPr lang="en-US">
                          <a:effectLst/>
                        </a:rPr>
                        <a:t>Change the style of an HTML element</a:t>
                      </a:r>
                    </a:p>
                  </a:txBody>
                  <a:tcPr marL="508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38444D"/>
                    </a:solidFill>
                  </a:tcPr>
                </a:tc>
                <a:extLst>
                  <a:ext uri="{0D108BD9-81ED-4DB2-BD59-A6C34878D82A}">
                    <a16:rowId xmlns:a16="http://schemas.microsoft.com/office/drawing/2014/main" val="2255382132"/>
                  </a:ext>
                </a:extLst>
              </a:tr>
              <a:tr h="552481">
                <a:tc>
                  <a:txBody>
                    <a:bodyPr/>
                    <a:lstStyle/>
                    <a:p>
                      <a:pPr algn="l" fontAlgn="t"/>
                      <a:endParaRPr lang="en-IN" dirty="0">
                        <a:effectLst/>
                      </a:endParaRPr>
                    </a:p>
                  </a:txBody>
                  <a:tcPr marL="1016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1D2A35"/>
                    </a:solidFill>
                  </a:tcPr>
                </a:tc>
                <a:tc>
                  <a:txBody>
                    <a:bodyPr/>
                    <a:lstStyle/>
                    <a:p>
                      <a:pPr algn="l" fontAlgn="t"/>
                      <a:endParaRPr lang="en-IN" dirty="0">
                        <a:effectLst/>
                      </a:endParaRPr>
                    </a:p>
                  </a:txBody>
                  <a:tcPr marL="508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1D2A35"/>
                    </a:solidFill>
                  </a:tcPr>
                </a:tc>
                <a:extLst>
                  <a:ext uri="{0D108BD9-81ED-4DB2-BD59-A6C34878D82A}">
                    <a16:rowId xmlns:a16="http://schemas.microsoft.com/office/drawing/2014/main" val="508834236"/>
                  </a:ext>
                </a:extLst>
              </a:tr>
              <a:tr h="955644">
                <a:tc>
                  <a:txBody>
                    <a:bodyPr/>
                    <a:lstStyle/>
                    <a:p>
                      <a:pPr algn="l" fontAlgn="t"/>
                      <a:r>
                        <a:rPr lang="en-IN" i="1">
                          <a:effectLst/>
                        </a:rPr>
                        <a:t>element</a:t>
                      </a:r>
                      <a:r>
                        <a:rPr lang="en-IN">
                          <a:effectLst/>
                        </a:rPr>
                        <a:t>.setAttribute</a:t>
                      </a:r>
                      <a:r>
                        <a:rPr lang="en-IN" i="1">
                          <a:effectLst/>
                        </a:rPr>
                        <a:t>(attribute, value)</a:t>
                      </a:r>
                      <a:endParaRPr lang="en-IN">
                        <a:effectLst/>
                      </a:endParaRPr>
                    </a:p>
                  </a:txBody>
                  <a:tcPr marL="1016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38444D"/>
                    </a:solidFill>
                  </a:tcPr>
                </a:tc>
                <a:tc>
                  <a:txBody>
                    <a:bodyPr/>
                    <a:lstStyle/>
                    <a:p>
                      <a:pPr algn="l" fontAlgn="t"/>
                      <a:r>
                        <a:rPr lang="en-US" dirty="0">
                          <a:effectLst/>
                        </a:rPr>
                        <a:t>Change the attribute value of an HTML element</a:t>
                      </a:r>
                    </a:p>
                  </a:txBody>
                  <a:tcPr marL="508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38444D"/>
                    </a:solidFill>
                  </a:tcPr>
                </a:tc>
                <a:extLst>
                  <a:ext uri="{0D108BD9-81ED-4DB2-BD59-A6C34878D82A}">
                    <a16:rowId xmlns:a16="http://schemas.microsoft.com/office/drawing/2014/main" val="1697063702"/>
                  </a:ext>
                </a:extLst>
              </a:tr>
            </a:tbl>
          </a:graphicData>
        </a:graphic>
      </p:graphicFrame>
      <p:sp>
        <p:nvSpPr>
          <p:cNvPr id="5" name="Rectangle 1">
            <a:extLst>
              <a:ext uri="{FF2B5EF4-FFF2-40B4-BE49-F238E27FC236}">
                <a16:creationId xmlns:a16="http://schemas.microsoft.com/office/drawing/2014/main" id="{7DC68FD2-5706-2183-B676-90085099981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0777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2C88E-A4C7-75ED-4696-E918CAD77E82}"/>
              </a:ext>
            </a:extLst>
          </p:cNvPr>
          <p:cNvSpPr>
            <a:spLocks noGrp="1"/>
          </p:cNvSpPr>
          <p:nvPr>
            <p:ph type="title"/>
          </p:nvPr>
        </p:nvSpPr>
        <p:spPr/>
        <p:txBody>
          <a:bodyPr/>
          <a:lstStyle/>
          <a:p>
            <a:r>
              <a:rPr lang="en-IN" b="0" i="0" dirty="0">
                <a:solidFill>
                  <a:srgbClr val="DDDDDD"/>
                </a:solidFill>
                <a:effectLst/>
                <a:latin typeface="Segoe UI" panose="020B0502040204020203" pitchFamily="34" charset="0"/>
              </a:rPr>
              <a:t>Adding and Deleting Elements</a:t>
            </a:r>
            <a:br>
              <a:rPr lang="en-IN" b="0" i="0" dirty="0">
                <a:solidFill>
                  <a:srgbClr val="DDDDDD"/>
                </a:solidFill>
                <a:effectLst/>
                <a:latin typeface="Segoe UI" panose="020B0502040204020203" pitchFamily="34" charset="0"/>
              </a:rPr>
            </a:br>
            <a:endParaRPr lang="en-IN" dirty="0"/>
          </a:p>
        </p:txBody>
      </p:sp>
      <p:graphicFrame>
        <p:nvGraphicFramePr>
          <p:cNvPr id="4" name="Content Placeholder 3">
            <a:extLst>
              <a:ext uri="{FF2B5EF4-FFF2-40B4-BE49-F238E27FC236}">
                <a16:creationId xmlns:a16="http://schemas.microsoft.com/office/drawing/2014/main" id="{F496133A-1E8A-C403-9354-34907D0947C3}"/>
              </a:ext>
            </a:extLst>
          </p:cNvPr>
          <p:cNvGraphicFramePr>
            <a:graphicFrameLocks noGrp="1"/>
          </p:cNvGraphicFramePr>
          <p:nvPr>
            <p:ph idx="1"/>
            <p:extLst>
              <p:ext uri="{D42A27DB-BD31-4B8C-83A1-F6EECF244321}">
                <p14:modId xmlns:p14="http://schemas.microsoft.com/office/powerpoint/2010/main" val="1227782094"/>
              </p:ext>
            </p:extLst>
          </p:nvPr>
        </p:nvGraphicFramePr>
        <p:xfrm>
          <a:off x="714375" y="1590674"/>
          <a:ext cx="9867900" cy="4814610"/>
        </p:xfrm>
        <a:graphic>
          <a:graphicData uri="http://schemas.openxmlformats.org/drawingml/2006/table">
            <a:tbl>
              <a:tblPr/>
              <a:tblGrid>
                <a:gridCol w="4929860">
                  <a:extLst>
                    <a:ext uri="{9D8B030D-6E8A-4147-A177-3AD203B41FA5}">
                      <a16:colId xmlns:a16="http://schemas.microsoft.com/office/drawing/2014/main" val="2302296315"/>
                    </a:ext>
                  </a:extLst>
                </a:gridCol>
                <a:gridCol w="4938040">
                  <a:extLst>
                    <a:ext uri="{9D8B030D-6E8A-4147-A177-3AD203B41FA5}">
                      <a16:colId xmlns:a16="http://schemas.microsoft.com/office/drawing/2014/main" val="3014605591"/>
                    </a:ext>
                  </a:extLst>
                </a:gridCol>
              </a:tblGrid>
              <a:tr h="802435">
                <a:tc>
                  <a:txBody>
                    <a:bodyPr/>
                    <a:lstStyle/>
                    <a:p>
                      <a:pPr algn="l" fontAlgn="t"/>
                      <a:r>
                        <a:rPr lang="en-IN" dirty="0">
                          <a:effectLst/>
                        </a:rPr>
                        <a:t>Method</a:t>
                      </a:r>
                    </a:p>
                  </a:txBody>
                  <a:tcPr marL="1016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1D2A35"/>
                    </a:solidFill>
                  </a:tcPr>
                </a:tc>
                <a:tc>
                  <a:txBody>
                    <a:bodyPr/>
                    <a:lstStyle/>
                    <a:p>
                      <a:pPr algn="l" fontAlgn="t"/>
                      <a:r>
                        <a:rPr lang="en-IN">
                          <a:effectLst/>
                        </a:rPr>
                        <a:t>Description</a:t>
                      </a:r>
                    </a:p>
                  </a:txBody>
                  <a:tcPr marL="508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1D2A35"/>
                    </a:solidFill>
                  </a:tcPr>
                </a:tc>
                <a:extLst>
                  <a:ext uri="{0D108BD9-81ED-4DB2-BD59-A6C34878D82A}">
                    <a16:rowId xmlns:a16="http://schemas.microsoft.com/office/drawing/2014/main" val="1438966522"/>
                  </a:ext>
                </a:extLst>
              </a:tr>
              <a:tr h="802435">
                <a:tc>
                  <a:txBody>
                    <a:bodyPr/>
                    <a:lstStyle/>
                    <a:p>
                      <a:pPr algn="l" fontAlgn="t"/>
                      <a:r>
                        <a:rPr lang="en-IN" dirty="0" err="1">
                          <a:effectLst/>
                        </a:rPr>
                        <a:t>document.createElement</a:t>
                      </a:r>
                      <a:r>
                        <a:rPr lang="en-IN" dirty="0">
                          <a:effectLst/>
                        </a:rPr>
                        <a:t>(</a:t>
                      </a:r>
                      <a:r>
                        <a:rPr lang="en-IN" i="1" dirty="0">
                          <a:effectLst/>
                        </a:rPr>
                        <a:t>element</a:t>
                      </a:r>
                      <a:r>
                        <a:rPr lang="en-IN" dirty="0">
                          <a:effectLst/>
                        </a:rPr>
                        <a:t>)</a:t>
                      </a:r>
                    </a:p>
                  </a:txBody>
                  <a:tcPr marL="1016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38444D"/>
                    </a:solidFill>
                  </a:tcPr>
                </a:tc>
                <a:tc>
                  <a:txBody>
                    <a:bodyPr/>
                    <a:lstStyle/>
                    <a:p>
                      <a:pPr algn="l" fontAlgn="t"/>
                      <a:r>
                        <a:rPr lang="en-IN">
                          <a:effectLst/>
                        </a:rPr>
                        <a:t>Create an HTML element</a:t>
                      </a:r>
                    </a:p>
                  </a:txBody>
                  <a:tcPr marL="508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38444D"/>
                    </a:solidFill>
                  </a:tcPr>
                </a:tc>
                <a:extLst>
                  <a:ext uri="{0D108BD9-81ED-4DB2-BD59-A6C34878D82A}">
                    <a16:rowId xmlns:a16="http://schemas.microsoft.com/office/drawing/2014/main" val="1139829927"/>
                  </a:ext>
                </a:extLst>
              </a:tr>
              <a:tr h="802435">
                <a:tc>
                  <a:txBody>
                    <a:bodyPr/>
                    <a:lstStyle/>
                    <a:p>
                      <a:pPr algn="l" fontAlgn="t"/>
                      <a:r>
                        <a:rPr lang="en-IN">
                          <a:effectLst/>
                        </a:rPr>
                        <a:t>document.removeChild(</a:t>
                      </a:r>
                      <a:r>
                        <a:rPr lang="en-IN" i="1">
                          <a:effectLst/>
                        </a:rPr>
                        <a:t>element</a:t>
                      </a:r>
                      <a:r>
                        <a:rPr lang="en-IN">
                          <a:effectLst/>
                        </a:rPr>
                        <a:t>)</a:t>
                      </a:r>
                    </a:p>
                  </a:txBody>
                  <a:tcPr marL="1016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1D2A35"/>
                    </a:solidFill>
                  </a:tcPr>
                </a:tc>
                <a:tc>
                  <a:txBody>
                    <a:bodyPr/>
                    <a:lstStyle/>
                    <a:p>
                      <a:pPr algn="l" fontAlgn="t"/>
                      <a:r>
                        <a:rPr lang="en-IN">
                          <a:effectLst/>
                        </a:rPr>
                        <a:t>Remove an HTML element</a:t>
                      </a:r>
                    </a:p>
                  </a:txBody>
                  <a:tcPr marL="508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1D2A35"/>
                    </a:solidFill>
                  </a:tcPr>
                </a:tc>
                <a:extLst>
                  <a:ext uri="{0D108BD9-81ED-4DB2-BD59-A6C34878D82A}">
                    <a16:rowId xmlns:a16="http://schemas.microsoft.com/office/drawing/2014/main" val="881239017"/>
                  </a:ext>
                </a:extLst>
              </a:tr>
              <a:tr h="802435">
                <a:tc>
                  <a:txBody>
                    <a:bodyPr/>
                    <a:lstStyle/>
                    <a:p>
                      <a:pPr algn="l" fontAlgn="t"/>
                      <a:r>
                        <a:rPr lang="en-IN">
                          <a:effectLst/>
                        </a:rPr>
                        <a:t>document.appendChild(</a:t>
                      </a:r>
                      <a:r>
                        <a:rPr lang="en-IN" i="1">
                          <a:effectLst/>
                        </a:rPr>
                        <a:t>element</a:t>
                      </a:r>
                      <a:r>
                        <a:rPr lang="en-IN">
                          <a:effectLst/>
                        </a:rPr>
                        <a:t>)</a:t>
                      </a:r>
                    </a:p>
                  </a:txBody>
                  <a:tcPr marL="1016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38444D"/>
                    </a:solidFill>
                  </a:tcPr>
                </a:tc>
                <a:tc>
                  <a:txBody>
                    <a:bodyPr/>
                    <a:lstStyle/>
                    <a:p>
                      <a:pPr algn="l" fontAlgn="t"/>
                      <a:r>
                        <a:rPr lang="en-IN">
                          <a:effectLst/>
                        </a:rPr>
                        <a:t>Add an HTML element</a:t>
                      </a:r>
                    </a:p>
                  </a:txBody>
                  <a:tcPr marL="508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38444D"/>
                    </a:solidFill>
                  </a:tcPr>
                </a:tc>
                <a:extLst>
                  <a:ext uri="{0D108BD9-81ED-4DB2-BD59-A6C34878D82A}">
                    <a16:rowId xmlns:a16="http://schemas.microsoft.com/office/drawing/2014/main" val="1714830992"/>
                  </a:ext>
                </a:extLst>
              </a:tr>
              <a:tr h="802435">
                <a:tc>
                  <a:txBody>
                    <a:bodyPr/>
                    <a:lstStyle/>
                    <a:p>
                      <a:pPr algn="l" fontAlgn="t"/>
                      <a:r>
                        <a:rPr lang="en-IN" dirty="0" err="1">
                          <a:effectLst/>
                        </a:rPr>
                        <a:t>document.replaceChild</a:t>
                      </a:r>
                      <a:r>
                        <a:rPr lang="en-IN" dirty="0">
                          <a:effectLst/>
                        </a:rPr>
                        <a:t>(</a:t>
                      </a:r>
                      <a:r>
                        <a:rPr lang="en-IN" i="1" dirty="0">
                          <a:effectLst/>
                        </a:rPr>
                        <a:t>new, old</a:t>
                      </a:r>
                      <a:r>
                        <a:rPr lang="en-IN" dirty="0">
                          <a:effectLst/>
                        </a:rPr>
                        <a:t>)</a:t>
                      </a:r>
                    </a:p>
                  </a:txBody>
                  <a:tcPr marL="1016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1D2A35"/>
                    </a:solidFill>
                  </a:tcPr>
                </a:tc>
                <a:tc>
                  <a:txBody>
                    <a:bodyPr/>
                    <a:lstStyle/>
                    <a:p>
                      <a:pPr algn="l" fontAlgn="t"/>
                      <a:r>
                        <a:rPr lang="en-IN">
                          <a:effectLst/>
                        </a:rPr>
                        <a:t>Replace an HTML element</a:t>
                      </a:r>
                    </a:p>
                  </a:txBody>
                  <a:tcPr marL="508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1D2A35"/>
                    </a:solidFill>
                  </a:tcPr>
                </a:tc>
                <a:extLst>
                  <a:ext uri="{0D108BD9-81ED-4DB2-BD59-A6C34878D82A}">
                    <a16:rowId xmlns:a16="http://schemas.microsoft.com/office/drawing/2014/main" val="3804163064"/>
                  </a:ext>
                </a:extLst>
              </a:tr>
              <a:tr h="802435">
                <a:tc>
                  <a:txBody>
                    <a:bodyPr/>
                    <a:lstStyle/>
                    <a:p>
                      <a:pPr algn="l" fontAlgn="t"/>
                      <a:r>
                        <a:rPr lang="en-IN" dirty="0" err="1">
                          <a:effectLst/>
                        </a:rPr>
                        <a:t>document.write</a:t>
                      </a:r>
                      <a:r>
                        <a:rPr lang="en-IN" dirty="0">
                          <a:effectLst/>
                        </a:rPr>
                        <a:t>(</a:t>
                      </a:r>
                      <a:r>
                        <a:rPr lang="en-IN" i="1" dirty="0">
                          <a:effectLst/>
                        </a:rPr>
                        <a:t>text</a:t>
                      </a:r>
                      <a:r>
                        <a:rPr lang="en-IN" dirty="0">
                          <a:effectLst/>
                        </a:rPr>
                        <a:t>)</a:t>
                      </a:r>
                    </a:p>
                  </a:txBody>
                  <a:tcPr marL="1016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38444D"/>
                    </a:solidFill>
                  </a:tcPr>
                </a:tc>
                <a:tc>
                  <a:txBody>
                    <a:bodyPr/>
                    <a:lstStyle/>
                    <a:p>
                      <a:pPr algn="l" fontAlgn="t"/>
                      <a:r>
                        <a:rPr lang="en-US" dirty="0">
                          <a:effectLst/>
                        </a:rPr>
                        <a:t>Write into the HTML output stream</a:t>
                      </a:r>
                    </a:p>
                  </a:txBody>
                  <a:tcPr marL="50800" marR="50800" marT="50800" marB="50800">
                    <a:lnL w="6350" cap="flat" cmpd="sng" algn="ctr">
                      <a:solidFill>
                        <a:srgbClr val="38444D"/>
                      </a:solidFill>
                      <a:prstDash val="solid"/>
                      <a:round/>
                      <a:headEnd type="none" w="med" len="med"/>
                      <a:tailEnd type="none" w="med" len="med"/>
                    </a:lnL>
                    <a:lnR w="6350" cap="flat" cmpd="sng" algn="ctr">
                      <a:solidFill>
                        <a:srgbClr val="38444D"/>
                      </a:solidFill>
                      <a:prstDash val="solid"/>
                      <a:round/>
                      <a:headEnd type="none" w="med" len="med"/>
                      <a:tailEnd type="none" w="med" len="med"/>
                    </a:lnR>
                    <a:lnT w="6350" cap="flat" cmpd="sng" algn="ctr">
                      <a:solidFill>
                        <a:srgbClr val="38444D"/>
                      </a:solidFill>
                      <a:prstDash val="solid"/>
                      <a:round/>
                      <a:headEnd type="none" w="med" len="med"/>
                      <a:tailEnd type="none" w="med" len="med"/>
                    </a:lnT>
                    <a:lnB w="6350" cap="flat" cmpd="sng" algn="ctr">
                      <a:solidFill>
                        <a:srgbClr val="38444D"/>
                      </a:solidFill>
                      <a:prstDash val="solid"/>
                      <a:round/>
                      <a:headEnd type="none" w="med" len="med"/>
                      <a:tailEnd type="none" w="med" len="med"/>
                    </a:lnB>
                    <a:solidFill>
                      <a:srgbClr val="38444D"/>
                    </a:solidFill>
                  </a:tcPr>
                </a:tc>
                <a:extLst>
                  <a:ext uri="{0D108BD9-81ED-4DB2-BD59-A6C34878D82A}">
                    <a16:rowId xmlns:a16="http://schemas.microsoft.com/office/drawing/2014/main" val="1154456097"/>
                  </a:ext>
                </a:extLst>
              </a:tr>
            </a:tbl>
          </a:graphicData>
        </a:graphic>
      </p:graphicFrame>
    </p:spTree>
    <p:extLst>
      <p:ext uri="{BB962C8B-B14F-4D97-AF65-F5344CB8AC3E}">
        <p14:creationId xmlns:p14="http://schemas.microsoft.com/office/powerpoint/2010/main" val="2911344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ABAD7-A877-F103-7A8A-887A7459B440}"/>
              </a:ext>
            </a:extLst>
          </p:cNvPr>
          <p:cNvSpPr>
            <a:spLocks noGrp="1"/>
          </p:cNvSpPr>
          <p:nvPr>
            <p:ph type="title"/>
          </p:nvPr>
        </p:nvSpPr>
        <p:spPr/>
        <p:txBody>
          <a:bodyPr/>
          <a:lstStyle/>
          <a:p>
            <a:r>
              <a:rPr lang="en-US" dirty="0"/>
              <a:t>DOM Event Listener</a:t>
            </a:r>
            <a:endParaRPr lang="en-IN" dirty="0"/>
          </a:p>
        </p:txBody>
      </p:sp>
      <p:sp>
        <p:nvSpPr>
          <p:cNvPr id="3" name="Content Placeholder 2">
            <a:extLst>
              <a:ext uri="{FF2B5EF4-FFF2-40B4-BE49-F238E27FC236}">
                <a16:creationId xmlns:a16="http://schemas.microsoft.com/office/drawing/2014/main" id="{32D202A9-90EB-BD44-6D94-9AAA4ADEAB52}"/>
              </a:ext>
            </a:extLst>
          </p:cNvPr>
          <p:cNvSpPr>
            <a:spLocks noGrp="1"/>
          </p:cNvSpPr>
          <p:nvPr>
            <p:ph idx="1"/>
          </p:nvPr>
        </p:nvSpPr>
        <p:spPr>
          <a:xfrm>
            <a:off x="1103312" y="1303020"/>
            <a:ext cx="9846628" cy="4945379"/>
          </a:xfrm>
        </p:spPr>
        <p:txBody>
          <a:bodyPr>
            <a:normAutofit lnSpcReduction="10000"/>
          </a:bodyPr>
          <a:lstStyle/>
          <a:p>
            <a:r>
              <a:rPr kumimoji="0" lang="en-US" altLang="en-US" sz="2400" b="0" i="0" u="none" strike="noStrike" cap="none" normalizeH="0" baseline="0" dirty="0">
                <a:ln>
                  <a:noFill/>
                </a:ln>
                <a:effectLst/>
                <a:latin typeface="+mj-lt"/>
              </a:rPr>
              <a:t>The </a:t>
            </a:r>
            <a:r>
              <a:rPr kumimoji="0" lang="en-US" altLang="en-US" sz="2400" b="0" i="0" u="none" strike="noStrike" cap="none" normalizeH="0" baseline="0" dirty="0" err="1">
                <a:ln>
                  <a:noFill/>
                </a:ln>
                <a:effectLst/>
                <a:latin typeface="+mj-lt"/>
              </a:rPr>
              <a:t>addEventListener</a:t>
            </a:r>
            <a:r>
              <a:rPr kumimoji="0" lang="en-US" altLang="en-US" sz="2400" b="0" i="0" u="none" strike="noStrike" cap="none" normalizeH="0" baseline="0" dirty="0">
                <a:ln>
                  <a:noFill/>
                </a:ln>
                <a:effectLst/>
                <a:latin typeface="+mj-lt"/>
              </a:rPr>
              <a:t>() method attaches an event handler to the specified element</a:t>
            </a:r>
          </a:p>
          <a:p>
            <a:r>
              <a:rPr kumimoji="0" lang="en-US" altLang="en-US" sz="2000" b="0" i="0" u="none" strike="noStrike" cap="none" normalizeH="0" baseline="0" dirty="0">
                <a:ln>
                  <a:noFill/>
                </a:ln>
                <a:effectLst/>
                <a:latin typeface="Verdana" panose="020B0604030504040204" pitchFamily="34" charset="0"/>
              </a:rPr>
              <a:t>The first parameter is the type of the event (like "</a:t>
            </a:r>
            <a:r>
              <a:rPr kumimoji="0" lang="en-US" altLang="en-US" sz="2000" b="0" i="0" u="none" strike="noStrike" cap="none" normalizeH="0" baseline="0" dirty="0">
                <a:ln>
                  <a:noFill/>
                </a:ln>
                <a:effectLst/>
                <a:latin typeface="Consolas" panose="020B0609020204030204" pitchFamily="49" charset="0"/>
              </a:rPr>
              <a:t>click</a:t>
            </a:r>
            <a:r>
              <a:rPr kumimoji="0" lang="en-US" altLang="en-US" sz="2000" b="0" i="0" u="none" strike="noStrike" cap="none" normalizeH="0" baseline="0" dirty="0">
                <a:ln>
                  <a:noFill/>
                </a:ln>
                <a:effectLst/>
                <a:latin typeface="Verdana" panose="020B0604030504040204" pitchFamily="34" charset="0"/>
              </a:rPr>
              <a:t>" or "</a:t>
            </a:r>
            <a:r>
              <a:rPr kumimoji="0" lang="en-US" altLang="en-US" sz="2000" b="0" i="0" u="none" strike="noStrike" cap="none" normalizeH="0" baseline="0" dirty="0" err="1">
                <a:ln>
                  <a:noFill/>
                </a:ln>
                <a:effectLst/>
                <a:latin typeface="Consolas" panose="020B0609020204030204" pitchFamily="49" charset="0"/>
              </a:rPr>
              <a:t>mousedown</a:t>
            </a:r>
            <a:r>
              <a:rPr kumimoji="0" lang="en-US" altLang="en-US" sz="2000" b="0" i="0" u="none" strike="noStrike" cap="none" normalizeH="0" baseline="0" dirty="0">
                <a:ln>
                  <a:noFill/>
                </a:ln>
                <a:effectLst/>
                <a:latin typeface="Verdana" panose="020B0604030504040204" pitchFamily="34" charset="0"/>
              </a:rPr>
              <a:t>" or any other </a:t>
            </a:r>
            <a:r>
              <a:rPr kumimoji="0" lang="en-US" altLang="en-US" sz="2000" b="0" i="0" u="none" strike="noStrike" cap="none" normalizeH="0" baseline="0" dirty="0">
                <a:ln>
                  <a:noFill/>
                </a:ln>
                <a:effectLst/>
                <a:latin typeface="Verdana" panose="020B0604030504040204" pitchFamily="34" charset="0"/>
                <a:hlinkClick r:id="rId2">
                  <a:extLst>
                    <a:ext uri="{A12FA001-AC4F-418D-AE19-62706E023703}">
                      <ahyp:hlinkClr xmlns:ahyp="http://schemas.microsoft.com/office/drawing/2018/hyperlinkcolor" val="tx"/>
                    </a:ext>
                  </a:extLst>
                </a:hlinkClick>
              </a:rPr>
              <a:t>HTML DOM Event</a:t>
            </a:r>
            <a:r>
              <a:rPr kumimoji="0" lang="en-US" altLang="en-US" sz="2000" b="0" i="0" u="none" strike="noStrike" cap="none" normalizeH="0" baseline="0" dirty="0">
                <a:ln>
                  <a:noFill/>
                </a:ln>
                <a:effectLst/>
                <a:latin typeface="Verdana" panose="020B0604030504040204" pitchFamily="34" charset="0"/>
              </a:rPr>
              <a:t>.)</a:t>
            </a:r>
            <a:r>
              <a:rPr kumimoji="0" lang="en-US" altLang="en-US" sz="1200" b="0" i="0" u="none" strike="noStrike" cap="none" normalizeH="0" baseline="0" dirty="0">
                <a:ln>
                  <a:noFill/>
                </a:ln>
                <a:effectLst/>
              </a:rPr>
              <a:t> </a:t>
            </a:r>
          </a:p>
          <a:p>
            <a:r>
              <a:rPr lang="en-US" sz="2400" b="0" i="0" dirty="0">
                <a:solidFill>
                  <a:srgbClr val="DDDDDD"/>
                </a:solidFill>
                <a:effectLst/>
                <a:latin typeface="Verdana" panose="020B0604030504040204" pitchFamily="34" charset="0"/>
              </a:rPr>
              <a:t>The second parameter is the function we want to call when the event occurs.</a:t>
            </a:r>
          </a:p>
          <a:p>
            <a:r>
              <a:rPr kumimoji="0" lang="en-US" altLang="en-US" sz="2400" u="none" strike="noStrike" cap="none" normalizeH="0" baseline="0" dirty="0">
                <a:ln>
                  <a:noFill/>
                </a:ln>
                <a:solidFill>
                  <a:srgbClr val="DDDDDD"/>
                </a:solidFill>
                <a:latin typeface="Verdana" panose="020B0604030504040204" pitchFamily="34" charset="0"/>
              </a:rPr>
              <a:t>Ex:</a:t>
            </a:r>
          </a:p>
          <a:p>
            <a:pPr marL="400050" lvl="1" indent="0">
              <a:buNone/>
            </a:pPr>
            <a:r>
              <a:rPr lang="en-US" sz="2200" b="0" i="1" dirty="0" err="1">
                <a:effectLst/>
                <a:latin typeface="Consolas" panose="020B0609020204030204" pitchFamily="49" charset="0"/>
              </a:rPr>
              <a:t>element</a:t>
            </a:r>
            <a:r>
              <a:rPr lang="en-US" sz="2200" b="0" i="0" dirty="0" err="1">
                <a:effectLst/>
                <a:latin typeface="Consolas" panose="020B0609020204030204" pitchFamily="49" charset="0"/>
              </a:rPr>
              <a:t>.addEventListener</a:t>
            </a:r>
            <a:r>
              <a:rPr lang="en-US" sz="2200" b="0" i="0" dirty="0">
                <a:effectLst/>
                <a:latin typeface="Consolas" panose="020B0609020204030204" pitchFamily="49" charset="0"/>
              </a:rPr>
              <a:t>("click", function(){</a:t>
            </a:r>
          </a:p>
          <a:p>
            <a:pPr marL="400050" lvl="1" indent="0">
              <a:buNone/>
            </a:pPr>
            <a:r>
              <a:rPr lang="en-US" sz="2200" b="0" i="0" dirty="0">
                <a:effectLst/>
                <a:latin typeface="Consolas" panose="020B0609020204030204" pitchFamily="49" charset="0"/>
              </a:rPr>
              <a:t> alert("Hello World!");</a:t>
            </a:r>
          </a:p>
          <a:p>
            <a:pPr marL="400050" lvl="1" indent="0">
              <a:buNone/>
            </a:pPr>
            <a:r>
              <a:rPr lang="en-US" sz="2200" b="0" i="0" dirty="0">
                <a:effectLst/>
                <a:latin typeface="Consolas" panose="020B0609020204030204" pitchFamily="49" charset="0"/>
              </a:rPr>
              <a:t> });</a:t>
            </a:r>
          </a:p>
          <a:p>
            <a:pPr marL="400050" lvl="1" indent="0">
              <a:buNone/>
            </a:pPr>
            <a:br>
              <a:rPr lang="en-US" sz="2200" dirty="0"/>
            </a:br>
            <a:endParaRPr lang="en-IN" dirty="0"/>
          </a:p>
        </p:txBody>
      </p:sp>
    </p:spTree>
    <p:extLst>
      <p:ext uri="{BB962C8B-B14F-4D97-AF65-F5344CB8AC3E}">
        <p14:creationId xmlns:p14="http://schemas.microsoft.com/office/powerpoint/2010/main" val="2089463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B8E5B-2018-CC8A-5DFE-B4D3DC913479}"/>
              </a:ext>
            </a:extLst>
          </p:cNvPr>
          <p:cNvSpPr>
            <a:spLocks noGrp="1"/>
          </p:cNvSpPr>
          <p:nvPr>
            <p:ph type="title"/>
          </p:nvPr>
        </p:nvSpPr>
        <p:spPr/>
        <p:txBody>
          <a:bodyPr/>
          <a:lstStyle/>
          <a:p>
            <a:r>
              <a:rPr lang="en-US" dirty="0"/>
              <a:t>DOM Events</a:t>
            </a:r>
            <a:endParaRPr lang="en-IN" dirty="0"/>
          </a:p>
        </p:txBody>
      </p:sp>
      <p:sp>
        <p:nvSpPr>
          <p:cNvPr id="3" name="Content Placeholder 2">
            <a:extLst>
              <a:ext uri="{FF2B5EF4-FFF2-40B4-BE49-F238E27FC236}">
                <a16:creationId xmlns:a16="http://schemas.microsoft.com/office/drawing/2014/main" id="{D1B8286D-4C4A-C083-1E54-EA35AFF96A41}"/>
              </a:ext>
            </a:extLst>
          </p:cNvPr>
          <p:cNvSpPr>
            <a:spLocks noGrp="1"/>
          </p:cNvSpPr>
          <p:nvPr>
            <p:ph idx="1"/>
          </p:nvPr>
        </p:nvSpPr>
        <p:spPr>
          <a:xfrm>
            <a:off x="1194752" y="1368463"/>
            <a:ext cx="8946541" cy="5036819"/>
          </a:xfrm>
        </p:spPr>
        <p:txBody>
          <a:bodyPr>
            <a:normAutofit/>
          </a:bodyPr>
          <a:lstStyle/>
          <a:p>
            <a:r>
              <a:rPr lang="en-US" b="1" i="0" u="sng" dirty="0">
                <a:solidFill>
                  <a:srgbClr val="DDDDDD"/>
                </a:solidFill>
                <a:effectLst/>
                <a:latin typeface="Verdana" panose="020B0604030504040204" pitchFamily="34" charset="0"/>
              </a:rPr>
              <a:t>Event</a:t>
            </a:r>
            <a:r>
              <a:rPr lang="en-US" b="0" i="0" dirty="0">
                <a:solidFill>
                  <a:srgbClr val="DDDDDD"/>
                </a:solidFill>
                <a:effectLst/>
                <a:latin typeface="Verdana" panose="020B0604030504040204" pitchFamily="34" charset="0"/>
              </a:rPr>
              <a:t>: An action performed by the user on the webpage is known as an event</a:t>
            </a:r>
          </a:p>
          <a:p>
            <a:r>
              <a:rPr lang="en-US" b="0" i="0" dirty="0">
                <a:solidFill>
                  <a:srgbClr val="DDDDDD"/>
                </a:solidFill>
                <a:effectLst/>
                <a:latin typeface="Verdana" panose="020B0604030504040204" pitchFamily="34" charset="0"/>
              </a:rPr>
              <a:t> A JavaScript can be executed when an event occurs, like when a user clicks on an HTML element.</a:t>
            </a:r>
          </a:p>
          <a:p>
            <a:pPr lvl="1"/>
            <a:r>
              <a:rPr lang="en-IN" dirty="0"/>
              <a:t>Click</a:t>
            </a:r>
          </a:p>
          <a:p>
            <a:pPr lvl="1"/>
            <a:r>
              <a:rPr lang="en-IN" dirty="0"/>
              <a:t>Mouseover</a:t>
            </a:r>
          </a:p>
          <a:p>
            <a:pPr lvl="1"/>
            <a:r>
              <a:rPr lang="en-IN" dirty="0" err="1"/>
              <a:t>Contaxmenu</a:t>
            </a:r>
            <a:endParaRPr lang="en-IN" dirty="0"/>
          </a:p>
          <a:p>
            <a:pPr lvl="1"/>
            <a:r>
              <a:rPr lang="en-IN" dirty="0" err="1"/>
              <a:t>Doubleclick</a:t>
            </a:r>
            <a:endParaRPr lang="en-IN" dirty="0"/>
          </a:p>
          <a:p>
            <a:pPr lvl="1"/>
            <a:r>
              <a:rPr lang="en-IN" dirty="0"/>
              <a:t>Keypress</a:t>
            </a:r>
          </a:p>
          <a:p>
            <a:pPr lvl="1"/>
            <a:r>
              <a:rPr lang="en-IN" dirty="0"/>
              <a:t>Submit</a:t>
            </a:r>
          </a:p>
          <a:p>
            <a:pPr lvl="1"/>
            <a:r>
              <a:rPr lang="en-GB"/>
              <a:t>onchange</a:t>
            </a:r>
            <a:endParaRPr lang="en-IN" dirty="0"/>
          </a:p>
        </p:txBody>
      </p:sp>
    </p:spTree>
    <p:extLst>
      <p:ext uri="{BB962C8B-B14F-4D97-AF65-F5344CB8AC3E}">
        <p14:creationId xmlns:p14="http://schemas.microsoft.com/office/powerpoint/2010/main" val="3659337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1B90-0590-3F42-5BCE-26D130598B63}"/>
              </a:ext>
            </a:extLst>
          </p:cNvPr>
          <p:cNvSpPr>
            <a:spLocks noGrp="1"/>
          </p:cNvSpPr>
          <p:nvPr>
            <p:ph type="title"/>
          </p:nvPr>
        </p:nvSpPr>
        <p:spPr/>
        <p:txBody>
          <a:bodyPr/>
          <a:lstStyle/>
          <a:p>
            <a:r>
              <a:rPr lang="en-US" dirty="0"/>
              <a:t>Event Propagation</a:t>
            </a:r>
            <a:endParaRPr lang="en-IN" dirty="0"/>
          </a:p>
        </p:txBody>
      </p:sp>
      <p:sp>
        <p:nvSpPr>
          <p:cNvPr id="3" name="Content Placeholder 2">
            <a:extLst>
              <a:ext uri="{FF2B5EF4-FFF2-40B4-BE49-F238E27FC236}">
                <a16:creationId xmlns:a16="http://schemas.microsoft.com/office/drawing/2014/main" id="{73F46F2B-1782-42C2-86CB-9AE8C325DE9B}"/>
              </a:ext>
            </a:extLst>
          </p:cNvPr>
          <p:cNvSpPr>
            <a:spLocks noGrp="1"/>
          </p:cNvSpPr>
          <p:nvPr>
            <p:ph idx="1"/>
          </p:nvPr>
        </p:nvSpPr>
        <p:spPr>
          <a:xfrm>
            <a:off x="422910" y="1508760"/>
            <a:ext cx="10629900" cy="4739639"/>
          </a:xfrm>
        </p:spPr>
        <p:txBody>
          <a:bodyPr>
            <a:normAutofit/>
          </a:bodyPr>
          <a:lstStyle/>
          <a:p>
            <a:r>
              <a:rPr lang="en-US" sz="2400" b="0" i="0" dirty="0">
                <a:effectLst/>
                <a:latin typeface="Söhne"/>
              </a:rPr>
              <a:t>Event propagation refers to the way events travel through the DOM tree. When an event occurs on an element, it can trigger event handlers not only on that element but also on its parent elements, all the way up to the root of the document. There are two phases of event propagation:</a:t>
            </a:r>
          </a:p>
          <a:p>
            <a:pPr algn="l">
              <a:buFont typeface="+mj-lt"/>
              <a:buAutoNum type="arabicPeriod"/>
            </a:pPr>
            <a:r>
              <a:rPr lang="en-US" sz="2400" b="1" i="0" dirty="0">
                <a:effectLst/>
                <a:latin typeface="Söhne"/>
              </a:rPr>
              <a:t>Capturing Phase</a:t>
            </a:r>
            <a:r>
              <a:rPr lang="en-US" sz="2400" b="0" i="0" dirty="0">
                <a:effectLst/>
                <a:latin typeface="Söhne"/>
              </a:rPr>
              <a:t>: The event travels from the root of the DOM tree down to the target element.</a:t>
            </a:r>
          </a:p>
          <a:p>
            <a:pPr algn="l">
              <a:buFont typeface="+mj-lt"/>
              <a:buAutoNum type="arabicPeriod"/>
            </a:pPr>
            <a:r>
              <a:rPr lang="en-US" sz="2400" b="1" i="0" dirty="0">
                <a:effectLst/>
                <a:latin typeface="Söhne"/>
              </a:rPr>
              <a:t>Bubbling Phase</a:t>
            </a:r>
            <a:r>
              <a:rPr lang="en-US" sz="2400" b="0" i="0" dirty="0">
                <a:effectLst/>
                <a:latin typeface="Söhne"/>
              </a:rPr>
              <a:t>: The event then bubbles up from the target element back to the root.</a:t>
            </a:r>
          </a:p>
          <a:p>
            <a:r>
              <a:rPr kumimoji="0" lang="en-US" altLang="en-US" sz="2400" b="1" i="0" u="none" strike="noStrike" cap="none" normalizeH="0" baseline="0" dirty="0" err="1">
                <a:ln>
                  <a:noFill/>
                </a:ln>
                <a:effectLst/>
                <a:latin typeface="Söhne Mono"/>
              </a:rPr>
              <a:t>event.stopPropagation</a:t>
            </a:r>
            <a:r>
              <a:rPr kumimoji="0" lang="en-US" altLang="en-US" sz="2400" b="1" i="0" u="none" strike="noStrike" cap="none" normalizeH="0" baseline="0" dirty="0">
                <a:ln>
                  <a:noFill/>
                </a:ln>
                <a:effectLst/>
                <a:latin typeface="Söhne Mono"/>
              </a:rPr>
              <a:t>()</a:t>
            </a:r>
            <a:r>
              <a:rPr kumimoji="0" lang="en-US" altLang="en-US" sz="2400" b="0" i="0" u="none" strike="noStrike" cap="none" normalizeH="0" baseline="0" dirty="0">
                <a:ln>
                  <a:noFill/>
                </a:ln>
                <a:effectLst/>
                <a:latin typeface="Söhne"/>
              </a:rPr>
              <a:t>: This method prevents further propagation of the current event. It stops the event from bubbling up the DOM tree or from capturing down the tree</a:t>
            </a:r>
            <a:endParaRPr lang="en-IN" sz="2400" dirty="0"/>
          </a:p>
        </p:txBody>
      </p:sp>
    </p:spTree>
    <p:extLst>
      <p:ext uri="{BB962C8B-B14F-4D97-AF65-F5344CB8AC3E}">
        <p14:creationId xmlns:p14="http://schemas.microsoft.com/office/powerpoint/2010/main" val="2962014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4FACC-F7E9-CA0B-F45A-135F6D2A61BA}"/>
              </a:ext>
            </a:extLst>
          </p:cNvPr>
          <p:cNvSpPr>
            <a:spLocks noGrp="1"/>
          </p:cNvSpPr>
          <p:nvPr>
            <p:ph type="title"/>
          </p:nvPr>
        </p:nvSpPr>
        <p:spPr>
          <a:xfrm>
            <a:off x="646111" y="452718"/>
            <a:ext cx="9404723" cy="976032"/>
          </a:xfrm>
        </p:spPr>
        <p:txBody>
          <a:bodyPr/>
          <a:lstStyle/>
          <a:p>
            <a:r>
              <a:rPr lang="en-US" dirty="0"/>
              <a:t>JSON(Java Script Object Notation</a:t>
            </a:r>
            <a:endParaRPr lang="en-IN" dirty="0"/>
          </a:p>
        </p:txBody>
      </p:sp>
      <p:sp>
        <p:nvSpPr>
          <p:cNvPr id="3" name="Content Placeholder 2">
            <a:extLst>
              <a:ext uri="{FF2B5EF4-FFF2-40B4-BE49-F238E27FC236}">
                <a16:creationId xmlns:a16="http://schemas.microsoft.com/office/drawing/2014/main" id="{06388DFB-0AA1-CFEB-C3B2-4FE8AD0D867D}"/>
              </a:ext>
            </a:extLst>
          </p:cNvPr>
          <p:cNvSpPr>
            <a:spLocks noGrp="1"/>
          </p:cNvSpPr>
          <p:nvPr>
            <p:ph idx="1"/>
          </p:nvPr>
        </p:nvSpPr>
        <p:spPr>
          <a:xfrm>
            <a:off x="1103312" y="1428750"/>
            <a:ext cx="8946541" cy="4819649"/>
          </a:xfrm>
        </p:spPr>
        <p:txBody>
          <a:bodyPr>
            <a:normAutofit lnSpcReduction="10000"/>
          </a:bodyPr>
          <a:lstStyle/>
          <a:p>
            <a:r>
              <a:rPr lang="en-US" sz="2400" dirty="0"/>
              <a:t>It is format of storing and transporting data.</a:t>
            </a:r>
          </a:p>
          <a:p>
            <a:r>
              <a:rPr lang="en-US" sz="2400" dirty="0"/>
              <a:t>It is used when the data is sent form the server to web page</a:t>
            </a:r>
          </a:p>
          <a:p>
            <a:r>
              <a:rPr lang="en-US" sz="2400" dirty="0"/>
              <a:t>It is a popular data format for developers because of its human readable text, light weight which requires less coding and faster process </a:t>
            </a:r>
          </a:p>
          <a:p>
            <a:pPr marL="0" indent="0">
              <a:buNone/>
            </a:pPr>
            <a:r>
              <a:rPr lang="en-US" sz="2400" dirty="0"/>
              <a:t>Example: [</a:t>
            </a:r>
          </a:p>
          <a:p>
            <a:pPr marL="0" indent="0">
              <a:buNone/>
            </a:pPr>
            <a:r>
              <a:rPr lang="en-US" sz="2400" dirty="0"/>
              <a:t>{“fname”:”Ram”,”lname”:”Patil”},</a:t>
            </a:r>
          </a:p>
          <a:p>
            <a:pPr marL="0" indent="0">
              <a:buNone/>
            </a:pPr>
            <a:r>
              <a:rPr lang="en-US" sz="2400" dirty="0"/>
              <a:t>{“fname”:”Raj”,”lname”:”smith”},</a:t>
            </a:r>
          </a:p>
          <a:p>
            <a:pPr marL="0" indent="0">
              <a:buNone/>
            </a:pPr>
            <a:r>
              <a:rPr lang="en-US" sz="2400" dirty="0"/>
              <a:t>{“</a:t>
            </a:r>
            <a:r>
              <a:rPr lang="en-US" sz="2400" dirty="0" err="1"/>
              <a:t>fname”:”Ashish”,”lname”:”gouda</a:t>
            </a:r>
            <a:r>
              <a:rPr lang="en-US" sz="2400" dirty="0"/>
              <a:t>”}</a:t>
            </a:r>
          </a:p>
          <a:p>
            <a:pPr marL="0" indent="0">
              <a:buNone/>
            </a:pPr>
            <a:r>
              <a:rPr lang="en-US" sz="2400" dirty="0"/>
              <a:t>]</a:t>
            </a:r>
            <a:endParaRPr lang="en-IN" sz="2400" dirty="0"/>
          </a:p>
        </p:txBody>
      </p:sp>
    </p:spTree>
    <p:extLst>
      <p:ext uri="{BB962C8B-B14F-4D97-AF65-F5344CB8AC3E}">
        <p14:creationId xmlns:p14="http://schemas.microsoft.com/office/powerpoint/2010/main" val="3132243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F917E-38C3-8DA2-3514-B1A701675A97}"/>
              </a:ext>
            </a:extLst>
          </p:cNvPr>
          <p:cNvSpPr>
            <a:spLocks noGrp="1"/>
          </p:cNvSpPr>
          <p:nvPr>
            <p:ph type="title"/>
          </p:nvPr>
        </p:nvSpPr>
        <p:spPr>
          <a:xfrm>
            <a:off x="646111" y="452718"/>
            <a:ext cx="9404723" cy="998892"/>
          </a:xfrm>
        </p:spPr>
        <p:txBody>
          <a:bodyPr/>
          <a:lstStyle/>
          <a:p>
            <a:r>
              <a:rPr lang="en-US" dirty="0"/>
              <a:t>Syntax of JSON</a:t>
            </a:r>
            <a:endParaRPr lang="en-IN" dirty="0"/>
          </a:p>
        </p:txBody>
      </p:sp>
      <p:sp>
        <p:nvSpPr>
          <p:cNvPr id="3" name="Content Placeholder 2">
            <a:extLst>
              <a:ext uri="{FF2B5EF4-FFF2-40B4-BE49-F238E27FC236}">
                <a16:creationId xmlns:a16="http://schemas.microsoft.com/office/drawing/2014/main" id="{F6850C5E-810E-65D4-06E9-76F6A1D39F36}"/>
              </a:ext>
            </a:extLst>
          </p:cNvPr>
          <p:cNvSpPr>
            <a:spLocks noGrp="1"/>
          </p:cNvSpPr>
          <p:nvPr>
            <p:ph idx="1"/>
          </p:nvPr>
        </p:nvSpPr>
        <p:spPr/>
        <p:txBody>
          <a:bodyPr/>
          <a:lstStyle/>
          <a:p>
            <a:r>
              <a:rPr lang="en-US" dirty="0"/>
              <a:t>Data is in Key value pairs</a:t>
            </a:r>
          </a:p>
          <a:p>
            <a:r>
              <a:rPr lang="en-US" dirty="0"/>
              <a:t>Data is separated by ‘,’</a:t>
            </a:r>
          </a:p>
          <a:p>
            <a:r>
              <a:rPr lang="en-US" dirty="0"/>
              <a:t>Curly braces holds objects</a:t>
            </a:r>
          </a:p>
          <a:p>
            <a:r>
              <a:rPr lang="en-US" dirty="0"/>
              <a:t>[ ]---holds array</a:t>
            </a:r>
          </a:p>
          <a:p>
            <a:pPr marL="0" indent="0">
              <a:buNone/>
            </a:pPr>
            <a:r>
              <a:rPr lang="en-US" b="0" i="0" dirty="0">
                <a:effectLst/>
              </a:rPr>
              <a:t>In JavaScript, there are two main methods used to work with JSON (JavaScript Object Notation):</a:t>
            </a:r>
          </a:p>
          <a:p>
            <a:pPr marL="0" indent="0">
              <a:buNone/>
            </a:pPr>
            <a:r>
              <a:rPr lang="en-US" b="1" u="sng" dirty="0"/>
              <a:t>1.JSON.Stringify() </a:t>
            </a:r>
            <a:r>
              <a:rPr lang="en-US" dirty="0"/>
              <a:t>: used to convert normal object to JSON format</a:t>
            </a:r>
          </a:p>
          <a:p>
            <a:pPr marL="0" indent="0">
              <a:buNone/>
            </a:pPr>
            <a:r>
              <a:rPr lang="en-US" b="1" u="sng" dirty="0"/>
              <a:t>2.JSON.parse(): </a:t>
            </a:r>
            <a:r>
              <a:rPr lang="en-US" dirty="0"/>
              <a:t>Used to convert JSON format of data to normal object</a:t>
            </a:r>
          </a:p>
        </p:txBody>
      </p:sp>
    </p:spTree>
    <p:extLst>
      <p:ext uri="{BB962C8B-B14F-4D97-AF65-F5344CB8AC3E}">
        <p14:creationId xmlns:p14="http://schemas.microsoft.com/office/powerpoint/2010/main" val="1729084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CFACB-9E5D-3093-225C-B89040134476}"/>
              </a:ext>
            </a:extLst>
          </p:cNvPr>
          <p:cNvSpPr>
            <a:spLocks noGrp="1"/>
          </p:cNvSpPr>
          <p:nvPr>
            <p:ph type="title"/>
          </p:nvPr>
        </p:nvSpPr>
        <p:spPr>
          <a:xfrm>
            <a:off x="646111" y="452718"/>
            <a:ext cx="9404723" cy="930312"/>
          </a:xfrm>
        </p:spPr>
        <p:txBody>
          <a:bodyPr/>
          <a:lstStyle/>
          <a:p>
            <a:r>
              <a:rPr lang="en-US" dirty="0"/>
              <a:t>Time delays</a:t>
            </a:r>
            <a:endParaRPr lang="en-IN" dirty="0"/>
          </a:p>
        </p:txBody>
      </p:sp>
      <p:sp>
        <p:nvSpPr>
          <p:cNvPr id="3" name="Content Placeholder 2">
            <a:extLst>
              <a:ext uri="{FF2B5EF4-FFF2-40B4-BE49-F238E27FC236}">
                <a16:creationId xmlns:a16="http://schemas.microsoft.com/office/drawing/2014/main" id="{22F5CAD1-CBE4-BF5B-F1C1-C21208109648}"/>
              </a:ext>
            </a:extLst>
          </p:cNvPr>
          <p:cNvSpPr>
            <a:spLocks noGrp="1"/>
          </p:cNvSpPr>
          <p:nvPr>
            <p:ph idx="1"/>
          </p:nvPr>
        </p:nvSpPr>
        <p:spPr>
          <a:xfrm>
            <a:off x="1103312" y="1485900"/>
            <a:ext cx="8946541" cy="4762499"/>
          </a:xfrm>
        </p:spPr>
        <p:txBody>
          <a:bodyPr/>
          <a:lstStyle/>
          <a:p>
            <a:r>
              <a:rPr lang="en-US" sz="2400" dirty="0"/>
              <a:t>setTimeOut() and setInterval() are two functions in js allows to schedule tasks to be executed at later time. Used for animations, polling data from server and other asynchronous tasks.</a:t>
            </a:r>
          </a:p>
          <a:p>
            <a:r>
              <a:rPr lang="en-US" sz="2400" b="1" u="sng" dirty="0"/>
              <a:t>setTimeOut() :</a:t>
            </a:r>
          </a:p>
          <a:p>
            <a:r>
              <a:rPr lang="en-IN" sz="2400" dirty="0"/>
              <a:t>Runs the code with time delay</a:t>
            </a:r>
          </a:p>
          <a:p>
            <a:pPr marL="0" indent="0">
              <a:buNone/>
            </a:pPr>
            <a:r>
              <a:rPr lang="en-IN" sz="2400" dirty="0"/>
              <a:t>Syntax : window.setTimeOut( function , delay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Söhne Mono"/>
              </a:rPr>
              <a:t>function</a:t>
            </a:r>
            <a:r>
              <a:rPr kumimoji="0" lang="en-US" altLang="en-US" sz="2400" b="0" i="0" u="none" strike="noStrike" cap="none" normalizeH="0" baseline="0" dirty="0">
                <a:ln>
                  <a:noFill/>
                </a:ln>
                <a:effectLst/>
                <a:latin typeface="Söhne"/>
              </a:rPr>
              <a:t>: The function you want to execute.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Söhne Mono"/>
              </a:rPr>
              <a:t>delay</a:t>
            </a:r>
            <a:r>
              <a:rPr kumimoji="0" lang="en-US" altLang="en-US" sz="2400" b="0" i="0" u="none" strike="noStrike" cap="none" normalizeH="0" baseline="0" dirty="0">
                <a:ln>
                  <a:noFill/>
                </a:ln>
                <a:effectLst/>
                <a:latin typeface="Söhne"/>
              </a:rPr>
              <a:t>: The amount of time (in milliseconds) before the function is executed</a:t>
            </a:r>
            <a:endParaRPr lang="en-IN" sz="2400" dirty="0"/>
          </a:p>
          <a:p>
            <a:pPr marL="0" indent="0">
              <a:buNone/>
            </a:pPr>
            <a:endParaRPr lang="en-IN" sz="2400" dirty="0"/>
          </a:p>
          <a:p>
            <a:pPr marL="0" indent="0">
              <a:buNone/>
            </a:pPr>
            <a:endParaRPr lang="en-IN" dirty="0"/>
          </a:p>
        </p:txBody>
      </p:sp>
    </p:spTree>
    <p:extLst>
      <p:ext uri="{BB962C8B-B14F-4D97-AF65-F5344CB8AC3E}">
        <p14:creationId xmlns:p14="http://schemas.microsoft.com/office/powerpoint/2010/main" val="4224112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7AD6-B064-20A1-5C33-909C251000A5}"/>
              </a:ext>
            </a:extLst>
          </p:cNvPr>
          <p:cNvSpPr>
            <a:spLocks noGrp="1"/>
          </p:cNvSpPr>
          <p:nvPr>
            <p:ph type="title"/>
          </p:nvPr>
        </p:nvSpPr>
        <p:spPr>
          <a:xfrm>
            <a:off x="646111" y="452718"/>
            <a:ext cx="9404723" cy="1136052"/>
          </a:xfrm>
        </p:spPr>
        <p:txBody>
          <a:bodyPr/>
          <a:lstStyle/>
          <a:p>
            <a:r>
              <a:rPr lang="en-US" dirty="0"/>
              <a:t>Time delays</a:t>
            </a:r>
            <a:endParaRPr lang="en-IN" dirty="0"/>
          </a:p>
        </p:txBody>
      </p:sp>
      <p:sp>
        <p:nvSpPr>
          <p:cNvPr id="3" name="Content Placeholder 2">
            <a:extLst>
              <a:ext uri="{FF2B5EF4-FFF2-40B4-BE49-F238E27FC236}">
                <a16:creationId xmlns:a16="http://schemas.microsoft.com/office/drawing/2014/main" id="{5F4CE701-4DF1-EFDB-DACD-6CD768DD75C9}"/>
              </a:ext>
            </a:extLst>
          </p:cNvPr>
          <p:cNvSpPr>
            <a:spLocks noGrp="1"/>
          </p:cNvSpPr>
          <p:nvPr>
            <p:ph idx="1"/>
          </p:nvPr>
        </p:nvSpPr>
        <p:spPr>
          <a:xfrm>
            <a:off x="875201" y="1492848"/>
            <a:ext cx="8946541" cy="4195481"/>
          </a:xfrm>
        </p:spPr>
        <p:txBody>
          <a:bodyPr>
            <a:normAutofit lnSpcReduction="10000"/>
          </a:bodyPr>
          <a:lstStyle/>
          <a:p>
            <a:r>
              <a:rPr lang="en-US" sz="2400" b="1" u="sng" dirty="0"/>
              <a:t>setInterval() :</a:t>
            </a:r>
          </a:p>
          <a:p>
            <a:r>
              <a:rPr lang="en-IN" sz="2400" dirty="0"/>
              <a:t>The function similar to setTimeOut, but it schedules a function to be executed repeatedly at specified interval.</a:t>
            </a:r>
          </a:p>
          <a:p>
            <a:pPr marL="0" indent="0">
              <a:buNone/>
            </a:pPr>
            <a:r>
              <a:rPr lang="en-IN" sz="2400" dirty="0"/>
              <a:t>Syntax : </a:t>
            </a:r>
            <a:r>
              <a:rPr lang="en-IN" sz="2400" dirty="0" err="1"/>
              <a:t>window.setInterval</a:t>
            </a:r>
            <a:r>
              <a:rPr lang="en-IN" sz="2400" dirty="0"/>
              <a:t>( function , delay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Söhne Mono"/>
              </a:rPr>
              <a:t>function</a:t>
            </a:r>
            <a:r>
              <a:rPr kumimoji="0" lang="en-US" altLang="en-US" sz="2400" b="0" i="0" u="none" strike="noStrike" cap="none" normalizeH="0" baseline="0" dirty="0">
                <a:ln>
                  <a:noFill/>
                </a:ln>
                <a:effectLst/>
                <a:latin typeface="Söhne"/>
              </a:rPr>
              <a:t>: The function you want to execute.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Söhne Mono"/>
              </a:rPr>
              <a:t>delay</a:t>
            </a:r>
            <a:r>
              <a:rPr kumimoji="0" lang="en-US" altLang="en-US" sz="2400" b="0" i="0" u="none" strike="noStrike" cap="none" normalizeH="0" baseline="0" dirty="0">
                <a:ln>
                  <a:noFill/>
                </a:ln>
                <a:effectLst/>
                <a:latin typeface="Söhne"/>
              </a:rPr>
              <a:t>: The amount of time (in milliseconds) before the function is executed</a:t>
            </a:r>
            <a:endParaRPr lang="en-IN" sz="2400" dirty="0"/>
          </a:p>
          <a:p>
            <a:r>
              <a:rPr lang="en-IN" b="1" u="sng" dirty="0" err="1"/>
              <a:t>createTimeOut</a:t>
            </a:r>
            <a:r>
              <a:rPr lang="en-IN" b="1" u="sng" dirty="0"/>
              <a:t>()  and </a:t>
            </a:r>
            <a:r>
              <a:rPr lang="en-IN" b="1" u="sng" dirty="0" err="1"/>
              <a:t>createInterval</a:t>
            </a:r>
            <a:r>
              <a:rPr lang="en-IN" b="1" u="sng" dirty="0"/>
              <a:t>() </a:t>
            </a:r>
          </a:p>
          <a:p>
            <a:r>
              <a:rPr kumimoji="0" lang="en-US" altLang="en-US" sz="1600" b="0" i="0" u="none" strike="noStrike" cap="none" normalizeH="0" baseline="0" dirty="0">
                <a:ln>
                  <a:noFill/>
                </a:ln>
                <a:effectLst/>
              </a:rPr>
              <a:t>cancel a </a:t>
            </a:r>
            <a:r>
              <a:rPr kumimoji="0" lang="en-US" altLang="en-US" sz="2400" b="1" i="0" u="none" strike="noStrike" cap="none" normalizeH="0" baseline="0" dirty="0" err="1">
                <a:ln>
                  <a:noFill/>
                </a:ln>
                <a:effectLst/>
              </a:rPr>
              <a:t>setTimeout</a:t>
            </a:r>
            <a:r>
              <a:rPr kumimoji="0" lang="en-US" altLang="en-US" sz="1600" b="0" i="0" u="none" strike="noStrike" cap="none" normalizeH="0" baseline="0" dirty="0">
                <a:ln>
                  <a:noFill/>
                </a:ln>
                <a:effectLst/>
              </a:rPr>
              <a:t>, you use </a:t>
            </a:r>
            <a:r>
              <a:rPr kumimoji="0" lang="en-US" altLang="en-US" sz="2400" b="1" i="0" u="none" strike="noStrike" cap="none" normalizeH="0" baseline="0" dirty="0" err="1">
                <a:ln>
                  <a:noFill/>
                </a:ln>
                <a:effectLst/>
              </a:rPr>
              <a:t>clearTimeout</a:t>
            </a:r>
            <a:endParaRPr kumimoji="0" lang="en-US" altLang="en-US" sz="2400" b="1" i="0" u="none" strike="noStrike" cap="none" normalizeH="0" baseline="0" dirty="0">
              <a:ln>
                <a:noFill/>
              </a:ln>
              <a:effectLst/>
            </a:endParaRPr>
          </a:p>
          <a:p>
            <a:r>
              <a:rPr kumimoji="0" lang="en-US" altLang="en-US" sz="1800" b="0" i="0" u="none" strike="noStrike" cap="none" normalizeH="0" baseline="0" dirty="0">
                <a:ln>
                  <a:noFill/>
                </a:ln>
                <a:effectLst/>
              </a:rPr>
              <a:t>cancel a </a:t>
            </a:r>
            <a:r>
              <a:rPr kumimoji="0" lang="en-US" altLang="en-US" sz="2400" b="1" i="0" u="none" strike="noStrike" cap="none" normalizeH="0" baseline="0" dirty="0" err="1">
                <a:ln>
                  <a:noFill/>
                </a:ln>
                <a:effectLst/>
              </a:rPr>
              <a:t>setTimeout</a:t>
            </a:r>
            <a:r>
              <a:rPr kumimoji="0" lang="en-US" altLang="en-US" sz="1800" b="0" i="0" u="none" strike="noStrike" cap="none" normalizeH="0" baseline="0" dirty="0">
                <a:ln>
                  <a:noFill/>
                </a:ln>
                <a:effectLst/>
              </a:rPr>
              <a:t>, you use </a:t>
            </a:r>
            <a:r>
              <a:rPr kumimoji="0" lang="en-US" altLang="en-US" sz="2400" b="1" i="0" u="none" strike="noStrike" cap="none" normalizeH="0" baseline="0" dirty="0" err="1">
                <a:ln>
                  <a:noFill/>
                </a:ln>
                <a:effectLst/>
              </a:rPr>
              <a:t>clearTimeout</a:t>
            </a:r>
            <a:endParaRPr kumimoji="0" lang="en-US" altLang="en-US" sz="2800" b="1" i="0" u="none" strike="noStrike" cap="none" normalizeH="0" baseline="0" dirty="0">
              <a:ln>
                <a:noFill/>
              </a:ln>
              <a:effectLst/>
            </a:endParaRPr>
          </a:p>
          <a:p>
            <a:endParaRPr lang="en-IN" sz="2400" b="1" u="sng" dirty="0"/>
          </a:p>
          <a:p>
            <a:endParaRPr lang="en-IN" b="1" u="sng" dirty="0"/>
          </a:p>
        </p:txBody>
      </p:sp>
    </p:spTree>
    <p:extLst>
      <p:ext uri="{BB962C8B-B14F-4D97-AF65-F5344CB8AC3E}">
        <p14:creationId xmlns:p14="http://schemas.microsoft.com/office/powerpoint/2010/main" val="3050393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D8B14-15B2-30AF-5C65-48B47C192745}"/>
              </a:ext>
            </a:extLst>
          </p:cNvPr>
          <p:cNvSpPr>
            <a:spLocks noGrp="1"/>
          </p:cNvSpPr>
          <p:nvPr>
            <p:ph type="title"/>
          </p:nvPr>
        </p:nvSpPr>
        <p:spPr>
          <a:xfrm>
            <a:off x="646111" y="452718"/>
            <a:ext cx="9404723" cy="1078902"/>
          </a:xfrm>
        </p:spPr>
        <p:txBody>
          <a:bodyPr/>
          <a:lstStyle/>
          <a:p>
            <a:r>
              <a:rPr lang="en-US" dirty="0"/>
              <a:t>Promises</a:t>
            </a:r>
            <a:endParaRPr lang="en-IN" dirty="0"/>
          </a:p>
        </p:txBody>
      </p:sp>
      <p:sp>
        <p:nvSpPr>
          <p:cNvPr id="3" name="Content Placeholder 2">
            <a:extLst>
              <a:ext uri="{FF2B5EF4-FFF2-40B4-BE49-F238E27FC236}">
                <a16:creationId xmlns:a16="http://schemas.microsoft.com/office/drawing/2014/main" id="{8FD2C2D1-D625-0C1B-9677-46F1913EFC37}"/>
              </a:ext>
            </a:extLst>
          </p:cNvPr>
          <p:cNvSpPr>
            <a:spLocks noGrp="1"/>
          </p:cNvSpPr>
          <p:nvPr>
            <p:ph idx="1"/>
          </p:nvPr>
        </p:nvSpPr>
        <p:spPr>
          <a:xfrm>
            <a:off x="645130" y="1531620"/>
            <a:ext cx="10464830" cy="4716779"/>
          </a:xfrm>
        </p:spPr>
        <p:txBody>
          <a:bodyPr>
            <a:normAutofit/>
          </a:bodyPr>
          <a:lstStyle/>
          <a:p>
            <a:pPr marL="0" indent="0">
              <a:buNone/>
            </a:pPr>
            <a:r>
              <a:rPr lang="en-US" b="0" i="0" dirty="0">
                <a:effectLst/>
              </a:rPr>
              <a:t>Promises in JavaScript are a powerful way to work with asynchronous code. They provide a clean and more readable syntax for handling operations that may take an unknown amount of time to complete, such as fetching data from a server or reading a file.</a:t>
            </a:r>
          </a:p>
          <a:p>
            <a:pPr marL="0" indent="0">
              <a:buNone/>
            </a:pPr>
            <a:r>
              <a:rPr lang="en-US" sz="2400" b="1" i="0" dirty="0">
                <a:effectLst/>
                <a:latin typeface="Söhne"/>
              </a:rPr>
              <a:t>A promise represents the eventual result of an asynchronous operation. It can be in one of three states:</a:t>
            </a:r>
          </a:p>
          <a:p>
            <a:pPr algn="l">
              <a:buFont typeface="Arial" panose="020B0604020202020204" pitchFamily="34" charset="0"/>
              <a:buChar char="•"/>
            </a:pPr>
            <a:r>
              <a:rPr lang="en-US" sz="2000" b="1" i="0" dirty="0">
                <a:effectLst/>
              </a:rPr>
              <a:t>Pending</a:t>
            </a:r>
            <a:r>
              <a:rPr lang="en-US" sz="2000" b="0" i="0" dirty="0">
                <a:effectLst/>
              </a:rPr>
              <a:t>: Initial state, neither fulfilled nor rejected.</a:t>
            </a:r>
          </a:p>
          <a:p>
            <a:pPr algn="l">
              <a:buFont typeface="Arial" panose="020B0604020202020204" pitchFamily="34" charset="0"/>
              <a:buChar char="•"/>
            </a:pPr>
            <a:r>
              <a:rPr lang="en-US" sz="2000" b="1" i="0" dirty="0">
                <a:effectLst/>
              </a:rPr>
              <a:t>Fulfilled</a:t>
            </a:r>
            <a:r>
              <a:rPr lang="en-US" sz="2000" b="0" i="0" dirty="0">
                <a:effectLst/>
              </a:rPr>
              <a:t>: Meaning the operation completed successfully.</a:t>
            </a:r>
          </a:p>
          <a:p>
            <a:pPr algn="l">
              <a:buFont typeface="Arial" panose="020B0604020202020204" pitchFamily="34" charset="0"/>
              <a:buChar char="•"/>
            </a:pPr>
            <a:r>
              <a:rPr lang="en-US" sz="2000" b="1" i="0" dirty="0">
                <a:effectLst/>
              </a:rPr>
              <a:t>Rejected</a:t>
            </a:r>
            <a:r>
              <a:rPr lang="en-US" sz="2000" b="0" i="0" dirty="0">
                <a:effectLst/>
              </a:rPr>
              <a:t>: Meaning the operation failed.</a:t>
            </a:r>
          </a:p>
          <a:p>
            <a:pPr marL="0" indent="0" algn="l">
              <a:buNone/>
            </a:pPr>
            <a:endParaRPr lang="en-US" sz="2000" b="0" i="0" dirty="0">
              <a:effectLst/>
            </a:endParaRPr>
          </a:p>
          <a:p>
            <a:pPr marL="0" indent="0">
              <a:buNone/>
            </a:pPr>
            <a:endParaRPr lang="en-IN" sz="2400" b="1" dirty="0"/>
          </a:p>
        </p:txBody>
      </p:sp>
    </p:spTree>
    <p:extLst>
      <p:ext uri="{BB962C8B-B14F-4D97-AF65-F5344CB8AC3E}">
        <p14:creationId xmlns:p14="http://schemas.microsoft.com/office/powerpoint/2010/main" val="1850794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D3B27-40F5-39E5-F628-770FAF54050E}"/>
              </a:ext>
            </a:extLst>
          </p:cNvPr>
          <p:cNvSpPr>
            <a:spLocks noGrp="1"/>
          </p:cNvSpPr>
          <p:nvPr>
            <p:ph type="title"/>
          </p:nvPr>
        </p:nvSpPr>
        <p:spPr>
          <a:xfrm>
            <a:off x="646111" y="452718"/>
            <a:ext cx="9404723" cy="998892"/>
          </a:xfrm>
        </p:spPr>
        <p:txBody>
          <a:bodyPr/>
          <a:lstStyle/>
          <a:p>
            <a:r>
              <a:rPr lang="en-US" dirty="0"/>
              <a:t>Syntax to create promise</a:t>
            </a:r>
            <a:endParaRPr lang="en-IN" dirty="0"/>
          </a:p>
        </p:txBody>
      </p:sp>
      <p:sp>
        <p:nvSpPr>
          <p:cNvPr id="3" name="Content Placeholder 2">
            <a:extLst>
              <a:ext uri="{FF2B5EF4-FFF2-40B4-BE49-F238E27FC236}">
                <a16:creationId xmlns:a16="http://schemas.microsoft.com/office/drawing/2014/main" id="{3CDC0A1C-3500-DCAB-1BEF-598DC09489FE}"/>
              </a:ext>
            </a:extLst>
          </p:cNvPr>
          <p:cNvSpPr>
            <a:spLocks noGrp="1"/>
          </p:cNvSpPr>
          <p:nvPr>
            <p:ph idx="1"/>
          </p:nvPr>
        </p:nvSpPr>
        <p:spPr>
          <a:xfrm>
            <a:off x="765810" y="1451610"/>
            <a:ext cx="10264140" cy="4796789"/>
          </a:xfrm>
        </p:spPr>
        <p:txBody>
          <a:bodyPr/>
          <a:lstStyle/>
          <a:p>
            <a:pPr marL="0" indent="0">
              <a:buNone/>
            </a:pPr>
            <a:r>
              <a:rPr lang="en-IN" dirty="0" err="1"/>
              <a:t>const</a:t>
            </a:r>
            <a:r>
              <a:rPr lang="en-IN" dirty="0"/>
              <a:t> </a:t>
            </a:r>
            <a:r>
              <a:rPr lang="en-IN" dirty="0" err="1"/>
              <a:t>myPromise</a:t>
            </a:r>
            <a:r>
              <a:rPr lang="en-IN" dirty="0"/>
              <a:t> = new Promise((resolve, reject) =&gt; {</a:t>
            </a:r>
          </a:p>
          <a:p>
            <a:pPr marL="0" indent="0">
              <a:buNone/>
            </a:pPr>
            <a:r>
              <a:rPr lang="en-IN" dirty="0"/>
              <a:t>  // Asynchronous operation, e.g., fetching data from a server.</a:t>
            </a:r>
          </a:p>
          <a:p>
            <a:pPr marL="0" indent="0">
              <a:buNone/>
            </a:pPr>
            <a:r>
              <a:rPr lang="en-IN" dirty="0"/>
              <a:t>  </a:t>
            </a:r>
          </a:p>
          <a:p>
            <a:pPr marL="0" indent="0">
              <a:buNone/>
            </a:pPr>
            <a:r>
              <a:rPr lang="en-IN" dirty="0"/>
              <a:t>  if (/* operation successful */) {</a:t>
            </a:r>
          </a:p>
          <a:p>
            <a:pPr marL="0" indent="0">
              <a:buNone/>
            </a:pPr>
            <a:r>
              <a:rPr lang="en-IN" dirty="0"/>
              <a:t>    resolve('Success data'); // Resolve if successful.</a:t>
            </a:r>
          </a:p>
          <a:p>
            <a:pPr marL="0" indent="0">
              <a:buNone/>
            </a:pPr>
            <a:r>
              <a:rPr lang="en-IN" dirty="0"/>
              <a:t>  } else {</a:t>
            </a:r>
          </a:p>
          <a:p>
            <a:pPr marL="0" indent="0">
              <a:buNone/>
            </a:pPr>
            <a:r>
              <a:rPr lang="en-IN" dirty="0"/>
              <a:t>    reject('Error message'); // Reject if there's an error.</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3729532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2804-C588-67F5-6F46-65E2BE152505}"/>
              </a:ext>
            </a:extLst>
          </p:cNvPr>
          <p:cNvSpPr>
            <a:spLocks noGrp="1"/>
          </p:cNvSpPr>
          <p:nvPr>
            <p:ph type="title"/>
          </p:nvPr>
        </p:nvSpPr>
        <p:spPr>
          <a:xfrm>
            <a:off x="646111" y="452718"/>
            <a:ext cx="9404723" cy="1090332"/>
          </a:xfrm>
        </p:spPr>
        <p:txBody>
          <a:bodyPr/>
          <a:lstStyle/>
          <a:p>
            <a:r>
              <a:rPr lang="en-IN" b="1" i="0" dirty="0">
                <a:effectLst/>
                <a:latin typeface="Söhne"/>
              </a:rPr>
              <a:t>Consuming a Promise:</a:t>
            </a:r>
            <a:br>
              <a:rPr lang="en-IN" b="1" i="0" dirty="0">
                <a:effectLst/>
                <a:latin typeface="Söhne"/>
              </a:rPr>
            </a:br>
            <a:endParaRPr lang="en-IN" dirty="0"/>
          </a:p>
        </p:txBody>
      </p:sp>
      <p:sp>
        <p:nvSpPr>
          <p:cNvPr id="3" name="Content Placeholder 2">
            <a:extLst>
              <a:ext uri="{FF2B5EF4-FFF2-40B4-BE49-F238E27FC236}">
                <a16:creationId xmlns:a16="http://schemas.microsoft.com/office/drawing/2014/main" id="{9726920D-0F42-D4FF-BDAE-3B3C690E8885}"/>
              </a:ext>
            </a:extLst>
          </p:cNvPr>
          <p:cNvSpPr>
            <a:spLocks noGrp="1"/>
          </p:cNvSpPr>
          <p:nvPr>
            <p:ph idx="1"/>
          </p:nvPr>
        </p:nvSpPr>
        <p:spPr>
          <a:xfrm>
            <a:off x="1103312" y="2052919"/>
            <a:ext cx="8946541" cy="3216312"/>
          </a:xfrm>
        </p:spPr>
        <p:txBody>
          <a:bodyPr>
            <a:normAutofit/>
          </a:bodyPr>
          <a:lstStyle/>
          <a:p>
            <a:r>
              <a:rPr lang="en-US" sz="2400" dirty="0"/>
              <a:t>Then() : It will executed when the promise will in resolved state</a:t>
            </a:r>
          </a:p>
          <a:p>
            <a:r>
              <a:rPr lang="en-US" sz="2400" dirty="0"/>
              <a:t>Catch() : It will get executed when the promise is in rejected state</a:t>
            </a:r>
          </a:p>
          <a:p>
            <a:r>
              <a:rPr lang="en-US" sz="2400" dirty="0"/>
              <a:t>Finally() : It will execute always means promise is in resolve , reject or in pending state</a:t>
            </a:r>
            <a:endParaRPr lang="en-IN" sz="2400" dirty="0"/>
          </a:p>
        </p:txBody>
      </p:sp>
    </p:spTree>
    <p:extLst>
      <p:ext uri="{BB962C8B-B14F-4D97-AF65-F5344CB8AC3E}">
        <p14:creationId xmlns:p14="http://schemas.microsoft.com/office/powerpoint/2010/main" val="1041926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D3350-46CC-42DB-E724-9F1830B9ACD5}"/>
              </a:ext>
            </a:extLst>
          </p:cNvPr>
          <p:cNvSpPr>
            <a:spLocks noGrp="1"/>
          </p:cNvSpPr>
          <p:nvPr>
            <p:ph type="title"/>
          </p:nvPr>
        </p:nvSpPr>
        <p:spPr>
          <a:xfrm>
            <a:off x="646111" y="452718"/>
            <a:ext cx="9404723" cy="1010322"/>
          </a:xfrm>
        </p:spPr>
        <p:txBody>
          <a:bodyPr/>
          <a:lstStyle/>
          <a:p>
            <a:r>
              <a:rPr lang="en-US" dirty="0"/>
              <a:t>Async and await</a:t>
            </a:r>
            <a:endParaRPr lang="en-IN" dirty="0"/>
          </a:p>
        </p:txBody>
      </p:sp>
      <p:sp>
        <p:nvSpPr>
          <p:cNvPr id="3" name="Content Placeholder 2">
            <a:extLst>
              <a:ext uri="{FF2B5EF4-FFF2-40B4-BE49-F238E27FC236}">
                <a16:creationId xmlns:a16="http://schemas.microsoft.com/office/drawing/2014/main" id="{11A36C6D-091B-1334-D4CE-122702F22173}"/>
              </a:ext>
            </a:extLst>
          </p:cNvPr>
          <p:cNvSpPr>
            <a:spLocks noGrp="1"/>
          </p:cNvSpPr>
          <p:nvPr>
            <p:ph idx="1"/>
          </p:nvPr>
        </p:nvSpPr>
        <p:spPr>
          <a:xfrm>
            <a:off x="645130" y="1853248"/>
            <a:ext cx="10544840" cy="4395151"/>
          </a:xfrm>
        </p:spPr>
        <p:txBody>
          <a:bodyPr/>
          <a:lstStyle/>
          <a:p>
            <a:r>
              <a:rPr lang="en-US" b="0" i="1" dirty="0">
                <a:solidFill>
                  <a:srgbClr val="DDDDDD"/>
                </a:solidFill>
                <a:effectLst/>
                <a:latin typeface="Verdana" panose="020B0604030504040204" pitchFamily="34" charset="0"/>
              </a:rPr>
              <a:t>"async and await make promises easier to write"</a:t>
            </a:r>
            <a:endParaRPr lang="en-US" b="0" i="0" dirty="0">
              <a:solidFill>
                <a:srgbClr val="DDDDDD"/>
              </a:solidFill>
              <a:effectLst/>
              <a:latin typeface="Verdana" panose="020B0604030504040204" pitchFamily="34" charset="0"/>
            </a:endParaRPr>
          </a:p>
          <a:p>
            <a:r>
              <a:rPr lang="en-US" b="1" i="0" dirty="0">
                <a:solidFill>
                  <a:srgbClr val="DDDDDD"/>
                </a:solidFill>
                <a:effectLst/>
                <a:latin typeface="Verdana" panose="020B0604030504040204" pitchFamily="34" charset="0"/>
              </a:rPr>
              <a:t>async</a:t>
            </a:r>
            <a:r>
              <a:rPr lang="en-US" b="0" i="0" dirty="0">
                <a:solidFill>
                  <a:srgbClr val="DDDDDD"/>
                </a:solidFill>
                <a:effectLst/>
                <a:latin typeface="Verdana" panose="020B0604030504040204" pitchFamily="34" charset="0"/>
              </a:rPr>
              <a:t> makes a function return a Promise</a:t>
            </a:r>
          </a:p>
          <a:p>
            <a:r>
              <a:rPr lang="en-US" b="1" i="0" dirty="0">
                <a:solidFill>
                  <a:srgbClr val="DDDDDD"/>
                </a:solidFill>
                <a:effectLst/>
                <a:latin typeface="Verdana" panose="020B0604030504040204" pitchFamily="34" charset="0"/>
              </a:rPr>
              <a:t>await</a:t>
            </a:r>
            <a:r>
              <a:rPr lang="en-US" b="0" i="0" dirty="0">
                <a:solidFill>
                  <a:srgbClr val="DDDDDD"/>
                </a:solidFill>
                <a:effectLst/>
                <a:latin typeface="Verdana" panose="020B0604030504040204" pitchFamily="34" charset="0"/>
              </a:rPr>
              <a:t> makes a function wait for a Promise</a:t>
            </a:r>
          </a:p>
          <a:p>
            <a:endParaRPr lang="en-US" dirty="0">
              <a:solidFill>
                <a:srgbClr val="DDDDDD"/>
              </a:solidFill>
              <a:latin typeface="Verdana" panose="020B0604030504040204" pitchFamily="34" charset="0"/>
            </a:endParaRPr>
          </a:p>
          <a:p>
            <a:r>
              <a:rPr lang="en-US" b="0" i="0" dirty="0">
                <a:solidFill>
                  <a:srgbClr val="DDDDDD"/>
                </a:solidFill>
                <a:effectLst/>
                <a:latin typeface="Verdana" panose="020B0604030504040204" pitchFamily="34" charset="0"/>
              </a:rPr>
              <a:t>Async : </a:t>
            </a:r>
            <a:r>
              <a:rPr kumimoji="0" lang="en-US" altLang="en-US" sz="2000" b="0" i="0" u="none" strike="noStrike" cap="none" normalizeH="0" baseline="0" dirty="0">
                <a:ln>
                  <a:noFill/>
                </a:ln>
                <a:effectLst/>
              </a:rPr>
              <a:t>The </a:t>
            </a:r>
            <a:r>
              <a:rPr kumimoji="0" lang="en-US" altLang="en-US" b="1" i="0" u="none" strike="noStrike" cap="none" normalizeH="0" baseline="0" dirty="0">
                <a:ln>
                  <a:noFill/>
                </a:ln>
                <a:effectLst/>
              </a:rPr>
              <a:t>async</a:t>
            </a:r>
            <a:r>
              <a:rPr kumimoji="0" lang="en-US" altLang="en-US" sz="2000" b="0" i="0" u="none" strike="noStrike" cap="none" normalizeH="0" baseline="0" dirty="0">
                <a:ln>
                  <a:noFill/>
                </a:ln>
                <a:effectLst/>
              </a:rPr>
              <a:t> keyword is used to define a function that returns a promise. It allows you to write </a:t>
            </a:r>
          </a:p>
          <a:p>
            <a:r>
              <a:rPr lang="en-US" dirty="0"/>
              <a:t>Await : </a:t>
            </a:r>
            <a:r>
              <a:rPr kumimoji="0" lang="en-US" altLang="en-US" sz="2000" b="0" i="0" u="none" strike="noStrike" cap="none" normalizeH="0" baseline="0" dirty="0">
                <a:ln>
                  <a:noFill/>
                </a:ln>
                <a:effectLst/>
              </a:rPr>
              <a:t>The </a:t>
            </a:r>
            <a:r>
              <a:rPr kumimoji="0" lang="en-US" altLang="en-US" b="1" i="0" u="none" strike="noStrike" cap="none" normalizeH="0" baseline="0" dirty="0">
                <a:ln>
                  <a:noFill/>
                </a:ln>
                <a:effectLst/>
              </a:rPr>
              <a:t>await</a:t>
            </a:r>
            <a:r>
              <a:rPr kumimoji="0" lang="en-US" altLang="en-US" sz="2000" b="0" i="0" u="none" strike="noStrike" cap="none" normalizeH="0" baseline="0" dirty="0">
                <a:ln>
                  <a:noFill/>
                </a:ln>
                <a:effectLst/>
              </a:rPr>
              <a:t> keyword is used inside an </a:t>
            </a:r>
            <a:r>
              <a:rPr kumimoji="0" lang="en-US" altLang="en-US" b="1" i="0" u="none" strike="noStrike" cap="none" normalizeH="0" baseline="0" dirty="0">
                <a:ln>
                  <a:noFill/>
                </a:ln>
                <a:effectLst/>
              </a:rPr>
              <a:t>async</a:t>
            </a:r>
            <a:r>
              <a:rPr kumimoji="0" lang="en-US" altLang="en-US" sz="2000" b="0" i="0" u="none" strike="noStrike" cap="none" normalizeH="0" baseline="0" dirty="0">
                <a:ln>
                  <a:noFill/>
                </a:ln>
                <a:effectLst/>
              </a:rPr>
              <a:t> function to wait for a Promise to settle (either resolve or reject). It can only be used inside an </a:t>
            </a:r>
            <a:r>
              <a:rPr kumimoji="0" lang="en-US" altLang="en-US" b="1" i="0" u="none" strike="noStrike" cap="none" normalizeH="0" baseline="0" dirty="0">
                <a:ln>
                  <a:noFill/>
                </a:ln>
                <a:effectLst/>
              </a:rPr>
              <a:t>async</a:t>
            </a:r>
            <a:r>
              <a:rPr kumimoji="0" lang="en-US" altLang="en-US" sz="2000" b="0" i="0" u="none" strike="noStrike" cap="none" normalizeH="0" baseline="0" dirty="0">
                <a:ln>
                  <a:noFill/>
                </a:ln>
                <a:effectLst/>
              </a:rPr>
              <a:t> function</a:t>
            </a:r>
            <a:endParaRPr lang="en-US" b="0" i="0" dirty="0">
              <a:effectLst/>
            </a:endParaRPr>
          </a:p>
          <a:p>
            <a:endParaRPr lang="en-IN" dirty="0"/>
          </a:p>
        </p:txBody>
      </p:sp>
    </p:spTree>
    <p:extLst>
      <p:ext uri="{BB962C8B-B14F-4D97-AF65-F5344CB8AC3E}">
        <p14:creationId xmlns:p14="http://schemas.microsoft.com/office/powerpoint/2010/main" val="11792674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1252</TotalTime>
  <Words>1941</Words>
  <Application>Microsoft Office PowerPoint</Application>
  <PresentationFormat>Widescreen</PresentationFormat>
  <Paragraphs>191</Paragraphs>
  <Slides>25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Century Gothic</vt:lpstr>
      <vt:lpstr>Consolas</vt:lpstr>
      <vt:lpstr>Segoe UI</vt:lpstr>
      <vt:lpstr>Söhne</vt:lpstr>
      <vt:lpstr>Söhne Mono</vt:lpstr>
      <vt:lpstr>Verdana</vt:lpstr>
      <vt:lpstr>Wingdings</vt:lpstr>
      <vt:lpstr>Wingdings 3</vt:lpstr>
      <vt:lpstr>Ion</vt:lpstr>
      <vt:lpstr>BOM and DOM</vt:lpstr>
      <vt:lpstr>BOM(Browser Object Model)</vt:lpstr>
      <vt:lpstr>BOM</vt:lpstr>
      <vt:lpstr>Window. Screen</vt:lpstr>
      <vt:lpstr>Window.location</vt:lpstr>
      <vt:lpstr>Window.history and window.navigator</vt:lpstr>
      <vt:lpstr>JavaScript Popup Boxes </vt:lpstr>
      <vt:lpstr>JavaScript Popup Boxes</vt:lpstr>
      <vt:lpstr>JavaScript Popup Boxes</vt:lpstr>
      <vt:lpstr>DOM(Document Object Model)</vt:lpstr>
      <vt:lpstr>DOM Manipulation</vt:lpstr>
      <vt:lpstr>DOM Methods</vt:lpstr>
      <vt:lpstr>Changing HTML Elements</vt:lpstr>
      <vt:lpstr>Adding and Deleting Elements </vt:lpstr>
      <vt:lpstr>DOM Event Listener</vt:lpstr>
      <vt:lpstr>DOM Events</vt:lpstr>
      <vt:lpstr>Event Propagation</vt:lpstr>
      <vt:lpstr>JSON(Java Script Object Notation</vt:lpstr>
      <vt:lpstr>Syntax of JSON</vt:lpstr>
      <vt:lpstr>Time delays</vt:lpstr>
      <vt:lpstr>Time delays</vt:lpstr>
      <vt:lpstr>Promises</vt:lpstr>
      <vt:lpstr>Syntax to create promise</vt:lpstr>
      <vt:lpstr>Consuming a Promise: </vt:lpstr>
      <vt:lpstr>Async and await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BOM and DOM</dc:title>
  <dc:creator>DELL</dc:creator>
  <cp:lastModifiedBy>Chetana</cp:lastModifiedBy>
  <cp:revision>14</cp:revision>
  <dcterms:created xsi:type="dcterms:W3CDTF">2023-10-04T06:56:14Z</dcterms:created>
  <dcterms:modified xsi:type="dcterms:W3CDTF">2025-11-29T15:32:05Z</dcterms:modified>
</cp:coreProperties>
</file>